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fr-FR"/>
    </a:defPPr>
    <a:lvl1pPr marL="0" indent="0" algn="l" defTabSz="914400" rtl="0" eaLnBrk="1" latinLnBrk="0" hangingPunct="1">
      <a:defRPr sz="1800" kern="1200">
        <a:solidFill>
          <a:schemeClr val="tx1"/>
        </a:solidFill>
        <a:latin typeface="+mn-lt"/>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6" d="100"/>
          <a:sy n="76" d="100"/>
        </p:scale>
        <p:origin x="-1548" y="-90"/>
      </p:cViewPr>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indent="0" algn="l" defTabSz="914400" rtl="0" eaLnBrk="1" latinLnBrk="0" hangingPunct="1">
      <a:defRPr sz="1200" kern="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fr-FR" dirty="0"/>
              <a:t>Bonjour, je vous présente AGL JuriCompliance, notre prototype de veille réglementaire.</a:t>
            </a:r>
          </a:p>
          <a:p>
            <a:r>
              <a:rPr lang="fr-FR" dirty="0"/>
              <a:t>L'idée tient en une phrase : transformer le Journal Officiel en plans d'actions de conformité suivis, par direction.</a:t>
            </a:r>
          </a:p>
          <a:p>
            <a:r>
              <a:rPr lang="fr-FR" dirty="0"/>
              <a:t>Trois idées à retenir aujourd'hui : l'IA fait le dépouillement, la centrale répartit les textes, chaque direction pilote la sienne en vase clos.</a:t>
            </a:r>
          </a:p>
          <a:p>
            <a:r>
              <a:rPr lang="fr-FR" dirty="0"/>
              <a:t>Le prototype est fonctionnel et a été écrit pour ne pas être jeté : il est prêt à migrer vers Power Pages et Dataverse.</a:t>
            </a:r>
          </a:p>
          <a:p>
            <a:r>
              <a:rPr lang="fr-FR" dirty="0"/>
              <a:t>Durée indicative : 6 slides, on garde 5 minutes pour la démo et les questions.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fr-FR" dirty="0"/>
              <a:t>Le problème que l'on adresse n'est pas technique : c'est organisationnel.</a:t>
            </a:r>
          </a:p>
          <a:p>
            <a:r>
              <a:rPr lang="fr-FR" dirty="0"/>
              <a:t>Aujourd'hui la conformité réglementaire se suit dans des fichiers séparés, direction par direction, et le Journal Officiel se dépouille à la main.</a:t>
            </a:r>
          </a:p>
          <a:p>
            <a:r>
              <a:rPr lang="fr-FR" dirty="0"/>
              <a:t>Les conséquences concrètes : des textes qui nous échappent, des assignations approximatives, des preuves introuvables, des retards que personne ne voit.</a:t>
            </a:r>
          </a:p>
          <a:p>
            <a:r>
              <a:rPr lang="fr-FR" dirty="0"/>
              <a:t>S'y ajoute un point de sécurité que nous avons mesuré : la BU était choisie dans le navigateur, l'API croyait l'en-tête envoyé par le client : n'importe qui pouvait se déclarer Direction Juridique. C'est corrigé, j'y viens.</a:t>
            </a:r>
          </a:p>
          <a:p>
            <a:r>
              <a:rPr lang="fr-FR" dirty="0"/>
              <a:t>La réponse tient dans la ligne du bas : un document, plusieurs actes, une assignation par direction, un suivi, une traçabilité.</a:t>
            </a:r>
          </a:p>
          <a:p>
            <a:r>
              <a:rPr lang="fr-FR" dirty="0"/>
              <a:t>Ne pas entrer dans le détail technique ici : c'est l'objet des slides suivantes.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fr-FR" dirty="0"/>
              <a:t>Voici ce que contient réellement l'application, couche par couche.</a:t>
            </a:r>
          </a:p>
          <a:p>
            <a:r>
              <a:rPr lang="fr-FR" dirty="0"/>
              <a:t>En haut la source : on peut déposer plusieurs PDF d'un coup. Ils sont analysés l'un après l'autre — c'est plus lent, mais chaque résultat est conservé dès qu'il arrive et un échec n'annule pas les autres.</a:t>
            </a:r>
          </a:p>
          <a:p>
            <a:r>
              <a:rPr lang="fr-FR" dirty="0"/>
              <a:t>L'extraction transforme un document en actes distincts : un Journal Officiel contient des dizaines d'actes, on ne les fusionne jamais.</a:t>
            </a:r>
          </a:p>
          <a:p>
            <a:r>
              <a:rPr lang="fr-FR" dirty="0"/>
              <a:t>Le point important est le domaine métier : il est écrit sans Next.js ni Prisma. C'est ce qui rend la migration Dataverse possible sans réécrire la logique.</a:t>
            </a:r>
          </a:p>
          <a:p>
            <a:r>
              <a:rPr lang="fr-FR" dirty="0"/>
              <a:t>Quatrième couche, la persistance et l'accès : les 7 tables portent la traçabilité, et les accès sont gérés côté serveur — mot de passe haché, session signée.</a:t>
            </a:r>
          </a:p>
          <a:p>
            <a:r>
              <a:rPr lang="fr-FR" dirty="0"/>
              <a:t>Enfin les écrans : six, et la même règle des deux côtés de l'API.</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fr-FR" dirty="0"/>
              <a:t>Le principe le plus important de la présentation est ici : qui décide quoi.</a:t>
            </a:r>
          </a:p>
          <a:p>
            <a:r>
              <a:rPr lang="fr-FR" dirty="0"/>
              <a:t>Étape 1, l'IA propose. Étape 2, la centrale — la veille réglementaire générale — valide le texte et l'assigne. Étape 3, la direction concernée approuve ou rejette son assignation. Étape 4, elle pilote sa conformité : preuve, action, responsable, délai, taux.</a:t>
            </a:r>
          </a:p>
          <a:p>
            <a:r>
              <a:rPr lang="fr-FR" dirty="0"/>
              <a:t>La double validation existe parce que ni l'IA ni la centrale ne décident à la place du métier.</a:t>
            </a:r>
          </a:p>
          <a:p>
            <a:r>
              <a:rPr lang="fr-FR" dirty="0"/>
              <a:t>Le cloisonnement est strict : une direction ne touche qu'à ses fiches, la Direction Juridique comprise, sans exception. Les autres directions sont en lecture seule, et ce contrôle existe aussi dans l'API, pas seulement dans l'écran.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fr-FR" dirty="0"/>
              <a:t>Une veille réglementaire n'a de valeur que si elle est défendable. Voici les quatre garanties.</a:t>
            </a:r>
          </a:p>
          <a:p>
            <a:r>
              <a:rPr lang="fr-FR" dirty="0"/>
              <a:t>D'abord, un scan ne se perd jamais. L'IA coûte des tokens : tant qu'un document n'est pas enregistré, il reste dans la liste des documents scannés. Changer d'onglet, quitter la page, revenir le lendemain, déposer un autre JO : rien ne s'efface. Nous avons d'ailleurs trouvé la cause d'une perte de scans : l'enregistrement dans le navigateur échouait en silence quand le document dépassait la capacité du stockage.</a:t>
            </a:r>
          </a:p>
          <a:p>
            <a:r>
              <a:rPr lang="fr-FR" dirty="0"/>
              <a:t>Ensuite les accès : un mot de passe par direction, haché, et une session signée par le serveur. Concrètement, un appel HTTP qui prétend être la Direction Juridique sans session est rejeté — c'est vérifié.</a:t>
            </a:r>
          </a:p>
          <a:p>
            <a:r>
              <a:rPr lang="fr-FR" dirty="0"/>
              <a:t>Puis la fidélité : l'IA recopie les articles mot à mot et ne construit jamais une référence. Si l'information n'est pas dans le document, la fiche affiche N/A et le juridique corrige.</a:t>
            </a:r>
          </a:p>
          <a:p>
            <a:r>
              <a:rPr lang="fr-FR" dirty="0"/>
              <a:t>Enfin l'historique : on ne remplace pas une donnée, on la fige. Une fiche modifiée trois fois reste consultable dans ses trois états, avec l'auteur, la date et le détail des champs modifiés.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fr-FR" dirty="0"/>
              <a:t>Dernière slide : pourquoi ce prototype n'est pas un prototype jetable.</a:t>
            </a:r>
          </a:p>
          <a:p>
            <a:r>
              <a:rPr lang="fr-FR" dirty="0"/>
              <a:t>Le schéma Dataverse est déjà écrit dans le code, avec les listes de choix, les relations et les rôles de sécurité.</a:t>
            </a:r>
          </a:p>
          <a:p>
            <a:r>
              <a:rPr lang="fr-FR" dirty="0"/>
              <a:t>Pour l'identité, la bascule est courte et bien délimitée : deux points seulement dans le code, lireSession côté serveur et la pastille d'identité côté interface. Tout le reste — les droits, les filtres par direction, les refus 403 — est déjà dans la forme attendue par Power Pages.</a:t>
            </a:r>
          </a:p>
          <a:p>
            <a:r>
              <a:rPr lang="fr-FR" dirty="0"/>
              <a:t>Concrètement, la suite est cadrée : recréer le schéma, brancher l'API, activer l'auditing natif, puis basculer l'authentification sur Entra ID avec les directions.</a:t>
            </a:r>
          </a:p>
          <a:p>
            <a:r>
              <a:rPr lang="fr-FR" dirty="0"/>
              <a:t>Je propose de terminer par la démo : connexion, assignation d'un document, approbation, puis la vue immersive du texte.</a:t>
            </a:r>
          </a:p>
          <a:p>
            <a:r>
              <a:rPr lang="fr-FR" dirty="0"/>
              <a:t>Le code et la documentation sont sur le dépôt indiqué en bas de slide.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marL="0" indent="0" algn="l" defTabSz="914400" rtl="0" eaLnBrk="1" latinLnBrk="0" hangingPunct="1">
        <a:defRPr sz="2600" b="1" kern="1200">
          <a:solidFill>
            <a:schemeClr val="tx2"/>
          </a:solidFill>
          <a:latin typeface="+mn-lt"/>
        </a:defRPr>
      </a:lvl1pPr>
    </p:titleStyle>
    <p:bodyStyle>
      <a:lvl1pPr marL="0" indent="0" algn="l" defTabSz="914400" rtl="0" eaLnBrk="1" latinLnBrk="0" hangingPunct="1">
        <a:defRPr sz="1400" kern="1200">
          <a:solidFill>
            <a:schemeClr val="tx1"/>
          </a:solidFill>
          <a:latin typeface="+mn-lt"/>
        </a:defRPr>
      </a:lvl1pPr>
    </p:bodyStyle>
    <p:otherStyle>
      <a:lvl1pPr marL="0" indent="0" algn="l" defTabSz="914400" rtl="0" eaLnBrk="1" latinLnBrk="0" hangingPunct="1">
        <a:defRPr sz="1200" kern="12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agl.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agl.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agl.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agl.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agl.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logo-agl.png"/><Relationship Id="rId3" Type="http://schemas.openxmlformats.org/officeDocument/2006/relationships/hyperlink" Target="https://github.com/Morlis12/juriscan" TargetMode="External"/></Relationships>
</file>

<file path=ppt/slides/slide1.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9="http://schemas.microsoft.com/office/powerpoint/2015/09/main">
  <p:cSld>
    <p:bg>
      <p:bgPr>
        <a:solidFill>
          <a:srgbClr val="1C3359"/>
        </a:solidFill>
        <a:effectLst/>
      </p:bgPr>
    </p:bg>
    <p:spTree>
      <p:nvGrpSpPr>
        <p:cNvPr id="1" name=""/>
        <p:cNvGrpSpPr/>
        <p:nvPr/>
      </p:nvGrpSpPr>
      <p:grpSpPr>
        <a:xfrm>
          <a:off x="0" y="0"/>
          <a:ext cx="0" cy="0"/>
          <a:chOff x="0" y="0"/>
          <a:chExt cx="0" cy="0"/>
        </a:xfrm>
      </p:grpSpPr>
      <p:sp>
        <p:nvSpPr>
          <p:cNvPr id="2" name="forme"/>
          <p:cNvSpPr/>
          <p:nvPr/>
        </p:nvSpPr>
        <p:spPr>
          <a:xfrm>
            <a:off x="8890000" y="-1651000"/>
            <a:ext cx="5588000" cy="5588000"/>
          </a:xfrm>
          <a:prstGeom prst="ellipse">
            <a:avLst/>
          </a:prstGeom>
          <a:solidFill>
            <a:srgbClr val="2C4A78">
              <a:alpha val="13000"/>
            </a:srgbClr>
          </a:solidFill>
          <a:ln>
            <a:noFill/>
          </a:ln>
          <a:effectLst/>
        </p:spPr>
        <p:txBody>
          <a:bodyPr/>
          <a:lstStyle/>
          <a:p>
            <a:endParaRPr lang="fr-FR"/>
          </a:p>
        </p:txBody>
      </p:sp>
      <p:sp>
        <p:nvSpPr>
          <p:cNvPr id="3" name="forme"/>
          <p:cNvSpPr/>
          <p:nvPr/>
        </p:nvSpPr>
        <p:spPr>
          <a:xfrm>
            <a:off x="10160000" y="3175000"/>
            <a:ext cx="3810000" cy="3810000"/>
          </a:xfrm>
          <a:prstGeom prst="ellipse">
            <a:avLst/>
          </a:prstGeom>
          <a:solidFill>
            <a:srgbClr val="B6AD6E">
              <a:alpha val="6000"/>
            </a:srgbClr>
          </a:solidFill>
          <a:ln>
            <a:noFill/>
          </a:ln>
          <a:effectLst/>
        </p:spPr>
        <p:txBody>
          <a:bodyPr/>
          <a:lstStyle/>
          <a:p>
            <a:endParaRPr lang="fr-FR"/>
          </a:p>
        </p:txBody>
      </p:sp>
      <p:sp>
        <p:nvSpPr>
          <p:cNvPr id="4" name="forme"/>
          <p:cNvSpPr/>
          <p:nvPr/>
        </p:nvSpPr>
        <p:spPr>
          <a:xfrm>
            <a:off x="7112000" y="508000"/>
            <a:ext cx="2540000" cy="2540000"/>
          </a:xfrm>
          <a:prstGeom prst="ellipse">
            <a:avLst/>
          </a:prstGeom>
          <a:noFill/>
          <a:ln w="12700" cap="flat">
            <a:solidFill>
              <a:srgbClr val="B6AD6E">
                <a:alpha val="26000"/>
              </a:srgbClr>
            </a:solidFill>
            <a:prstDash val="solid"/>
            <a:flat/>
          </a:ln>
          <a:effectLst/>
        </p:spPr>
        <p:txBody>
          <a:bodyPr/>
          <a:lstStyle/>
          <a:p>
            <a:endParaRPr lang="fr-FR"/>
          </a:p>
        </p:txBody>
      </p:sp>
      <p:sp>
        <p:nvSpPr>
          <p:cNvPr id="5" name="forme"/>
          <p:cNvSpPr/>
          <p:nvPr/>
        </p:nvSpPr>
        <p:spPr>
          <a:xfrm>
            <a:off x="711200" y="2235200"/>
            <a:ext cx="50800" cy="990600"/>
          </a:xfrm>
          <a:prstGeom prst="rect">
            <a:avLst/>
          </a:prstGeom>
          <a:solidFill>
            <a:srgbClr val="B6AD6E"/>
          </a:solidFill>
          <a:ln>
            <a:noFill/>
          </a:ln>
          <a:effectLst/>
        </p:spPr>
        <p:txBody>
          <a:bodyPr/>
          <a:lstStyle/>
          <a:p>
            <a:endParaRPr lang="fr-FR"/>
          </a:p>
        </p:txBody>
      </p:sp>
      <p:pic>
        <p:nvPicPr>
          <p:cNvPr id="6" name="image"/>
          <p:cNvPicPr>
            <a:picLocks noChangeAspect="1"/>
          </p:cNvPicPr>
          <p:nvPr/>
        </p:nvPicPr>
        <p:blipFill>
          <a:blip r:embed="rId2"/>
          <a:stretch>
            <a:fillRect/>
          </a:stretch>
        </p:blipFill>
        <p:spPr>
          <a:xfrm>
            <a:off x="711200" y="685800"/>
            <a:ext cx="1752600" cy="838200"/>
          </a:xfrm>
          <a:prstGeom prst="rect">
            <a:avLst/>
          </a:prstGeom>
        </p:spPr>
      </p:pic>
      <p:sp>
        <p:nvSpPr>
          <p:cNvPr id="7" name="forme"/>
          <p:cNvSpPr/>
          <p:nvPr/>
        </p:nvSpPr>
        <p:spPr>
          <a:xfrm>
            <a:off x="1041400" y="2184400"/>
            <a:ext cx="7874000" cy="177800"/>
          </a:xfrm>
          <a:prstGeom prst="rect">
            <a:avLst/>
          </a:prstGeom>
          <a:noFill/>
          <a:ln>
            <a:noFill/>
          </a:ln>
          <a:effectLst/>
        </p:spPr>
        <p:txBody>
          <a:bodyPr wrap="square" lIns="0" tIns="0" rIns="0" bIns="0" anchor="t">
            <a:noAutofit/>
          </a:bodyPr>
          <a:lstStyle/>
          <a:p>
            <a:pPr>
              <a:buNone/>
            </a:pPr>
            <a:r>
              <a:rPr lang="fr-FR" sz="950" b="1" cap="all" spc="160" dirty="0">
                <a:solidFill>
                  <a:srgbClr val="B6AD6E"/>
                </a:solidFill>
                <a:latin typeface="Segoe UI"/>
                <a:cs typeface="Segoe UI"/>
              </a:rPr>
              <a:t>AGL  ·  Veille réglementaire  ·  Africa Global Logistics</a:t>
            </a:r>
            <a:endParaRPr lang="fr-FR" sz="100"/>
          </a:p>
        </p:txBody>
      </p:sp>
      <p:sp>
        <p:nvSpPr>
          <p:cNvPr id="8" name="forme"/>
          <p:cNvSpPr/>
          <p:nvPr/>
        </p:nvSpPr>
        <p:spPr>
          <a:xfrm>
            <a:off x="1041400" y="2463800"/>
            <a:ext cx="9652000" cy="939800"/>
          </a:xfrm>
          <a:prstGeom prst="rect">
            <a:avLst/>
          </a:prstGeom>
          <a:noFill/>
          <a:ln>
            <a:noFill/>
          </a:ln>
          <a:effectLst/>
        </p:spPr>
        <p:txBody>
          <a:bodyPr wrap="square" lIns="0" tIns="0" rIns="0" bIns="0" anchor="t">
            <a:noAutofit/>
          </a:bodyPr>
          <a:lstStyle/>
          <a:p>
            <a:pPr>
              <a:buNone/>
            </a:pPr>
            <a:r>
              <a:rPr lang="fr-FR" sz="5200" b="1" dirty="0">
                <a:solidFill>
                  <a:srgbClr val="FFFFFF"/>
                </a:solidFill>
                <a:latin typeface="Segoe UI"/>
                <a:cs typeface="Segoe UI"/>
              </a:rPr>
              <a:t>AGL </a:t>
            </a:r>
            <a:r>
              <a:rPr lang="fr-FR" sz="5200" b="1" dirty="0">
                <a:solidFill>
                  <a:srgbClr val="B6AD6E"/>
                </a:solidFill>
                <a:latin typeface="Segoe UI"/>
                <a:cs typeface="Segoe UI"/>
              </a:rPr>
              <a:t>JuriCompliance</a:t>
            </a:r>
            <a:endParaRPr lang="fr-FR" sz="100"/>
          </a:p>
        </p:txBody>
      </p:sp>
      <p:sp>
        <p:nvSpPr>
          <p:cNvPr id="9" name="forme"/>
          <p:cNvSpPr/>
          <p:nvPr/>
        </p:nvSpPr>
        <p:spPr>
          <a:xfrm>
            <a:off x="1041400" y="3530600"/>
            <a:ext cx="8890000" cy="330200"/>
          </a:xfrm>
          <a:prstGeom prst="rect">
            <a:avLst/>
          </a:prstGeom>
          <a:noFill/>
          <a:ln>
            <a:noFill/>
          </a:ln>
          <a:effectLst/>
        </p:spPr>
        <p:txBody>
          <a:bodyPr wrap="square" lIns="0" tIns="0" rIns="0" bIns="0" anchor="t">
            <a:noAutofit/>
          </a:bodyPr>
          <a:lstStyle/>
          <a:p>
            <a:pPr>
              <a:buNone/>
            </a:pPr>
            <a:r>
              <a:rPr lang="fr-FR" sz="1900" b="0" dirty="0">
                <a:solidFill>
                  <a:srgbClr val="DCE5F2"/>
                </a:solidFill>
                <a:latin typeface="Segoe UI"/>
                <a:cs typeface="Segoe UI"/>
              </a:rPr>
              <a:t>Veille réglementaire assistée par IA</a:t>
            </a:r>
            <a:endParaRPr lang="fr-FR" sz="100"/>
          </a:p>
        </p:txBody>
      </p:sp>
      <p:sp>
        <p:nvSpPr>
          <p:cNvPr id="10" name="forme"/>
          <p:cNvSpPr/>
          <p:nvPr/>
        </p:nvSpPr>
        <p:spPr>
          <a:xfrm>
            <a:off x="1041400" y="3962400"/>
            <a:ext cx="9144000" cy="254000"/>
          </a:xfrm>
          <a:prstGeom prst="rect">
            <a:avLst/>
          </a:prstGeom>
          <a:noFill/>
          <a:ln>
            <a:noFill/>
          </a:ln>
          <a:effectLst/>
        </p:spPr>
        <p:txBody>
          <a:bodyPr wrap="square" lIns="0" tIns="0" rIns="0" bIns="0" anchor="t">
            <a:noAutofit/>
          </a:bodyPr>
          <a:lstStyle/>
          <a:p>
            <a:pPr>
              <a:buNone/>
            </a:pPr>
            <a:r>
              <a:rPr lang="fr-FR" sz="1200" b="0" dirty="0">
                <a:solidFill>
                  <a:srgbClr val="A9BAD2"/>
                </a:solidFill>
                <a:latin typeface="Segoe UI"/>
                <a:cs typeface="Segoe UI"/>
              </a:rPr>
              <a:t>Du Journal Officiel à la conformité terrain : capter, extraire, assigner, piloter, prouver.</a:t>
            </a:r>
            <a:endParaRPr lang="fr-FR" sz="100"/>
          </a:p>
        </p:txBody>
      </p:sp>
      <p:sp>
        <p:nvSpPr>
          <p:cNvPr id="11" name="forme"/>
          <p:cNvSpPr/>
          <p:nvPr/>
        </p:nvSpPr>
        <p:spPr>
          <a:xfrm>
            <a:off x="711200" y="4724400"/>
            <a:ext cx="1613916" cy="381000"/>
          </a:xfrm>
          <a:prstGeom prst="roundRect">
            <a:avLst>
              <a:gd name="adj" fmla="val 50000"/>
            </a:avLst>
          </a:prstGeom>
          <a:solidFill>
            <a:srgbClr val="FFFFFF">
              <a:alpha val="10000"/>
            </a:srgbClr>
          </a:solidFill>
          <a:ln w="9525" cap="flat">
            <a:solidFill>
              <a:srgbClr val="FFFFFF">
                <a:alpha val="26000"/>
              </a:srgbClr>
            </a:solidFill>
            <a:prstDash val="solid"/>
            <a:flat/>
          </a:ln>
          <a:effectLst/>
        </p:spPr>
        <p:txBody>
          <a:bodyPr/>
          <a:lstStyle/>
          <a:p>
            <a:endParaRPr lang="fr-FR"/>
          </a:p>
        </p:txBody>
      </p:sp>
      <p:sp>
        <p:nvSpPr>
          <p:cNvPr id="12" name="forme"/>
          <p:cNvSpPr/>
          <p:nvPr/>
        </p:nvSpPr>
        <p:spPr>
          <a:xfrm>
            <a:off x="711200" y="4724400"/>
            <a:ext cx="1613916" cy="381000"/>
          </a:xfrm>
          <a:prstGeom prst="rect">
            <a:avLst/>
          </a:prstGeom>
          <a:noFill/>
          <a:ln>
            <a:noFill/>
          </a:ln>
          <a:effectLst/>
        </p:spPr>
        <p:txBody>
          <a:bodyPr wrap="square" lIns="0" tIns="0" rIns="0" bIns="0" anchor="ctr">
            <a:noAutofit/>
          </a:bodyPr>
          <a:lstStyle/>
          <a:p>
            <a:pPr algn="ctr">
              <a:buNone/>
            </a:pPr>
            <a:r>
              <a:rPr lang="fr-FR" sz="950" b="1" dirty="0">
                <a:solidFill>
                  <a:srgbClr val="E8EEF7"/>
                </a:solidFill>
                <a:latin typeface="Segoe UI"/>
                <a:cs typeface="Segoe UI"/>
              </a:rPr>
              <a:t>Accès par direction</a:t>
            </a:r>
            <a:endParaRPr lang="fr-FR" sz="100"/>
          </a:p>
        </p:txBody>
      </p:sp>
      <p:sp>
        <p:nvSpPr>
          <p:cNvPr id="13" name="forme"/>
          <p:cNvSpPr/>
          <p:nvPr/>
        </p:nvSpPr>
        <p:spPr>
          <a:xfrm>
            <a:off x="2477516" y="4724400"/>
            <a:ext cx="1478788" cy="381000"/>
          </a:xfrm>
          <a:prstGeom prst="roundRect">
            <a:avLst>
              <a:gd name="adj" fmla="val 50000"/>
            </a:avLst>
          </a:prstGeom>
          <a:solidFill>
            <a:srgbClr val="FFFFFF">
              <a:alpha val="10000"/>
            </a:srgbClr>
          </a:solidFill>
          <a:ln w="9525" cap="flat">
            <a:solidFill>
              <a:srgbClr val="FFFFFF">
                <a:alpha val="26000"/>
              </a:srgbClr>
            </a:solidFill>
            <a:prstDash val="solid"/>
            <a:flat/>
          </a:ln>
          <a:effectLst/>
        </p:spPr>
        <p:txBody>
          <a:bodyPr/>
          <a:lstStyle/>
          <a:p>
            <a:endParaRPr lang="fr-FR"/>
          </a:p>
        </p:txBody>
      </p:sp>
      <p:sp>
        <p:nvSpPr>
          <p:cNvPr id="14" name="forme"/>
          <p:cNvSpPr/>
          <p:nvPr/>
        </p:nvSpPr>
        <p:spPr>
          <a:xfrm>
            <a:off x="2477516" y="4724400"/>
            <a:ext cx="1478788" cy="381000"/>
          </a:xfrm>
          <a:prstGeom prst="rect">
            <a:avLst/>
          </a:prstGeom>
          <a:noFill/>
          <a:ln>
            <a:noFill/>
          </a:ln>
          <a:effectLst/>
        </p:spPr>
        <p:txBody>
          <a:bodyPr wrap="square" lIns="0" tIns="0" rIns="0" bIns="0" anchor="ctr">
            <a:noAutofit/>
          </a:bodyPr>
          <a:lstStyle/>
          <a:p>
            <a:pPr algn="ctr">
              <a:buNone/>
            </a:pPr>
            <a:r>
              <a:rPr lang="fr-FR" sz="950" b="1" dirty="0">
                <a:solidFill>
                  <a:srgbClr val="E8EEF7"/>
                </a:solidFill>
                <a:latin typeface="Segoe UI"/>
                <a:cs typeface="Segoe UI"/>
              </a:rPr>
              <a:t>Scan jamais perdu</a:t>
            </a:r>
            <a:endParaRPr lang="fr-FR" sz="100"/>
          </a:p>
        </p:txBody>
      </p:sp>
      <p:sp>
        <p:nvSpPr>
          <p:cNvPr id="15" name="forme"/>
          <p:cNvSpPr/>
          <p:nvPr/>
        </p:nvSpPr>
        <p:spPr>
          <a:xfrm>
            <a:off x="4108704" y="4724400"/>
            <a:ext cx="1411224" cy="381000"/>
          </a:xfrm>
          <a:prstGeom prst="roundRect">
            <a:avLst>
              <a:gd name="adj" fmla="val 50000"/>
            </a:avLst>
          </a:prstGeom>
          <a:solidFill>
            <a:srgbClr val="FFFFFF">
              <a:alpha val="10000"/>
            </a:srgbClr>
          </a:solidFill>
          <a:ln w="9525" cap="flat">
            <a:solidFill>
              <a:srgbClr val="FFFFFF">
                <a:alpha val="26000"/>
              </a:srgbClr>
            </a:solidFill>
            <a:prstDash val="solid"/>
            <a:flat/>
          </a:ln>
          <a:effectLst/>
        </p:spPr>
        <p:txBody>
          <a:bodyPr/>
          <a:lstStyle/>
          <a:p>
            <a:endParaRPr lang="fr-FR"/>
          </a:p>
        </p:txBody>
      </p:sp>
      <p:sp>
        <p:nvSpPr>
          <p:cNvPr id="16" name="forme"/>
          <p:cNvSpPr/>
          <p:nvPr/>
        </p:nvSpPr>
        <p:spPr>
          <a:xfrm>
            <a:off x="4108704" y="4724400"/>
            <a:ext cx="1411224" cy="381000"/>
          </a:xfrm>
          <a:prstGeom prst="rect">
            <a:avLst/>
          </a:prstGeom>
          <a:noFill/>
          <a:ln>
            <a:noFill/>
          </a:ln>
          <a:effectLst/>
        </p:spPr>
        <p:txBody>
          <a:bodyPr wrap="square" lIns="0" tIns="0" rIns="0" bIns="0" anchor="ctr">
            <a:noAutofit/>
          </a:bodyPr>
          <a:lstStyle/>
          <a:p>
            <a:pPr algn="ctr">
              <a:buNone/>
            </a:pPr>
            <a:r>
              <a:rPr lang="fr-FR" sz="950" b="1" dirty="0">
                <a:solidFill>
                  <a:srgbClr val="E8EEF7"/>
                </a:solidFill>
                <a:latin typeface="Segoe UI"/>
                <a:cs typeface="Segoe UI"/>
              </a:rPr>
              <a:t>Traçabilité SCD2</a:t>
            </a:r>
            <a:endParaRPr lang="fr-FR" sz="100"/>
          </a:p>
        </p:txBody>
      </p:sp>
      <p:sp>
        <p:nvSpPr>
          <p:cNvPr id="17" name="forme"/>
          <p:cNvSpPr/>
          <p:nvPr/>
        </p:nvSpPr>
        <p:spPr>
          <a:xfrm>
            <a:off x="5672328" y="4724400"/>
            <a:ext cx="2289556" cy="381000"/>
          </a:xfrm>
          <a:prstGeom prst="roundRect">
            <a:avLst>
              <a:gd name="adj" fmla="val 50000"/>
            </a:avLst>
          </a:prstGeom>
          <a:solidFill>
            <a:srgbClr val="FFFFFF">
              <a:alpha val="10000"/>
            </a:srgbClr>
          </a:solidFill>
          <a:ln w="9525" cap="flat">
            <a:solidFill>
              <a:srgbClr val="FFFFFF">
                <a:alpha val="26000"/>
              </a:srgbClr>
            </a:solidFill>
            <a:prstDash val="solid"/>
            <a:flat/>
          </a:ln>
          <a:effectLst/>
        </p:spPr>
        <p:txBody>
          <a:bodyPr/>
          <a:lstStyle/>
          <a:p>
            <a:endParaRPr lang="fr-FR"/>
          </a:p>
        </p:txBody>
      </p:sp>
      <p:sp>
        <p:nvSpPr>
          <p:cNvPr id="18" name="forme"/>
          <p:cNvSpPr/>
          <p:nvPr/>
        </p:nvSpPr>
        <p:spPr>
          <a:xfrm>
            <a:off x="5672328" y="4724400"/>
            <a:ext cx="2289556" cy="381000"/>
          </a:xfrm>
          <a:prstGeom prst="rect">
            <a:avLst/>
          </a:prstGeom>
          <a:noFill/>
          <a:ln>
            <a:noFill/>
          </a:ln>
          <a:effectLst/>
        </p:spPr>
        <p:txBody>
          <a:bodyPr wrap="square" lIns="0" tIns="0" rIns="0" bIns="0" anchor="ctr">
            <a:noAutofit/>
          </a:bodyPr>
          <a:lstStyle/>
          <a:p>
            <a:pPr algn="ctr">
              <a:buNone/>
            </a:pPr>
            <a:r>
              <a:rPr lang="fr-FR" sz="950" b="1" dirty="0">
                <a:solidFill>
                  <a:srgbClr val="E8EEF7"/>
                </a:solidFill>
                <a:latin typeface="Segoe UI"/>
                <a:cs typeface="Segoe UI"/>
              </a:rPr>
              <a:t>Power Pages / Dataverse ready</a:t>
            </a:r>
            <a:endParaRPr lang="fr-FR" sz="100"/>
          </a:p>
        </p:txBody>
      </p:sp>
      <p:sp>
        <p:nvSpPr>
          <p:cNvPr id="19" name="forme"/>
          <p:cNvSpPr/>
          <p:nvPr/>
        </p:nvSpPr>
        <p:spPr>
          <a:xfrm>
            <a:off x="711200" y="5740400"/>
            <a:ext cx="10769600" cy="12700"/>
          </a:xfrm>
          <a:prstGeom prst="rect">
            <a:avLst/>
          </a:prstGeom>
          <a:solidFill>
            <a:srgbClr val="5D7093"/>
          </a:solidFill>
          <a:ln>
            <a:noFill/>
          </a:ln>
          <a:effectLst/>
        </p:spPr>
        <p:txBody>
          <a:bodyPr/>
          <a:lstStyle/>
          <a:p>
            <a:endParaRPr lang="fr-FR"/>
          </a:p>
        </p:txBody>
      </p:sp>
      <p:sp>
        <p:nvSpPr>
          <p:cNvPr id="20" name="forme"/>
          <p:cNvSpPr/>
          <p:nvPr/>
        </p:nvSpPr>
        <p:spPr>
          <a:xfrm>
            <a:off x="711200" y="5943600"/>
            <a:ext cx="7874000" cy="203200"/>
          </a:xfrm>
          <a:prstGeom prst="rect">
            <a:avLst/>
          </a:prstGeom>
          <a:noFill/>
          <a:ln>
            <a:noFill/>
          </a:ln>
          <a:effectLst/>
        </p:spPr>
        <p:txBody>
          <a:bodyPr wrap="square" lIns="0" tIns="0" rIns="0" bIns="0" anchor="t">
            <a:noAutofit/>
          </a:bodyPr>
          <a:lstStyle/>
          <a:p>
            <a:pPr>
              <a:buNone/>
            </a:pPr>
            <a:r>
              <a:rPr lang="fr-FR" sz="1000" b="0" dirty="0">
                <a:solidFill>
                  <a:srgbClr val="A9BAD2"/>
                </a:solidFill>
                <a:latin typeface="Segoe UI"/>
                <a:cs typeface="Segoe UI"/>
              </a:rPr>
              <a:t>Présentation de projet  ·  </a:t>
            </a:r>
            <a:r>
              <a:rPr lang="fr-FR" sz="1000" b="1" dirty="0">
                <a:solidFill>
                  <a:srgbClr val="B6AD6E"/>
                </a:solidFill>
                <a:latin typeface="Segoe UI"/>
                <a:cs typeface="Segoe UI"/>
              </a:rPr>
              <a:t>github.com/Morlis12/juriscan</a:t>
            </a:r>
            <a:endParaRPr lang="fr-FR" sz="100"/>
          </a:p>
        </p:txBody>
      </p:sp>
      <p:sp>
        <p:nvSpPr>
          <p:cNvPr id="21" name="forme"/>
          <p:cNvSpPr/>
          <p:nvPr/>
        </p:nvSpPr>
        <p:spPr>
          <a:xfrm>
            <a:off x="7416800" y="5943600"/>
            <a:ext cx="4064000" cy="203200"/>
          </a:xfrm>
          <a:prstGeom prst="rect">
            <a:avLst/>
          </a:prstGeom>
          <a:noFill/>
          <a:ln>
            <a:noFill/>
          </a:ln>
          <a:effectLst/>
        </p:spPr>
        <p:txBody>
          <a:bodyPr wrap="square" lIns="0" tIns="0" rIns="0" bIns="0" anchor="t">
            <a:noAutofit/>
          </a:bodyPr>
          <a:lstStyle/>
          <a:p>
            <a:pPr algn="r">
              <a:buNone/>
            </a:pPr>
            <a:r>
              <a:rPr lang="fr-FR" sz="1000" b="0" dirty="0">
                <a:solidFill>
                  <a:srgbClr val="A9BAD2"/>
                </a:solidFill>
                <a:latin typeface="Segoe UI"/>
                <a:cs typeface="Segoe UI"/>
              </a:rPr>
              <a:t>Next.js 16 · Prisma / PostgreSQL · Entra ID ready</a:t>
            </a:r>
            <a:endParaRPr lang="fr-FR" sz="100"/>
          </a:p>
        </p:txBody>
      </p:sp>
    </p:spTree>
  </p:cSld>
  <p:clrMapOvr>
    <a:masterClrMapping/>
  </p:clrMapOvr>
  <mc:AlternateContent>
    <mc:Choice Requires="p14">
      <p:transition spd="slow" p14:dur="9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9="http://schemas.microsoft.com/office/powerpoint/2015/09/main">
  <p:cSld>
    <p:bg>
      <p:bgPr>
        <a:solidFill>
          <a:srgbClr val="FFFFFF"/>
        </a:solidFill>
        <a:effectLst/>
      </p:bgPr>
    </p:bg>
    <p:spTree>
      <p:nvGrpSpPr>
        <p:cNvPr id="1" name=""/>
        <p:cNvGrpSpPr/>
        <p:nvPr/>
      </p:nvGrpSpPr>
      <p:grpSpPr>
        <a:xfrm>
          <a:off x="0" y="0"/>
          <a:ext cx="0" cy="0"/>
          <a:chOff x="0" y="0"/>
          <a:chExt cx="0" cy="0"/>
        </a:xfrm>
      </p:grpSpPr>
      <p:sp>
        <p:nvSpPr>
          <p:cNvPr id="2" name="forme"/>
          <p:cNvSpPr/>
          <p:nvPr/>
        </p:nvSpPr>
        <p:spPr>
          <a:xfrm>
            <a:off x="0" y="0"/>
            <a:ext cx="12192000" cy="1168400"/>
          </a:xfrm>
          <a:prstGeom prst="rect">
            <a:avLst/>
          </a:prstGeom>
          <a:solidFill>
            <a:srgbClr val="1C3359"/>
          </a:solidFill>
          <a:ln>
            <a:noFill/>
          </a:ln>
          <a:effectLst/>
        </p:spPr>
        <p:txBody>
          <a:bodyPr/>
          <a:lstStyle/>
          <a:p>
            <a:endParaRPr lang="fr-FR"/>
          </a:p>
        </p:txBody>
      </p:sp>
      <p:sp>
        <p:nvSpPr>
          <p:cNvPr id="3" name="forme"/>
          <p:cNvSpPr/>
          <p:nvPr/>
        </p:nvSpPr>
        <p:spPr>
          <a:xfrm>
            <a:off x="0" y="1168400"/>
            <a:ext cx="12192000" cy="38100"/>
          </a:xfrm>
          <a:prstGeom prst="rect">
            <a:avLst/>
          </a:prstGeom>
          <a:solidFill>
            <a:srgbClr val="B6AD6E"/>
          </a:solidFill>
          <a:ln>
            <a:noFill/>
          </a:ln>
          <a:effectLst/>
        </p:spPr>
        <p:txBody>
          <a:bodyPr/>
          <a:lstStyle/>
          <a:p>
            <a:endParaRPr lang="fr-FR"/>
          </a:p>
        </p:txBody>
      </p:sp>
      <p:sp>
        <p:nvSpPr>
          <p:cNvPr id="4" name="forme"/>
          <p:cNvSpPr/>
          <p:nvPr/>
        </p:nvSpPr>
        <p:spPr>
          <a:xfrm>
            <a:off x="330200" y="342900"/>
            <a:ext cx="482600" cy="482600"/>
          </a:xfrm>
          <a:prstGeom prst="ellipse">
            <a:avLst/>
          </a:prstGeom>
          <a:noFill/>
          <a:ln w="15875" cap="flat">
            <a:solidFill>
              <a:srgbClr val="B6AD6E"/>
            </a:solidFill>
            <a:prstDash val="solid"/>
            <a:flat/>
          </a:ln>
          <a:effectLst/>
        </p:spPr>
        <p:txBody>
          <a:bodyPr/>
          <a:lstStyle/>
          <a:p>
            <a:endParaRPr lang="fr-FR"/>
          </a:p>
        </p:txBody>
      </p:sp>
      <p:sp>
        <p:nvSpPr>
          <p:cNvPr id="5" name="forme"/>
          <p:cNvSpPr/>
          <p:nvPr/>
        </p:nvSpPr>
        <p:spPr>
          <a:xfrm>
            <a:off x="330200" y="342900"/>
            <a:ext cx="482600" cy="482600"/>
          </a:xfrm>
          <a:prstGeom prst="rect">
            <a:avLst/>
          </a:prstGeom>
          <a:noFill/>
          <a:ln>
            <a:noFill/>
          </a:ln>
          <a:effectLst/>
        </p:spPr>
        <p:txBody>
          <a:bodyPr wrap="square" lIns="0" tIns="0" rIns="0" bIns="0" anchor="ctr">
            <a:noAutofit/>
          </a:bodyPr>
          <a:lstStyle/>
          <a:p>
            <a:pPr algn="ctr">
              <a:buNone/>
            </a:pPr>
            <a:r>
              <a:rPr lang="fr-FR" sz="1500" b="1" dirty="0">
                <a:solidFill>
                  <a:srgbClr val="B6AD6E"/>
                </a:solidFill>
                <a:latin typeface="Segoe UI"/>
                <a:cs typeface="Segoe UI"/>
              </a:rPr>
              <a:t>01</a:t>
            </a:r>
            <a:endParaRPr lang="fr-FR" sz="100"/>
          </a:p>
        </p:txBody>
      </p:sp>
      <p:sp>
        <p:nvSpPr>
          <p:cNvPr id="6" name="forme"/>
          <p:cNvSpPr/>
          <p:nvPr/>
        </p:nvSpPr>
        <p:spPr>
          <a:xfrm>
            <a:off x="1066800" y="228600"/>
            <a:ext cx="8128000" cy="177800"/>
          </a:xfrm>
          <a:prstGeom prst="rect">
            <a:avLst/>
          </a:prstGeom>
          <a:noFill/>
          <a:ln>
            <a:noFill/>
          </a:ln>
          <a:effectLst/>
        </p:spPr>
        <p:txBody>
          <a:bodyPr wrap="square" lIns="0" tIns="0" rIns="0" bIns="0" anchor="t">
            <a:noAutofit/>
          </a:bodyPr>
          <a:lstStyle/>
          <a:p>
            <a:pPr>
              <a:buNone/>
            </a:pPr>
            <a:r>
              <a:rPr lang="fr-FR" sz="900" b="1" cap="all" spc="140" dirty="0">
                <a:solidFill>
                  <a:srgbClr val="B6AD6E"/>
                </a:solidFill>
                <a:latin typeface="Segoe UI"/>
                <a:cs typeface="Segoe UI"/>
              </a:rPr>
              <a:t>Le constat</a:t>
            </a:r>
            <a:endParaRPr lang="fr-FR" sz="100"/>
          </a:p>
        </p:txBody>
      </p:sp>
      <p:sp>
        <p:nvSpPr>
          <p:cNvPr id="7" name="forme"/>
          <p:cNvSpPr/>
          <p:nvPr/>
        </p:nvSpPr>
        <p:spPr>
          <a:xfrm>
            <a:off x="1066800" y="457200"/>
            <a:ext cx="8890000" cy="508000"/>
          </a:xfrm>
          <a:prstGeom prst="rect">
            <a:avLst/>
          </a:prstGeom>
          <a:noFill/>
          <a:ln>
            <a:noFill/>
          </a:ln>
          <a:effectLst/>
        </p:spPr>
        <p:txBody>
          <a:bodyPr wrap="square" lIns="0" tIns="0" rIns="0" bIns="0" anchor="t">
            <a:noAutofit/>
          </a:bodyPr>
          <a:lstStyle/>
          <a:p>
            <a:pPr>
              <a:buNone/>
            </a:pPr>
            <a:r>
              <a:rPr lang="fr-FR" sz="2400" b="1" dirty="0">
                <a:solidFill>
                  <a:srgbClr val="FFFFFF"/>
                </a:solidFill>
                <a:latin typeface="Segoe UI"/>
                <a:cs typeface="Segoe UI"/>
              </a:rPr>
              <a:t>Un flux manuel, dispersé et peu tracé</a:t>
            </a:r>
            <a:endParaRPr lang="fr-FR" sz="100"/>
          </a:p>
        </p:txBody>
      </p:sp>
      <p:pic>
        <p:nvPicPr>
          <p:cNvPr id="8" name="image"/>
          <p:cNvPicPr>
            <a:picLocks noChangeAspect="1"/>
          </p:cNvPicPr>
          <p:nvPr/>
        </p:nvPicPr>
        <p:blipFill>
          <a:blip r:embed="rId2"/>
          <a:stretch>
            <a:fillRect/>
          </a:stretch>
        </p:blipFill>
        <p:spPr>
          <a:xfrm>
            <a:off x="10629900" y="381000"/>
            <a:ext cx="850900" cy="406400"/>
          </a:xfrm>
          <a:prstGeom prst="rect">
            <a:avLst/>
          </a:prstGeom>
        </p:spPr>
      </p:pic>
      <p:sp>
        <p:nvSpPr>
          <p:cNvPr id="9" name="forme"/>
          <p:cNvSpPr/>
          <p:nvPr/>
        </p:nvSpPr>
        <p:spPr>
          <a:xfrm>
            <a:off x="711200" y="1778000"/>
            <a:ext cx="2501900" cy="2489200"/>
          </a:xfrm>
          <a:prstGeom prst="roundRect">
            <a:avLst>
              <a:gd name="adj" fmla="val 12245"/>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10" name="forme"/>
          <p:cNvSpPr/>
          <p:nvPr/>
        </p:nvSpPr>
        <p:spPr>
          <a:xfrm>
            <a:off x="711200" y="1778000"/>
            <a:ext cx="50800" cy="2489200"/>
          </a:xfrm>
          <a:prstGeom prst="roundRect">
            <a:avLst>
              <a:gd name="adj" fmla="val 50000"/>
            </a:avLst>
          </a:prstGeom>
          <a:solidFill>
            <a:srgbClr val="B6AD6E"/>
          </a:solidFill>
          <a:ln>
            <a:noFill/>
          </a:ln>
          <a:effectLst/>
        </p:spPr>
        <p:txBody>
          <a:bodyPr/>
          <a:lstStyle/>
          <a:p>
            <a:endParaRPr lang="fr-FR"/>
          </a:p>
        </p:txBody>
      </p:sp>
      <p:sp>
        <p:nvSpPr>
          <p:cNvPr id="11" name="forme"/>
          <p:cNvSpPr/>
          <p:nvPr/>
        </p:nvSpPr>
        <p:spPr>
          <a:xfrm>
            <a:off x="965200" y="2032000"/>
            <a:ext cx="482600" cy="482600"/>
          </a:xfrm>
          <a:prstGeom prst="roundRect">
            <a:avLst>
              <a:gd name="adj" fmla="val 50000"/>
            </a:avLst>
          </a:prstGeom>
          <a:solidFill>
            <a:srgbClr val="1C3359"/>
          </a:solidFill>
          <a:ln>
            <a:noFill/>
          </a:ln>
          <a:effectLst/>
        </p:spPr>
        <p:txBody>
          <a:bodyPr/>
          <a:lstStyle/>
          <a:p>
            <a:endParaRPr lang="fr-FR"/>
          </a:p>
        </p:txBody>
      </p:sp>
      <p:sp>
        <p:nvSpPr>
          <p:cNvPr id="12" name="forme"/>
          <p:cNvSpPr/>
          <p:nvPr/>
        </p:nvSpPr>
        <p:spPr>
          <a:xfrm>
            <a:off x="1096081" y="2213072"/>
            <a:ext cx="220838" cy="165628"/>
          </a:xfrm>
          <a:prstGeom prst="rect">
            <a:avLst/>
          </a:prstGeom>
          <a:solidFill>
            <a:srgbClr val="FFFFFF"/>
          </a:solidFill>
          <a:ln>
            <a:noFill/>
          </a:ln>
          <a:effectLst/>
        </p:spPr>
        <p:txBody>
          <a:bodyPr/>
          <a:lstStyle/>
          <a:p>
            <a:endParaRPr lang="fr-FR"/>
          </a:p>
        </p:txBody>
      </p:sp>
      <p:sp>
        <p:nvSpPr>
          <p:cNvPr id="13" name="forme"/>
          <p:cNvSpPr/>
          <p:nvPr/>
        </p:nvSpPr>
        <p:spPr>
          <a:xfrm>
            <a:off x="1131214" y="2248205"/>
            <a:ext cx="37643" cy="27605"/>
          </a:xfrm>
          <a:prstGeom prst="rect">
            <a:avLst/>
          </a:prstGeom>
          <a:solidFill>
            <a:srgbClr val="1C3359"/>
          </a:solidFill>
          <a:ln>
            <a:noFill/>
          </a:ln>
          <a:effectLst/>
        </p:spPr>
        <p:txBody>
          <a:bodyPr/>
          <a:lstStyle/>
          <a:p>
            <a:endParaRPr lang="fr-FR"/>
          </a:p>
        </p:txBody>
      </p:sp>
      <p:sp>
        <p:nvSpPr>
          <p:cNvPr id="14" name="forme"/>
          <p:cNvSpPr/>
          <p:nvPr/>
        </p:nvSpPr>
        <p:spPr>
          <a:xfrm>
            <a:off x="1188933" y="2248205"/>
            <a:ext cx="37643" cy="27605"/>
          </a:xfrm>
          <a:prstGeom prst="rect">
            <a:avLst/>
          </a:prstGeom>
          <a:solidFill>
            <a:srgbClr val="1C3359"/>
          </a:solidFill>
          <a:ln>
            <a:noFill/>
          </a:ln>
          <a:effectLst/>
        </p:spPr>
        <p:txBody>
          <a:bodyPr/>
          <a:lstStyle/>
          <a:p>
            <a:endParaRPr lang="fr-FR"/>
          </a:p>
        </p:txBody>
      </p:sp>
      <p:sp>
        <p:nvSpPr>
          <p:cNvPr id="15" name="forme"/>
          <p:cNvSpPr/>
          <p:nvPr/>
        </p:nvSpPr>
        <p:spPr>
          <a:xfrm>
            <a:off x="1246652" y="2248205"/>
            <a:ext cx="37643" cy="27605"/>
          </a:xfrm>
          <a:prstGeom prst="rect">
            <a:avLst/>
          </a:prstGeom>
          <a:solidFill>
            <a:srgbClr val="1C3359"/>
          </a:solidFill>
          <a:ln>
            <a:noFill/>
          </a:ln>
          <a:effectLst/>
        </p:spPr>
        <p:txBody>
          <a:bodyPr/>
          <a:lstStyle/>
          <a:p>
            <a:endParaRPr lang="fr-FR"/>
          </a:p>
        </p:txBody>
      </p:sp>
      <p:sp>
        <p:nvSpPr>
          <p:cNvPr id="16" name="forme"/>
          <p:cNvSpPr/>
          <p:nvPr/>
        </p:nvSpPr>
        <p:spPr>
          <a:xfrm>
            <a:off x="1131214" y="2295886"/>
            <a:ext cx="37643" cy="27605"/>
          </a:xfrm>
          <a:prstGeom prst="rect">
            <a:avLst/>
          </a:prstGeom>
          <a:solidFill>
            <a:srgbClr val="1C3359"/>
          </a:solidFill>
          <a:ln>
            <a:noFill/>
          </a:ln>
          <a:effectLst/>
        </p:spPr>
        <p:txBody>
          <a:bodyPr/>
          <a:lstStyle/>
          <a:p>
            <a:endParaRPr lang="fr-FR"/>
          </a:p>
        </p:txBody>
      </p:sp>
      <p:sp>
        <p:nvSpPr>
          <p:cNvPr id="17" name="forme"/>
          <p:cNvSpPr/>
          <p:nvPr/>
        </p:nvSpPr>
        <p:spPr>
          <a:xfrm>
            <a:off x="1188933" y="2295886"/>
            <a:ext cx="37643" cy="27605"/>
          </a:xfrm>
          <a:prstGeom prst="rect">
            <a:avLst/>
          </a:prstGeom>
          <a:solidFill>
            <a:srgbClr val="1C3359"/>
          </a:solidFill>
          <a:ln>
            <a:noFill/>
          </a:ln>
          <a:effectLst/>
        </p:spPr>
        <p:txBody>
          <a:bodyPr/>
          <a:lstStyle/>
          <a:p>
            <a:endParaRPr lang="fr-FR"/>
          </a:p>
        </p:txBody>
      </p:sp>
      <p:sp>
        <p:nvSpPr>
          <p:cNvPr id="18" name="forme"/>
          <p:cNvSpPr/>
          <p:nvPr/>
        </p:nvSpPr>
        <p:spPr>
          <a:xfrm>
            <a:off x="1246652" y="2295886"/>
            <a:ext cx="37643" cy="27605"/>
          </a:xfrm>
          <a:prstGeom prst="rect">
            <a:avLst/>
          </a:prstGeom>
          <a:solidFill>
            <a:srgbClr val="1C3359"/>
          </a:solidFill>
          <a:ln>
            <a:noFill/>
          </a:ln>
          <a:effectLst/>
        </p:spPr>
        <p:txBody>
          <a:bodyPr/>
          <a:lstStyle/>
          <a:p>
            <a:endParaRPr lang="fr-FR"/>
          </a:p>
        </p:txBody>
      </p:sp>
      <p:sp>
        <p:nvSpPr>
          <p:cNvPr id="19" name="forme"/>
          <p:cNvSpPr/>
          <p:nvPr/>
        </p:nvSpPr>
        <p:spPr>
          <a:xfrm>
            <a:off x="1181405" y="2343567"/>
            <a:ext cx="50190" cy="35133"/>
          </a:xfrm>
          <a:prstGeom prst="rect">
            <a:avLst/>
          </a:prstGeom>
          <a:solidFill>
            <a:srgbClr val="1C3359"/>
          </a:solidFill>
          <a:ln>
            <a:noFill/>
          </a:ln>
          <a:effectLst/>
        </p:spPr>
        <p:txBody>
          <a:bodyPr/>
          <a:lstStyle/>
          <a:p>
            <a:endParaRPr lang="fr-FR"/>
          </a:p>
        </p:txBody>
      </p:sp>
      <p:sp>
        <p:nvSpPr>
          <p:cNvPr id="20" name="forme"/>
          <p:cNvSpPr/>
          <p:nvPr/>
        </p:nvSpPr>
        <p:spPr>
          <a:xfrm>
            <a:off x="965200" y="26416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8 directions concernées</a:t>
            </a:r>
            <a:endParaRPr lang="fr-FR" sz="100"/>
          </a:p>
        </p:txBody>
      </p:sp>
      <p:sp>
        <p:nvSpPr>
          <p:cNvPr id="21" name="forme"/>
          <p:cNvSpPr/>
          <p:nvPr/>
        </p:nvSpPr>
        <p:spPr>
          <a:xfrm>
            <a:off x="965200" y="3098800"/>
            <a:ext cx="1993900" cy="9906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Veille générale, Direction Juridique, DAF, DRH, Patrimoine Immobilier, DQHSE, Commerciale &amp; Marketing, DILS.</a:t>
            </a:r>
            <a:endParaRPr lang="fr-FR" sz="100"/>
          </a:p>
        </p:txBody>
      </p:sp>
      <p:sp>
        <p:nvSpPr>
          <p:cNvPr id="22" name="forme"/>
          <p:cNvSpPr/>
          <p:nvPr/>
        </p:nvSpPr>
        <p:spPr>
          <a:xfrm>
            <a:off x="3467100" y="1778000"/>
            <a:ext cx="2501900" cy="2489200"/>
          </a:xfrm>
          <a:prstGeom prst="roundRect">
            <a:avLst>
              <a:gd name="adj" fmla="val 12245"/>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23" name="forme"/>
          <p:cNvSpPr/>
          <p:nvPr/>
        </p:nvSpPr>
        <p:spPr>
          <a:xfrm>
            <a:off x="3467100" y="1778000"/>
            <a:ext cx="50800" cy="2489200"/>
          </a:xfrm>
          <a:prstGeom prst="roundRect">
            <a:avLst>
              <a:gd name="adj" fmla="val 50000"/>
            </a:avLst>
          </a:prstGeom>
          <a:solidFill>
            <a:srgbClr val="B6AD6E"/>
          </a:solidFill>
          <a:ln>
            <a:noFill/>
          </a:ln>
          <a:effectLst/>
        </p:spPr>
        <p:txBody>
          <a:bodyPr/>
          <a:lstStyle/>
          <a:p>
            <a:endParaRPr lang="fr-FR"/>
          </a:p>
        </p:txBody>
      </p:sp>
      <p:sp>
        <p:nvSpPr>
          <p:cNvPr id="24" name="forme"/>
          <p:cNvSpPr/>
          <p:nvPr/>
        </p:nvSpPr>
        <p:spPr>
          <a:xfrm>
            <a:off x="3721100" y="2032000"/>
            <a:ext cx="482600" cy="482600"/>
          </a:xfrm>
          <a:prstGeom prst="roundRect">
            <a:avLst>
              <a:gd name="adj" fmla="val 50000"/>
            </a:avLst>
          </a:prstGeom>
          <a:solidFill>
            <a:srgbClr val="1C3359"/>
          </a:solidFill>
          <a:ln>
            <a:noFill/>
          </a:ln>
          <a:effectLst/>
        </p:spPr>
        <p:txBody>
          <a:bodyPr/>
          <a:lstStyle/>
          <a:p>
            <a:endParaRPr lang="fr-FR"/>
          </a:p>
        </p:txBody>
      </p:sp>
      <p:sp>
        <p:nvSpPr>
          <p:cNvPr id="25" name="forme"/>
          <p:cNvSpPr/>
          <p:nvPr/>
        </p:nvSpPr>
        <p:spPr>
          <a:xfrm>
            <a:off x="3857000" y="2172919"/>
            <a:ext cx="210800" cy="200762"/>
          </a:xfrm>
          <a:prstGeom prst="roundRect">
            <a:avLst>
              <a:gd name="adj" fmla="val 50000"/>
            </a:avLst>
          </a:prstGeom>
          <a:solidFill>
            <a:srgbClr val="FFFFFF"/>
          </a:solidFill>
          <a:ln>
            <a:noFill/>
          </a:ln>
          <a:effectLst/>
        </p:spPr>
        <p:txBody>
          <a:bodyPr/>
          <a:lstStyle/>
          <a:p>
            <a:endParaRPr lang="fr-FR"/>
          </a:p>
        </p:txBody>
      </p:sp>
      <p:sp>
        <p:nvSpPr>
          <p:cNvPr id="26" name="forme"/>
          <p:cNvSpPr/>
          <p:nvPr/>
        </p:nvSpPr>
        <p:spPr>
          <a:xfrm>
            <a:off x="3889624" y="2223110"/>
            <a:ext cx="30114" cy="20076"/>
          </a:xfrm>
          <a:prstGeom prst="rect">
            <a:avLst/>
          </a:prstGeom>
          <a:solidFill>
            <a:srgbClr val="1C3359"/>
          </a:solidFill>
          <a:ln>
            <a:noFill/>
          </a:ln>
          <a:effectLst/>
        </p:spPr>
        <p:txBody>
          <a:bodyPr/>
          <a:lstStyle/>
          <a:p>
            <a:endParaRPr lang="fr-FR"/>
          </a:p>
        </p:txBody>
      </p:sp>
      <p:sp>
        <p:nvSpPr>
          <p:cNvPr id="27" name="forme"/>
          <p:cNvSpPr/>
          <p:nvPr/>
        </p:nvSpPr>
        <p:spPr>
          <a:xfrm>
            <a:off x="3889624" y="2268281"/>
            <a:ext cx="30114" cy="20076"/>
          </a:xfrm>
          <a:prstGeom prst="rect">
            <a:avLst/>
          </a:prstGeom>
          <a:solidFill>
            <a:srgbClr val="1C3359"/>
          </a:solidFill>
          <a:ln>
            <a:noFill/>
          </a:ln>
          <a:effectLst/>
        </p:spPr>
        <p:txBody>
          <a:bodyPr/>
          <a:lstStyle/>
          <a:p>
            <a:endParaRPr lang="fr-FR"/>
          </a:p>
        </p:txBody>
      </p:sp>
      <p:sp>
        <p:nvSpPr>
          <p:cNvPr id="28" name="forme"/>
          <p:cNvSpPr/>
          <p:nvPr/>
        </p:nvSpPr>
        <p:spPr>
          <a:xfrm>
            <a:off x="3889624" y="2313452"/>
            <a:ext cx="30114" cy="20076"/>
          </a:xfrm>
          <a:prstGeom prst="rect">
            <a:avLst/>
          </a:prstGeom>
          <a:solidFill>
            <a:srgbClr val="1C3359"/>
          </a:solidFill>
          <a:ln>
            <a:noFill/>
          </a:ln>
          <a:effectLst/>
        </p:spPr>
        <p:txBody>
          <a:bodyPr/>
          <a:lstStyle/>
          <a:p>
            <a:endParaRPr lang="fr-FR"/>
          </a:p>
        </p:txBody>
      </p:sp>
      <p:sp>
        <p:nvSpPr>
          <p:cNvPr id="29" name="forme"/>
          <p:cNvSpPr/>
          <p:nvPr/>
        </p:nvSpPr>
        <p:spPr>
          <a:xfrm>
            <a:off x="3942324" y="2220600"/>
            <a:ext cx="90343" cy="22586"/>
          </a:xfrm>
          <a:prstGeom prst="rect">
            <a:avLst/>
          </a:prstGeom>
          <a:solidFill>
            <a:srgbClr val="1C3359"/>
          </a:solidFill>
          <a:ln>
            <a:noFill/>
          </a:ln>
          <a:effectLst/>
        </p:spPr>
        <p:txBody>
          <a:bodyPr/>
          <a:lstStyle/>
          <a:p>
            <a:endParaRPr lang="fr-FR"/>
          </a:p>
        </p:txBody>
      </p:sp>
      <p:sp>
        <p:nvSpPr>
          <p:cNvPr id="30" name="forme"/>
          <p:cNvSpPr/>
          <p:nvPr/>
        </p:nvSpPr>
        <p:spPr>
          <a:xfrm>
            <a:off x="3942324" y="2265771"/>
            <a:ext cx="70267" cy="22586"/>
          </a:xfrm>
          <a:prstGeom prst="rect">
            <a:avLst/>
          </a:prstGeom>
          <a:solidFill>
            <a:srgbClr val="1C3359"/>
          </a:solidFill>
          <a:ln>
            <a:noFill/>
          </a:ln>
          <a:effectLst/>
        </p:spPr>
        <p:txBody>
          <a:bodyPr/>
          <a:lstStyle/>
          <a:p>
            <a:endParaRPr lang="fr-FR"/>
          </a:p>
        </p:txBody>
      </p:sp>
      <p:sp>
        <p:nvSpPr>
          <p:cNvPr id="31" name="forme"/>
          <p:cNvSpPr/>
          <p:nvPr/>
        </p:nvSpPr>
        <p:spPr>
          <a:xfrm>
            <a:off x="3942324" y="2310943"/>
            <a:ext cx="82814" cy="22586"/>
          </a:xfrm>
          <a:prstGeom prst="rect">
            <a:avLst/>
          </a:prstGeom>
          <a:solidFill>
            <a:srgbClr val="1C3359"/>
          </a:solidFill>
          <a:ln>
            <a:noFill/>
          </a:ln>
          <a:effectLst/>
        </p:spPr>
        <p:txBody>
          <a:bodyPr/>
          <a:lstStyle/>
          <a:p>
            <a:endParaRPr lang="fr-FR"/>
          </a:p>
        </p:txBody>
      </p:sp>
      <p:sp>
        <p:nvSpPr>
          <p:cNvPr id="32" name="forme"/>
          <p:cNvSpPr/>
          <p:nvPr/>
        </p:nvSpPr>
        <p:spPr>
          <a:xfrm>
            <a:off x="3721100" y="26416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Un suivi dispersé</a:t>
            </a:r>
            <a:endParaRPr lang="fr-FR" sz="100"/>
          </a:p>
        </p:txBody>
      </p:sp>
      <p:sp>
        <p:nvSpPr>
          <p:cNvPr id="33" name="forme"/>
          <p:cNvSpPr/>
          <p:nvPr/>
        </p:nvSpPr>
        <p:spPr>
          <a:xfrm>
            <a:off x="3721100" y="3098800"/>
            <a:ext cx="1993900" cy="9906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Un fichier par direction, aucun tableau de bord commun, pas d'historique : le pilotage repose sur des échanges hors outil.</a:t>
            </a:r>
            <a:endParaRPr lang="fr-FR" sz="100"/>
          </a:p>
        </p:txBody>
      </p:sp>
      <p:sp>
        <p:nvSpPr>
          <p:cNvPr id="34" name="forme"/>
          <p:cNvSpPr/>
          <p:nvPr/>
        </p:nvSpPr>
        <p:spPr>
          <a:xfrm>
            <a:off x="6223000" y="1778000"/>
            <a:ext cx="2501900" cy="2489200"/>
          </a:xfrm>
          <a:prstGeom prst="roundRect">
            <a:avLst>
              <a:gd name="adj" fmla="val 12245"/>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35" name="forme"/>
          <p:cNvSpPr/>
          <p:nvPr/>
        </p:nvSpPr>
        <p:spPr>
          <a:xfrm>
            <a:off x="6223000" y="1778000"/>
            <a:ext cx="50800" cy="2489200"/>
          </a:xfrm>
          <a:prstGeom prst="roundRect">
            <a:avLst>
              <a:gd name="adj" fmla="val 50000"/>
            </a:avLst>
          </a:prstGeom>
          <a:solidFill>
            <a:srgbClr val="B6AD6E"/>
          </a:solidFill>
          <a:ln>
            <a:noFill/>
          </a:ln>
          <a:effectLst/>
        </p:spPr>
        <p:txBody>
          <a:bodyPr/>
          <a:lstStyle/>
          <a:p>
            <a:endParaRPr lang="fr-FR"/>
          </a:p>
        </p:txBody>
      </p:sp>
      <p:sp>
        <p:nvSpPr>
          <p:cNvPr id="36" name="forme"/>
          <p:cNvSpPr/>
          <p:nvPr/>
        </p:nvSpPr>
        <p:spPr>
          <a:xfrm>
            <a:off x="6477000" y="2032000"/>
            <a:ext cx="482600" cy="482600"/>
          </a:xfrm>
          <a:prstGeom prst="roundRect">
            <a:avLst>
              <a:gd name="adj" fmla="val 50000"/>
            </a:avLst>
          </a:prstGeom>
          <a:solidFill>
            <a:srgbClr val="1C3359"/>
          </a:solidFill>
          <a:ln>
            <a:noFill/>
          </a:ln>
          <a:effectLst/>
        </p:spPr>
        <p:txBody>
          <a:bodyPr/>
          <a:lstStyle/>
          <a:p>
            <a:endParaRPr lang="fr-FR"/>
          </a:p>
        </p:txBody>
      </p:sp>
      <p:sp>
        <p:nvSpPr>
          <p:cNvPr id="37" name="forme"/>
          <p:cNvSpPr/>
          <p:nvPr/>
        </p:nvSpPr>
        <p:spPr>
          <a:xfrm>
            <a:off x="6637995" y="2167900"/>
            <a:ext cx="160609" cy="210800"/>
          </a:xfrm>
          <a:prstGeom prst="flowChartDocument">
            <a:avLst/>
          </a:prstGeom>
          <a:solidFill>
            <a:srgbClr val="FFFFFF"/>
          </a:solidFill>
          <a:ln>
            <a:noFill/>
          </a:ln>
          <a:effectLst/>
        </p:spPr>
        <p:txBody>
          <a:bodyPr/>
          <a:lstStyle/>
          <a:p>
            <a:endParaRPr lang="fr-FR"/>
          </a:p>
        </p:txBody>
      </p:sp>
      <p:sp>
        <p:nvSpPr>
          <p:cNvPr id="38" name="forme"/>
          <p:cNvSpPr/>
          <p:nvPr/>
        </p:nvSpPr>
        <p:spPr>
          <a:xfrm>
            <a:off x="6670619" y="2228129"/>
            <a:ext cx="95362" cy="17567"/>
          </a:xfrm>
          <a:prstGeom prst="rect">
            <a:avLst/>
          </a:prstGeom>
          <a:solidFill>
            <a:srgbClr val="1C3359"/>
          </a:solidFill>
          <a:ln>
            <a:noFill/>
          </a:ln>
          <a:effectLst/>
        </p:spPr>
        <p:txBody>
          <a:bodyPr/>
          <a:lstStyle/>
          <a:p>
            <a:endParaRPr lang="fr-FR"/>
          </a:p>
        </p:txBody>
      </p:sp>
      <p:sp>
        <p:nvSpPr>
          <p:cNvPr id="39" name="forme"/>
          <p:cNvSpPr/>
          <p:nvPr/>
        </p:nvSpPr>
        <p:spPr>
          <a:xfrm>
            <a:off x="6670619" y="2268281"/>
            <a:ext cx="95362" cy="17567"/>
          </a:xfrm>
          <a:prstGeom prst="rect">
            <a:avLst/>
          </a:prstGeom>
          <a:solidFill>
            <a:srgbClr val="1C3359"/>
          </a:solidFill>
          <a:ln>
            <a:noFill/>
          </a:ln>
          <a:effectLst/>
        </p:spPr>
        <p:txBody>
          <a:bodyPr/>
          <a:lstStyle/>
          <a:p>
            <a:endParaRPr lang="fr-FR"/>
          </a:p>
        </p:txBody>
      </p:sp>
      <p:sp>
        <p:nvSpPr>
          <p:cNvPr id="40" name="forme"/>
          <p:cNvSpPr/>
          <p:nvPr/>
        </p:nvSpPr>
        <p:spPr>
          <a:xfrm>
            <a:off x="6670619" y="2308433"/>
            <a:ext cx="60228" cy="17567"/>
          </a:xfrm>
          <a:prstGeom prst="rect">
            <a:avLst/>
          </a:prstGeom>
          <a:solidFill>
            <a:srgbClr val="1C3359"/>
          </a:solidFill>
          <a:ln>
            <a:noFill/>
          </a:ln>
          <a:effectLst/>
        </p:spPr>
        <p:txBody>
          <a:bodyPr/>
          <a:lstStyle/>
          <a:p>
            <a:endParaRPr lang="fr-FR"/>
          </a:p>
        </p:txBody>
      </p:sp>
      <p:sp>
        <p:nvSpPr>
          <p:cNvPr id="41" name="forme"/>
          <p:cNvSpPr/>
          <p:nvPr/>
        </p:nvSpPr>
        <p:spPr>
          <a:xfrm>
            <a:off x="6477000" y="26416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Un dépouillement manuel</a:t>
            </a:r>
            <a:endParaRPr lang="fr-FR" sz="100"/>
          </a:p>
        </p:txBody>
      </p:sp>
      <p:sp>
        <p:nvSpPr>
          <p:cNvPr id="42" name="forme"/>
          <p:cNvSpPr/>
          <p:nvPr/>
        </p:nvSpPr>
        <p:spPr>
          <a:xfrm>
            <a:off x="6477000" y="3098800"/>
            <a:ext cx="1993900" cy="9906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Chaque numéro du Journal Officiel est lu, recopié et affecté à la main — plusieurs jours de travail, avec un risque d'oubli.</a:t>
            </a:r>
            <a:endParaRPr lang="fr-FR" sz="100"/>
          </a:p>
        </p:txBody>
      </p:sp>
      <p:sp>
        <p:nvSpPr>
          <p:cNvPr id="43" name="forme"/>
          <p:cNvSpPr/>
          <p:nvPr/>
        </p:nvSpPr>
        <p:spPr>
          <a:xfrm>
            <a:off x="8978900" y="1778000"/>
            <a:ext cx="2501900" cy="2489200"/>
          </a:xfrm>
          <a:prstGeom prst="roundRect">
            <a:avLst>
              <a:gd name="adj" fmla="val 12245"/>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44" name="forme"/>
          <p:cNvSpPr/>
          <p:nvPr/>
        </p:nvSpPr>
        <p:spPr>
          <a:xfrm>
            <a:off x="8978900" y="1778000"/>
            <a:ext cx="50800" cy="2489200"/>
          </a:xfrm>
          <a:prstGeom prst="roundRect">
            <a:avLst>
              <a:gd name="adj" fmla="val 50000"/>
            </a:avLst>
          </a:prstGeom>
          <a:solidFill>
            <a:srgbClr val="B6AD6E"/>
          </a:solidFill>
          <a:ln>
            <a:noFill/>
          </a:ln>
          <a:effectLst/>
        </p:spPr>
        <p:txBody>
          <a:bodyPr/>
          <a:lstStyle/>
          <a:p>
            <a:endParaRPr lang="fr-FR"/>
          </a:p>
        </p:txBody>
      </p:sp>
      <p:sp>
        <p:nvSpPr>
          <p:cNvPr id="45" name="forme"/>
          <p:cNvSpPr/>
          <p:nvPr/>
        </p:nvSpPr>
        <p:spPr>
          <a:xfrm>
            <a:off x="9232900" y="2032000"/>
            <a:ext cx="482600" cy="482600"/>
          </a:xfrm>
          <a:prstGeom prst="roundRect">
            <a:avLst>
              <a:gd name="adj" fmla="val 50000"/>
            </a:avLst>
          </a:prstGeom>
          <a:solidFill>
            <a:srgbClr val="1C3359"/>
          </a:solidFill>
          <a:ln>
            <a:noFill/>
          </a:ln>
          <a:effectLst/>
        </p:spPr>
        <p:txBody>
          <a:bodyPr/>
          <a:lstStyle/>
          <a:p>
            <a:endParaRPr lang="fr-FR"/>
          </a:p>
        </p:txBody>
      </p:sp>
      <p:sp>
        <p:nvSpPr>
          <p:cNvPr id="46" name="forme"/>
          <p:cNvSpPr/>
          <p:nvPr/>
        </p:nvSpPr>
        <p:spPr>
          <a:xfrm>
            <a:off x="9356253" y="2167900"/>
            <a:ext cx="235895" cy="215819"/>
          </a:xfrm>
          <a:prstGeom prst="triangle">
            <a:avLst/>
          </a:prstGeom>
          <a:solidFill>
            <a:srgbClr val="FFFFFF"/>
          </a:solidFill>
          <a:ln>
            <a:noFill/>
          </a:ln>
          <a:effectLst/>
        </p:spPr>
        <p:txBody>
          <a:bodyPr/>
          <a:lstStyle/>
          <a:p>
            <a:endParaRPr lang="fr-FR"/>
          </a:p>
        </p:txBody>
      </p:sp>
      <p:sp>
        <p:nvSpPr>
          <p:cNvPr id="47" name="forme"/>
          <p:cNvSpPr/>
          <p:nvPr/>
        </p:nvSpPr>
        <p:spPr>
          <a:xfrm>
            <a:off x="9461652" y="2248205"/>
            <a:ext cx="22586" cy="60228"/>
          </a:xfrm>
          <a:prstGeom prst="roundRect">
            <a:avLst>
              <a:gd name="adj" fmla="val 50000"/>
            </a:avLst>
          </a:prstGeom>
          <a:solidFill>
            <a:srgbClr val="1C3359"/>
          </a:solidFill>
          <a:ln>
            <a:noFill/>
          </a:ln>
          <a:effectLst/>
        </p:spPr>
        <p:txBody>
          <a:bodyPr/>
          <a:lstStyle/>
          <a:p>
            <a:endParaRPr lang="fr-FR"/>
          </a:p>
        </p:txBody>
      </p:sp>
      <p:sp>
        <p:nvSpPr>
          <p:cNvPr id="48" name="forme"/>
          <p:cNvSpPr/>
          <p:nvPr/>
        </p:nvSpPr>
        <p:spPr>
          <a:xfrm>
            <a:off x="9459143" y="2320981"/>
            <a:ext cx="27605" cy="27605"/>
          </a:xfrm>
          <a:prstGeom prst="ellipse">
            <a:avLst/>
          </a:prstGeom>
          <a:solidFill>
            <a:srgbClr val="1C3359"/>
          </a:solidFill>
          <a:ln>
            <a:noFill/>
          </a:ln>
          <a:effectLst/>
        </p:spPr>
        <p:txBody>
          <a:bodyPr/>
          <a:lstStyle/>
          <a:p>
            <a:endParaRPr lang="fr-FR"/>
          </a:p>
        </p:txBody>
      </p:sp>
      <p:sp>
        <p:nvSpPr>
          <p:cNvPr id="49" name="forme"/>
          <p:cNvSpPr/>
          <p:nvPr/>
        </p:nvSpPr>
        <p:spPr>
          <a:xfrm>
            <a:off x="9232900" y="26416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Des risques qui se paient</a:t>
            </a:r>
            <a:endParaRPr lang="fr-FR" sz="100"/>
          </a:p>
        </p:txBody>
      </p:sp>
      <p:sp>
        <p:nvSpPr>
          <p:cNvPr id="50" name="forme"/>
          <p:cNvSpPr/>
          <p:nvPr/>
        </p:nvSpPr>
        <p:spPr>
          <a:xfrm>
            <a:off x="9232900" y="3098800"/>
            <a:ext cx="1993900" cy="9906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Texte manqué, assignation floue, preuves éparpillées, actions en retard invisibles — et aucun vrai cloisonnement des accès.</a:t>
            </a:r>
            <a:endParaRPr lang="fr-FR" sz="100"/>
          </a:p>
        </p:txBody>
      </p:sp>
      <p:sp>
        <p:nvSpPr>
          <p:cNvPr id="51" name="forme"/>
          <p:cNvSpPr/>
          <p:nvPr/>
        </p:nvSpPr>
        <p:spPr>
          <a:xfrm>
            <a:off x="711200" y="4597400"/>
            <a:ext cx="10769600" cy="1422400"/>
          </a:xfrm>
          <a:prstGeom prst="roundRect">
            <a:avLst>
              <a:gd name="adj" fmla="val 21429"/>
            </a:avLst>
          </a:prstGeom>
          <a:solidFill>
            <a:srgbClr val="EEF2F8"/>
          </a:solidFill>
          <a:ln>
            <a:noFill/>
          </a:ln>
          <a:effectLst/>
        </p:spPr>
        <p:txBody>
          <a:bodyPr/>
          <a:lstStyle/>
          <a:p>
            <a:endParaRPr lang="fr-FR"/>
          </a:p>
        </p:txBody>
      </p:sp>
      <p:sp>
        <p:nvSpPr>
          <p:cNvPr id="52" name="forme"/>
          <p:cNvSpPr/>
          <p:nvPr/>
        </p:nvSpPr>
        <p:spPr>
          <a:xfrm>
            <a:off x="711200" y="4597400"/>
            <a:ext cx="57150" cy="1422400"/>
          </a:xfrm>
          <a:prstGeom prst="roundRect">
            <a:avLst>
              <a:gd name="adj" fmla="val 50000"/>
            </a:avLst>
          </a:prstGeom>
          <a:solidFill>
            <a:srgbClr val="B6AD6E"/>
          </a:solidFill>
          <a:ln>
            <a:noFill/>
          </a:ln>
          <a:effectLst/>
        </p:spPr>
        <p:txBody>
          <a:bodyPr/>
          <a:lstStyle/>
          <a:p>
            <a:endParaRPr lang="fr-FR"/>
          </a:p>
        </p:txBody>
      </p:sp>
      <p:sp>
        <p:nvSpPr>
          <p:cNvPr id="53" name="forme"/>
          <p:cNvSpPr/>
          <p:nvPr/>
        </p:nvSpPr>
        <p:spPr>
          <a:xfrm>
            <a:off x="965200" y="5054600"/>
            <a:ext cx="508000" cy="508000"/>
          </a:xfrm>
          <a:prstGeom prst="roundRect">
            <a:avLst>
              <a:gd name="adj" fmla="val 50000"/>
            </a:avLst>
          </a:prstGeom>
          <a:solidFill>
            <a:srgbClr val="1C3359"/>
          </a:solidFill>
          <a:ln>
            <a:noFill/>
          </a:ln>
          <a:effectLst/>
        </p:spPr>
        <p:txBody>
          <a:bodyPr/>
          <a:lstStyle/>
          <a:p>
            <a:endParaRPr lang="fr-FR"/>
          </a:p>
        </p:txBody>
      </p:sp>
      <p:sp>
        <p:nvSpPr>
          <p:cNvPr id="54" name="forme"/>
          <p:cNvSpPr/>
          <p:nvPr/>
        </p:nvSpPr>
        <p:spPr>
          <a:xfrm>
            <a:off x="1097686" y="5187086"/>
            <a:ext cx="243027" cy="243027"/>
          </a:xfrm>
          <a:prstGeom prst="circularArrow">
            <a:avLst/>
          </a:prstGeom>
          <a:solidFill>
            <a:srgbClr val="FFFFFF"/>
          </a:solidFill>
          <a:ln>
            <a:noFill/>
          </a:ln>
          <a:effectLst/>
        </p:spPr>
        <p:txBody>
          <a:bodyPr/>
          <a:lstStyle/>
          <a:p>
            <a:endParaRPr lang="fr-FR"/>
          </a:p>
        </p:txBody>
      </p:sp>
      <p:sp>
        <p:nvSpPr>
          <p:cNvPr id="55" name="forme"/>
          <p:cNvSpPr/>
          <p:nvPr/>
        </p:nvSpPr>
        <p:spPr>
          <a:xfrm>
            <a:off x="1676400" y="4826000"/>
            <a:ext cx="9499600" cy="965200"/>
          </a:xfrm>
          <a:prstGeom prst="rect">
            <a:avLst/>
          </a:prstGeom>
          <a:noFill/>
          <a:ln>
            <a:noFill/>
          </a:ln>
          <a:effectLst/>
        </p:spPr>
        <p:txBody>
          <a:bodyPr wrap="square" lIns="0" tIns="0" rIns="0" bIns="0" anchor="ctr">
            <a:noAutofit/>
          </a:bodyPr>
          <a:lstStyle/>
          <a:p>
            <a:pPr>
              <a:lnSpc>
                <a:spcPct val="120000"/>
              </a:lnSpc>
              <a:buNone/>
            </a:pPr>
            <a:r>
              <a:rPr lang="fr-FR" sz="1150" b="1" dirty="0">
                <a:solidFill>
                  <a:srgbClr val="1C3359"/>
                </a:solidFill>
                <a:latin typeface="Segoe UI"/>
                <a:cs typeface="Segoe UI"/>
              </a:rPr>
              <a:t>Notre réponse :  </a:t>
            </a:r>
            <a:r>
              <a:rPr lang="fr-FR" sz="1000" b="0" dirty="0">
                <a:solidFill>
                  <a:srgbClr val="4C5C72"/>
                </a:solidFill>
                <a:latin typeface="Segoe UI"/>
                <a:cs typeface="Segoe UI"/>
              </a:rPr>
              <a:t>un document = N actes. L'IA extrait, la centrale assigne chaque acte à la bonne direction, chaque direction traite et suit ses fiches, et chaque modification est tracée.</a:t>
            </a:r>
            <a:endParaRPr lang="fr-FR" sz="100"/>
          </a:p>
        </p:txBody>
      </p:sp>
      <p:sp>
        <p:nvSpPr>
          <p:cNvPr id="56" name="forme"/>
          <p:cNvSpPr/>
          <p:nvPr/>
        </p:nvSpPr>
        <p:spPr>
          <a:xfrm>
            <a:off x="711200" y="6400800"/>
            <a:ext cx="10769600" cy="9525"/>
          </a:xfrm>
          <a:prstGeom prst="rect">
            <a:avLst/>
          </a:prstGeom>
          <a:solidFill>
            <a:srgbClr val="DCE3EE"/>
          </a:solidFill>
          <a:ln>
            <a:noFill/>
          </a:ln>
          <a:effectLst/>
        </p:spPr>
        <p:txBody>
          <a:bodyPr/>
          <a:lstStyle/>
          <a:p>
            <a:endParaRPr lang="fr-FR"/>
          </a:p>
        </p:txBody>
      </p:sp>
      <p:sp>
        <p:nvSpPr>
          <p:cNvPr id="57" name="forme"/>
          <p:cNvSpPr/>
          <p:nvPr/>
        </p:nvSpPr>
        <p:spPr>
          <a:xfrm>
            <a:off x="711200" y="6489700"/>
            <a:ext cx="7112000" cy="152400"/>
          </a:xfrm>
          <a:prstGeom prst="rect">
            <a:avLst/>
          </a:prstGeom>
          <a:noFill/>
          <a:ln>
            <a:noFill/>
          </a:ln>
          <a:effectLst/>
        </p:spPr>
        <p:txBody>
          <a:bodyPr wrap="square" lIns="0" tIns="0" rIns="0" bIns="0" anchor="t">
            <a:noAutofit/>
          </a:bodyPr>
          <a:lstStyle/>
          <a:p>
            <a:pPr>
              <a:buNone/>
            </a:pPr>
            <a:r>
              <a:rPr lang="fr-FR" sz="850" b="1" dirty="0">
                <a:solidFill>
                  <a:srgbClr val="8494AB"/>
                </a:solidFill>
                <a:latin typeface="Segoe UI"/>
                <a:cs typeface="Segoe UI"/>
              </a:rPr>
              <a:t>AGL JuriCompliance</a:t>
            </a:r>
            <a:r>
              <a:rPr lang="fr-FR" sz="850" b="0" dirty="0">
                <a:solidFill>
                  <a:srgbClr val="8494AB"/>
                </a:solidFill>
                <a:latin typeface="Segoe UI"/>
                <a:cs typeface="Segoe UI"/>
              </a:rPr>
              <a:t>  ·  Veille réglementaire assistée par IA  ·  Prototype</a:t>
            </a:r>
            <a:endParaRPr lang="fr-FR" sz="100"/>
          </a:p>
        </p:txBody>
      </p:sp>
      <p:sp>
        <p:nvSpPr>
          <p:cNvPr id="58" name="forme"/>
          <p:cNvSpPr/>
          <p:nvPr/>
        </p:nvSpPr>
        <p:spPr>
          <a:xfrm>
            <a:off x="9448800" y="6489700"/>
            <a:ext cx="2032000" cy="152400"/>
          </a:xfrm>
          <a:prstGeom prst="rect">
            <a:avLst/>
          </a:prstGeom>
          <a:noFill/>
          <a:ln>
            <a:noFill/>
          </a:ln>
          <a:effectLst/>
        </p:spPr>
        <p:txBody>
          <a:bodyPr wrap="square" lIns="0" tIns="0" rIns="0" bIns="0" anchor="t">
            <a:noAutofit/>
          </a:bodyPr>
          <a:lstStyle/>
          <a:p>
            <a:pPr algn="r">
              <a:buNone/>
            </a:pPr>
            <a:r>
              <a:rPr lang="fr-FR" sz="850" b="1" dirty="0">
                <a:solidFill>
                  <a:srgbClr val="1C3359"/>
                </a:solidFill>
                <a:latin typeface="Segoe UI"/>
                <a:cs typeface="Segoe UI"/>
              </a:rPr>
              <a:t>2 / 6</a:t>
            </a:r>
            <a:endParaRPr lang="fr-FR" sz="100"/>
          </a:p>
        </p:txBody>
      </p:sp>
    </p:spTree>
  </p:cSld>
  <p:clrMapOvr>
    <a:masterClrMapping/>
  </p:clrMapOvr>
  <mc:AlternateContent>
    <mc:Choice Requires="p14">
      <p:transition spd="slow" p14:dur="900">
        <p:push dir="u"/>
      </p:transition>
    </mc:Choice>
    <mc:Fallback>
      <p:transition spd="slow">
        <p:push dir="u"/>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9="http://schemas.microsoft.com/office/powerpoint/2015/09/main">
  <p:cSld>
    <p:bg>
      <p:bgPr>
        <a:solidFill>
          <a:srgbClr val="FFFFFF"/>
        </a:solidFill>
        <a:effectLst/>
      </p:bgPr>
    </p:bg>
    <p:spTree>
      <p:nvGrpSpPr>
        <p:cNvPr id="1" name=""/>
        <p:cNvGrpSpPr/>
        <p:nvPr/>
      </p:nvGrpSpPr>
      <p:grpSpPr>
        <a:xfrm>
          <a:off x="0" y="0"/>
          <a:ext cx="0" cy="0"/>
          <a:chOff x="0" y="0"/>
          <a:chExt cx="0" cy="0"/>
        </a:xfrm>
      </p:grpSpPr>
      <p:sp>
        <p:nvSpPr>
          <p:cNvPr id="2" name="forme"/>
          <p:cNvSpPr/>
          <p:nvPr/>
        </p:nvSpPr>
        <p:spPr>
          <a:xfrm>
            <a:off x="0" y="0"/>
            <a:ext cx="12192000" cy="1168400"/>
          </a:xfrm>
          <a:prstGeom prst="rect">
            <a:avLst/>
          </a:prstGeom>
          <a:solidFill>
            <a:srgbClr val="1C3359"/>
          </a:solidFill>
          <a:ln>
            <a:noFill/>
          </a:ln>
          <a:effectLst/>
        </p:spPr>
        <p:txBody>
          <a:bodyPr/>
          <a:lstStyle/>
          <a:p>
            <a:endParaRPr lang="fr-FR"/>
          </a:p>
        </p:txBody>
      </p:sp>
      <p:sp>
        <p:nvSpPr>
          <p:cNvPr id="3" name="forme"/>
          <p:cNvSpPr/>
          <p:nvPr/>
        </p:nvSpPr>
        <p:spPr>
          <a:xfrm>
            <a:off x="0" y="1168400"/>
            <a:ext cx="12192000" cy="38100"/>
          </a:xfrm>
          <a:prstGeom prst="rect">
            <a:avLst/>
          </a:prstGeom>
          <a:solidFill>
            <a:srgbClr val="B6AD6E"/>
          </a:solidFill>
          <a:ln>
            <a:noFill/>
          </a:ln>
          <a:effectLst/>
        </p:spPr>
        <p:txBody>
          <a:bodyPr/>
          <a:lstStyle/>
          <a:p>
            <a:endParaRPr lang="fr-FR"/>
          </a:p>
        </p:txBody>
      </p:sp>
      <p:sp>
        <p:nvSpPr>
          <p:cNvPr id="4" name="forme"/>
          <p:cNvSpPr/>
          <p:nvPr/>
        </p:nvSpPr>
        <p:spPr>
          <a:xfrm>
            <a:off x="330200" y="342900"/>
            <a:ext cx="482600" cy="482600"/>
          </a:xfrm>
          <a:prstGeom prst="ellipse">
            <a:avLst/>
          </a:prstGeom>
          <a:noFill/>
          <a:ln w="15875" cap="flat">
            <a:solidFill>
              <a:srgbClr val="B6AD6E"/>
            </a:solidFill>
            <a:prstDash val="solid"/>
            <a:flat/>
          </a:ln>
          <a:effectLst/>
        </p:spPr>
        <p:txBody>
          <a:bodyPr/>
          <a:lstStyle/>
          <a:p>
            <a:endParaRPr lang="fr-FR"/>
          </a:p>
        </p:txBody>
      </p:sp>
      <p:sp>
        <p:nvSpPr>
          <p:cNvPr id="5" name="forme"/>
          <p:cNvSpPr/>
          <p:nvPr/>
        </p:nvSpPr>
        <p:spPr>
          <a:xfrm>
            <a:off x="330200" y="342900"/>
            <a:ext cx="482600" cy="482600"/>
          </a:xfrm>
          <a:prstGeom prst="rect">
            <a:avLst/>
          </a:prstGeom>
          <a:noFill/>
          <a:ln>
            <a:noFill/>
          </a:ln>
          <a:effectLst/>
        </p:spPr>
        <p:txBody>
          <a:bodyPr wrap="square" lIns="0" tIns="0" rIns="0" bIns="0" anchor="ctr">
            <a:noAutofit/>
          </a:bodyPr>
          <a:lstStyle/>
          <a:p>
            <a:pPr algn="ctr">
              <a:buNone/>
            </a:pPr>
            <a:r>
              <a:rPr lang="fr-FR" sz="1500" b="1" dirty="0">
                <a:solidFill>
                  <a:srgbClr val="B6AD6E"/>
                </a:solidFill>
                <a:latin typeface="Segoe UI"/>
                <a:cs typeface="Segoe UI"/>
              </a:rPr>
              <a:t>02</a:t>
            </a:r>
            <a:endParaRPr lang="fr-FR" sz="100"/>
          </a:p>
        </p:txBody>
      </p:sp>
      <p:sp>
        <p:nvSpPr>
          <p:cNvPr id="6" name="forme"/>
          <p:cNvSpPr/>
          <p:nvPr/>
        </p:nvSpPr>
        <p:spPr>
          <a:xfrm>
            <a:off x="1066800" y="228600"/>
            <a:ext cx="8128000" cy="177800"/>
          </a:xfrm>
          <a:prstGeom prst="rect">
            <a:avLst/>
          </a:prstGeom>
          <a:noFill/>
          <a:ln>
            <a:noFill/>
          </a:ln>
          <a:effectLst/>
        </p:spPr>
        <p:txBody>
          <a:bodyPr wrap="square" lIns="0" tIns="0" rIns="0" bIns="0" anchor="t">
            <a:noAutofit/>
          </a:bodyPr>
          <a:lstStyle/>
          <a:p>
            <a:pPr>
              <a:buNone/>
            </a:pPr>
            <a:r>
              <a:rPr lang="fr-FR" sz="900" b="1" cap="all" spc="140" dirty="0">
                <a:solidFill>
                  <a:srgbClr val="B6AD6E"/>
                </a:solidFill>
                <a:latin typeface="Segoe UI"/>
                <a:cs typeface="Segoe UI"/>
              </a:rPr>
              <a:t>Architecture</a:t>
            </a:r>
            <a:endParaRPr lang="fr-FR" sz="100"/>
          </a:p>
        </p:txBody>
      </p:sp>
      <p:sp>
        <p:nvSpPr>
          <p:cNvPr id="7" name="forme"/>
          <p:cNvSpPr/>
          <p:nvPr/>
        </p:nvSpPr>
        <p:spPr>
          <a:xfrm>
            <a:off x="1066800" y="457200"/>
            <a:ext cx="8890000" cy="508000"/>
          </a:xfrm>
          <a:prstGeom prst="rect">
            <a:avLst/>
          </a:prstGeom>
          <a:noFill/>
          <a:ln>
            <a:noFill/>
          </a:ln>
          <a:effectLst/>
        </p:spPr>
        <p:txBody>
          <a:bodyPr wrap="square" lIns="0" tIns="0" rIns="0" bIns="0" anchor="t">
            <a:noAutofit/>
          </a:bodyPr>
          <a:lstStyle/>
          <a:p>
            <a:pPr>
              <a:buNone/>
            </a:pPr>
            <a:r>
              <a:rPr lang="fr-FR" sz="2400" b="1" dirty="0">
                <a:solidFill>
                  <a:srgbClr val="FFFFFF"/>
                </a:solidFill>
                <a:latin typeface="Segoe UI"/>
                <a:cs typeface="Segoe UI"/>
              </a:rPr>
              <a:t>Du PDF à la preuve : 5 couches, 6 écrans</a:t>
            </a:r>
            <a:endParaRPr lang="fr-FR" sz="100"/>
          </a:p>
        </p:txBody>
      </p:sp>
      <p:pic>
        <p:nvPicPr>
          <p:cNvPr id="8" name="image"/>
          <p:cNvPicPr>
            <a:picLocks noChangeAspect="1"/>
          </p:cNvPicPr>
          <p:nvPr/>
        </p:nvPicPr>
        <p:blipFill>
          <a:blip r:embed="rId2"/>
          <a:stretch>
            <a:fillRect/>
          </a:stretch>
        </p:blipFill>
        <p:spPr>
          <a:xfrm>
            <a:off x="10629900" y="381000"/>
            <a:ext cx="850900" cy="406400"/>
          </a:xfrm>
          <a:prstGeom prst="rect">
            <a:avLst/>
          </a:prstGeom>
        </p:spPr>
      </p:pic>
      <p:sp>
        <p:nvSpPr>
          <p:cNvPr id="9" name="forme"/>
          <p:cNvSpPr/>
          <p:nvPr/>
        </p:nvSpPr>
        <p:spPr>
          <a:xfrm>
            <a:off x="711200" y="1778000"/>
            <a:ext cx="10769600" cy="635000"/>
          </a:xfrm>
          <a:prstGeom prst="roundRect">
            <a:avLst>
              <a:gd name="adj" fmla="val 40000"/>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10" name="forme"/>
          <p:cNvSpPr/>
          <p:nvPr/>
        </p:nvSpPr>
        <p:spPr>
          <a:xfrm>
            <a:off x="889000" y="1892300"/>
            <a:ext cx="406400" cy="406400"/>
          </a:xfrm>
          <a:prstGeom prst="roundRect">
            <a:avLst>
              <a:gd name="adj" fmla="val 50000"/>
            </a:avLst>
          </a:prstGeom>
          <a:solidFill>
            <a:srgbClr val="2C4A78"/>
          </a:solidFill>
          <a:ln>
            <a:noFill/>
          </a:ln>
          <a:effectLst/>
        </p:spPr>
        <p:txBody>
          <a:bodyPr/>
          <a:lstStyle/>
          <a:p>
            <a:endParaRPr lang="fr-FR"/>
          </a:p>
        </p:txBody>
      </p:sp>
      <p:sp>
        <p:nvSpPr>
          <p:cNvPr id="11" name="forme"/>
          <p:cNvSpPr/>
          <p:nvPr/>
        </p:nvSpPr>
        <p:spPr>
          <a:xfrm>
            <a:off x="1003442" y="2027875"/>
            <a:ext cx="177516" cy="135250"/>
          </a:xfrm>
          <a:prstGeom prst="roundRect">
            <a:avLst>
              <a:gd name="adj" fmla="val 50000"/>
            </a:avLst>
          </a:prstGeom>
          <a:solidFill>
            <a:srgbClr val="FFFFFF"/>
          </a:solidFill>
          <a:ln>
            <a:noFill/>
          </a:ln>
          <a:effectLst/>
        </p:spPr>
        <p:txBody>
          <a:bodyPr/>
          <a:lstStyle/>
          <a:p>
            <a:endParaRPr lang="fr-FR"/>
          </a:p>
        </p:txBody>
      </p:sp>
      <p:sp>
        <p:nvSpPr>
          <p:cNvPr id="12" name="forme"/>
          <p:cNvSpPr/>
          <p:nvPr/>
        </p:nvSpPr>
        <p:spPr>
          <a:xfrm>
            <a:off x="1003442" y="2078594"/>
            <a:ext cx="177516" cy="23246"/>
          </a:xfrm>
          <a:prstGeom prst="rect">
            <a:avLst/>
          </a:prstGeom>
          <a:solidFill>
            <a:srgbClr val="2C4A78"/>
          </a:solidFill>
          <a:ln>
            <a:noFill/>
          </a:ln>
          <a:effectLst/>
        </p:spPr>
        <p:txBody>
          <a:bodyPr/>
          <a:lstStyle/>
          <a:p>
            <a:endParaRPr lang="fr-FR"/>
          </a:p>
        </p:txBody>
      </p:sp>
      <p:sp>
        <p:nvSpPr>
          <p:cNvPr id="13" name="forme"/>
          <p:cNvSpPr/>
          <p:nvPr/>
        </p:nvSpPr>
        <p:spPr>
          <a:xfrm>
            <a:off x="1041481" y="2120859"/>
            <a:ext cx="101437" cy="16906"/>
          </a:xfrm>
          <a:prstGeom prst="rect">
            <a:avLst/>
          </a:prstGeom>
          <a:solidFill>
            <a:srgbClr val="2C4A78"/>
          </a:solidFill>
          <a:ln>
            <a:noFill/>
          </a:ln>
          <a:effectLst/>
        </p:spPr>
        <p:txBody>
          <a:bodyPr/>
          <a:lstStyle/>
          <a:p>
            <a:endParaRPr lang="fr-FR"/>
          </a:p>
        </p:txBody>
      </p:sp>
      <p:sp>
        <p:nvSpPr>
          <p:cNvPr id="14" name="forme"/>
          <p:cNvSpPr/>
          <p:nvPr/>
        </p:nvSpPr>
        <p:spPr>
          <a:xfrm>
            <a:off x="1447800" y="1879600"/>
            <a:ext cx="2133600" cy="431800"/>
          </a:xfrm>
          <a:prstGeom prst="rect">
            <a:avLst/>
          </a:prstGeom>
          <a:noFill/>
          <a:ln>
            <a:noFill/>
          </a:ln>
          <a:effectLst/>
        </p:spPr>
        <p:txBody>
          <a:bodyPr wrap="square" lIns="0" tIns="0" rIns="0" bIns="0" anchor="ctr">
            <a:noAutofit/>
          </a:bodyPr>
          <a:lstStyle/>
          <a:p>
            <a:pPr>
              <a:buNone/>
            </a:pPr>
            <a:r>
              <a:rPr lang="fr-FR" sz="1150" b="1" dirty="0">
                <a:solidFill>
                  <a:srgbClr val="1C3359"/>
                </a:solidFill>
                <a:latin typeface="Segoe UI"/>
                <a:cs typeface="Segoe UI"/>
              </a:rPr>
              <a:t>Sources</a:t>
            </a:r>
            <a:endParaRPr lang="fr-FR" sz="100"/>
          </a:p>
        </p:txBody>
      </p:sp>
      <p:sp>
        <p:nvSpPr>
          <p:cNvPr id="15" name="forme"/>
          <p:cNvSpPr/>
          <p:nvPr/>
        </p:nvSpPr>
        <p:spPr>
          <a:xfrm>
            <a:off x="3657600" y="1879600"/>
            <a:ext cx="5892800" cy="431800"/>
          </a:xfrm>
          <a:prstGeom prst="rect">
            <a:avLst/>
          </a:prstGeom>
          <a:noFill/>
          <a:ln>
            <a:noFill/>
          </a:ln>
          <a:effectLst/>
        </p:spPr>
        <p:txBody>
          <a:bodyPr wrap="square" lIns="0" tIns="0" rIns="0" bIns="0" anchor="ctr">
            <a:noAutofit/>
          </a:bodyPr>
          <a:lstStyle/>
          <a:p>
            <a:pPr>
              <a:lnSpc>
                <a:spcPct val="125000"/>
              </a:lnSpc>
              <a:buNone/>
            </a:pPr>
            <a:r>
              <a:rPr lang="fr-FR" sz="950" b="0" dirty="0">
                <a:solidFill>
                  <a:srgbClr val="4C5C72"/>
                </a:solidFill>
                <a:latin typeface="Segoe UI"/>
                <a:cs typeface="Segoe UI"/>
              </a:rPr>
              <a:t>Un ou plusieurs PDF / images déposés d'un coup ; analysés l'un après l'autre, chaque résultat conservé.</a:t>
            </a:r>
            <a:endParaRPr lang="fr-FR" sz="100"/>
          </a:p>
        </p:txBody>
      </p:sp>
      <p:sp>
        <p:nvSpPr>
          <p:cNvPr id="16" name="forme"/>
          <p:cNvSpPr/>
          <p:nvPr/>
        </p:nvSpPr>
        <p:spPr>
          <a:xfrm>
            <a:off x="9753600" y="1955800"/>
            <a:ext cx="1549400" cy="279400"/>
          </a:xfrm>
          <a:prstGeom prst="roundRect">
            <a:avLst>
              <a:gd name="adj" fmla="val 50000"/>
            </a:avLst>
          </a:prstGeom>
          <a:solidFill>
            <a:srgbClr val="F5F2E6"/>
          </a:solidFill>
          <a:ln>
            <a:noFill/>
          </a:ln>
          <a:effectLst/>
        </p:spPr>
        <p:txBody>
          <a:bodyPr/>
          <a:lstStyle/>
          <a:p>
            <a:endParaRPr lang="fr-FR"/>
          </a:p>
        </p:txBody>
      </p:sp>
      <p:sp>
        <p:nvSpPr>
          <p:cNvPr id="17" name="forme"/>
          <p:cNvSpPr/>
          <p:nvPr/>
        </p:nvSpPr>
        <p:spPr>
          <a:xfrm>
            <a:off x="9753600" y="1955800"/>
            <a:ext cx="1549400" cy="279400"/>
          </a:xfrm>
          <a:prstGeom prst="rect">
            <a:avLst/>
          </a:prstGeom>
          <a:noFill/>
          <a:ln>
            <a:noFill/>
          </a:ln>
          <a:effectLst/>
        </p:spPr>
        <p:txBody>
          <a:bodyPr wrap="square" lIns="0" tIns="0" rIns="0" bIns="0" anchor="ctr">
            <a:noAutofit/>
          </a:bodyPr>
          <a:lstStyle/>
          <a:p>
            <a:pPr algn="ctr">
              <a:buNone/>
            </a:pPr>
            <a:r>
              <a:rPr lang="fr-FR" sz="950" b="1" dirty="0">
                <a:solidFill>
                  <a:srgbClr val="9A9059"/>
                </a:solidFill>
                <a:latin typeface="Segoe UI"/>
                <a:cs typeface="Segoe UI"/>
              </a:rPr>
              <a:t>N fichiers</a:t>
            </a:r>
            <a:endParaRPr lang="fr-FR" sz="100"/>
          </a:p>
        </p:txBody>
      </p:sp>
      <p:sp>
        <p:nvSpPr>
          <p:cNvPr id="18" name="forme"/>
          <p:cNvSpPr/>
          <p:nvPr/>
        </p:nvSpPr>
        <p:spPr>
          <a:xfrm>
            <a:off x="711200" y="2514600"/>
            <a:ext cx="10769600" cy="635000"/>
          </a:xfrm>
          <a:prstGeom prst="roundRect">
            <a:avLst>
              <a:gd name="adj" fmla="val 40000"/>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19" name="forme"/>
          <p:cNvSpPr/>
          <p:nvPr/>
        </p:nvSpPr>
        <p:spPr>
          <a:xfrm>
            <a:off x="889000" y="2628900"/>
            <a:ext cx="406400" cy="406400"/>
          </a:xfrm>
          <a:prstGeom prst="roundRect">
            <a:avLst>
              <a:gd name="adj" fmla="val 50000"/>
            </a:avLst>
          </a:prstGeom>
          <a:solidFill>
            <a:srgbClr val="2C4A78"/>
          </a:solidFill>
          <a:ln>
            <a:noFill/>
          </a:ln>
          <a:effectLst/>
        </p:spPr>
        <p:txBody>
          <a:bodyPr/>
          <a:lstStyle/>
          <a:p>
            <a:endParaRPr lang="fr-FR"/>
          </a:p>
        </p:txBody>
      </p:sp>
      <p:sp>
        <p:nvSpPr>
          <p:cNvPr id="20" name="forme"/>
          <p:cNvSpPr/>
          <p:nvPr/>
        </p:nvSpPr>
        <p:spPr>
          <a:xfrm>
            <a:off x="994989" y="2734889"/>
            <a:ext cx="131023" cy="131023"/>
          </a:xfrm>
          <a:prstGeom prst="star4">
            <a:avLst/>
          </a:prstGeom>
          <a:solidFill>
            <a:srgbClr val="FFFFFF"/>
          </a:solidFill>
          <a:ln>
            <a:noFill/>
          </a:ln>
          <a:effectLst/>
        </p:spPr>
        <p:txBody>
          <a:bodyPr/>
          <a:lstStyle/>
          <a:p>
            <a:endParaRPr lang="fr-FR"/>
          </a:p>
        </p:txBody>
      </p:sp>
      <p:sp>
        <p:nvSpPr>
          <p:cNvPr id="21" name="forme"/>
          <p:cNvSpPr/>
          <p:nvPr/>
        </p:nvSpPr>
        <p:spPr>
          <a:xfrm>
            <a:off x="1104880" y="2832100"/>
            <a:ext cx="84531" cy="84531"/>
          </a:xfrm>
          <a:prstGeom prst="star4">
            <a:avLst/>
          </a:prstGeom>
          <a:solidFill>
            <a:srgbClr val="FFFFFF"/>
          </a:solidFill>
          <a:ln>
            <a:noFill/>
          </a:ln>
          <a:effectLst/>
        </p:spPr>
        <p:txBody>
          <a:bodyPr/>
          <a:lstStyle/>
          <a:p>
            <a:endParaRPr lang="fr-FR"/>
          </a:p>
        </p:txBody>
      </p:sp>
      <p:sp>
        <p:nvSpPr>
          <p:cNvPr id="22" name="forme"/>
          <p:cNvSpPr/>
          <p:nvPr/>
        </p:nvSpPr>
        <p:spPr>
          <a:xfrm>
            <a:off x="1447800" y="2616200"/>
            <a:ext cx="2133600" cy="431800"/>
          </a:xfrm>
          <a:prstGeom prst="rect">
            <a:avLst/>
          </a:prstGeom>
          <a:noFill/>
          <a:ln>
            <a:noFill/>
          </a:ln>
          <a:effectLst/>
        </p:spPr>
        <p:txBody>
          <a:bodyPr wrap="square" lIns="0" tIns="0" rIns="0" bIns="0" anchor="ctr">
            <a:noAutofit/>
          </a:bodyPr>
          <a:lstStyle/>
          <a:p>
            <a:pPr>
              <a:buNone/>
            </a:pPr>
            <a:r>
              <a:rPr lang="fr-FR" sz="1150" b="1" dirty="0">
                <a:solidFill>
                  <a:srgbClr val="1C3359"/>
                </a:solidFill>
                <a:latin typeface="Segoe UI"/>
                <a:cs typeface="Segoe UI"/>
              </a:rPr>
              <a:t>Analyse IA</a:t>
            </a:r>
            <a:endParaRPr lang="fr-FR" sz="100"/>
          </a:p>
        </p:txBody>
      </p:sp>
      <p:sp>
        <p:nvSpPr>
          <p:cNvPr id="23" name="forme"/>
          <p:cNvSpPr/>
          <p:nvPr/>
        </p:nvSpPr>
        <p:spPr>
          <a:xfrm>
            <a:off x="3657600" y="2616200"/>
            <a:ext cx="5892800" cy="431800"/>
          </a:xfrm>
          <a:prstGeom prst="rect">
            <a:avLst/>
          </a:prstGeom>
          <a:noFill/>
          <a:ln>
            <a:noFill/>
          </a:ln>
          <a:effectLst/>
        </p:spPr>
        <p:txBody>
          <a:bodyPr wrap="square" lIns="0" tIns="0" rIns="0" bIns="0" anchor="ctr">
            <a:noAutofit/>
          </a:bodyPr>
          <a:lstStyle/>
          <a:p>
            <a:pPr>
              <a:lnSpc>
                <a:spcPct val="125000"/>
              </a:lnSpc>
              <a:buNone/>
            </a:pPr>
            <a:r>
              <a:rPr lang="fr-FR" sz="950" b="0" dirty="0">
                <a:solidFill>
                  <a:srgbClr val="4C5C72"/>
                </a:solidFill>
                <a:latin typeface="Segoe UI"/>
                <a:cs typeface="Segoe UI"/>
              </a:rPr>
              <a:t>1 document = N actes, 21 champs par acte (article, libellé, entrée en vigueur, lien), pertinence transit et contrôle de fidélité.</a:t>
            </a:r>
            <a:endParaRPr lang="fr-FR" sz="100"/>
          </a:p>
        </p:txBody>
      </p:sp>
      <p:sp>
        <p:nvSpPr>
          <p:cNvPr id="24" name="forme"/>
          <p:cNvSpPr/>
          <p:nvPr/>
        </p:nvSpPr>
        <p:spPr>
          <a:xfrm>
            <a:off x="9753600" y="2692400"/>
            <a:ext cx="1549400" cy="279400"/>
          </a:xfrm>
          <a:prstGeom prst="roundRect">
            <a:avLst>
              <a:gd name="adj" fmla="val 50000"/>
            </a:avLst>
          </a:prstGeom>
          <a:solidFill>
            <a:srgbClr val="F5F2E6"/>
          </a:solidFill>
          <a:ln>
            <a:noFill/>
          </a:ln>
          <a:effectLst/>
        </p:spPr>
        <p:txBody>
          <a:bodyPr/>
          <a:lstStyle/>
          <a:p>
            <a:endParaRPr lang="fr-FR"/>
          </a:p>
        </p:txBody>
      </p:sp>
      <p:sp>
        <p:nvSpPr>
          <p:cNvPr id="25" name="forme"/>
          <p:cNvSpPr/>
          <p:nvPr/>
        </p:nvSpPr>
        <p:spPr>
          <a:xfrm>
            <a:off x="9753600" y="2692400"/>
            <a:ext cx="1549400" cy="279400"/>
          </a:xfrm>
          <a:prstGeom prst="rect">
            <a:avLst/>
          </a:prstGeom>
          <a:noFill/>
          <a:ln>
            <a:noFill/>
          </a:ln>
          <a:effectLst/>
        </p:spPr>
        <p:txBody>
          <a:bodyPr wrap="square" lIns="0" tIns="0" rIns="0" bIns="0" anchor="ctr">
            <a:noAutofit/>
          </a:bodyPr>
          <a:lstStyle/>
          <a:p>
            <a:pPr algn="ctr">
              <a:buNone/>
            </a:pPr>
            <a:r>
              <a:rPr lang="fr-FR" sz="950" b="1" dirty="0">
                <a:solidFill>
                  <a:srgbClr val="9A9059"/>
                </a:solidFill>
                <a:latin typeface="Segoe UI"/>
                <a:cs typeface="Segoe UI"/>
              </a:rPr>
              <a:t>IA</a:t>
            </a:r>
            <a:endParaRPr lang="fr-FR" sz="100"/>
          </a:p>
        </p:txBody>
      </p:sp>
      <p:sp>
        <p:nvSpPr>
          <p:cNvPr id="26" name="forme"/>
          <p:cNvSpPr/>
          <p:nvPr/>
        </p:nvSpPr>
        <p:spPr>
          <a:xfrm>
            <a:off x="711200" y="3251200"/>
            <a:ext cx="10769600" cy="635000"/>
          </a:xfrm>
          <a:prstGeom prst="roundRect">
            <a:avLst>
              <a:gd name="adj" fmla="val 40000"/>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27" name="forme"/>
          <p:cNvSpPr/>
          <p:nvPr/>
        </p:nvSpPr>
        <p:spPr>
          <a:xfrm>
            <a:off x="889000" y="3365500"/>
            <a:ext cx="406400" cy="406400"/>
          </a:xfrm>
          <a:prstGeom prst="roundRect">
            <a:avLst>
              <a:gd name="adj" fmla="val 50000"/>
            </a:avLst>
          </a:prstGeom>
          <a:solidFill>
            <a:srgbClr val="2C4A78"/>
          </a:solidFill>
          <a:ln>
            <a:noFill/>
          </a:ln>
          <a:effectLst/>
        </p:spPr>
        <p:txBody>
          <a:bodyPr/>
          <a:lstStyle/>
          <a:p>
            <a:endParaRPr lang="fr-FR"/>
          </a:p>
        </p:txBody>
      </p:sp>
      <p:sp>
        <p:nvSpPr>
          <p:cNvPr id="28" name="forme"/>
          <p:cNvSpPr/>
          <p:nvPr/>
        </p:nvSpPr>
        <p:spPr>
          <a:xfrm>
            <a:off x="990763" y="3488395"/>
            <a:ext cx="202875" cy="54945"/>
          </a:xfrm>
          <a:prstGeom prst="parallelogram">
            <a:avLst>
              <a:gd name="adj" fmla="val 22000"/>
            </a:avLst>
          </a:prstGeom>
          <a:solidFill>
            <a:srgbClr val="FFFFFF"/>
          </a:solidFill>
          <a:ln>
            <a:noFill/>
          </a:ln>
          <a:effectLst/>
        </p:spPr>
        <p:txBody>
          <a:bodyPr/>
          <a:lstStyle/>
          <a:p>
            <a:endParaRPr lang="fr-FR"/>
          </a:p>
        </p:txBody>
      </p:sp>
      <p:sp>
        <p:nvSpPr>
          <p:cNvPr id="29" name="forme"/>
          <p:cNvSpPr/>
          <p:nvPr/>
        </p:nvSpPr>
        <p:spPr>
          <a:xfrm>
            <a:off x="990763" y="3543341"/>
            <a:ext cx="202875" cy="54945"/>
          </a:xfrm>
          <a:prstGeom prst="parallelogram">
            <a:avLst>
              <a:gd name="adj" fmla="val 22000"/>
            </a:avLst>
          </a:prstGeom>
          <a:solidFill>
            <a:srgbClr val="FFFFFF"/>
          </a:solidFill>
          <a:ln>
            <a:noFill/>
          </a:ln>
          <a:effectLst/>
        </p:spPr>
        <p:txBody>
          <a:bodyPr/>
          <a:lstStyle/>
          <a:p>
            <a:endParaRPr lang="fr-FR"/>
          </a:p>
        </p:txBody>
      </p:sp>
      <p:sp>
        <p:nvSpPr>
          <p:cNvPr id="30" name="forme"/>
          <p:cNvSpPr/>
          <p:nvPr/>
        </p:nvSpPr>
        <p:spPr>
          <a:xfrm>
            <a:off x="990763" y="3598286"/>
            <a:ext cx="202875" cy="54945"/>
          </a:xfrm>
          <a:prstGeom prst="parallelogram">
            <a:avLst>
              <a:gd name="adj" fmla="val 22000"/>
            </a:avLst>
          </a:prstGeom>
          <a:solidFill>
            <a:srgbClr val="FFFFFF"/>
          </a:solidFill>
          <a:ln>
            <a:noFill/>
          </a:ln>
          <a:effectLst/>
        </p:spPr>
        <p:txBody>
          <a:bodyPr/>
          <a:lstStyle/>
          <a:p>
            <a:endParaRPr lang="fr-FR"/>
          </a:p>
        </p:txBody>
      </p:sp>
      <p:sp>
        <p:nvSpPr>
          <p:cNvPr id="31" name="forme"/>
          <p:cNvSpPr/>
          <p:nvPr/>
        </p:nvSpPr>
        <p:spPr>
          <a:xfrm>
            <a:off x="1447800" y="3352800"/>
            <a:ext cx="2133600" cy="431800"/>
          </a:xfrm>
          <a:prstGeom prst="rect">
            <a:avLst/>
          </a:prstGeom>
          <a:noFill/>
          <a:ln>
            <a:noFill/>
          </a:ln>
          <a:effectLst/>
        </p:spPr>
        <p:txBody>
          <a:bodyPr wrap="square" lIns="0" tIns="0" rIns="0" bIns="0" anchor="ctr">
            <a:noAutofit/>
          </a:bodyPr>
          <a:lstStyle/>
          <a:p>
            <a:pPr>
              <a:buNone/>
            </a:pPr>
            <a:r>
              <a:rPr lang="fr-FR" sz="1150" b="1" dirty="0">
                <a:solidFill>
                  <a:srgbClr val="1C3359"/>
                </a:solidFill>
                <a:latin typeface="Segoe UI"/>
                <a:cs typeface="Segoe UI"/>
              </a:rPr>
              <a:t>Domaine métier pur</a:t>
            </a:r>
            <a:endParaRPr lang="fr-FR" sz="100"/>
          </a:p>
        </p:txBody>
      </p:sp>
      <p:sp>
        <p:nvSpPr>
          <p:cNvPr id="32" name="forme"/>
          <p:cNvSpPr/>
          <p:nvPr/>
        </p:nvSpPr>
        <p:spPr>
          <a:xfrm>
            <a:off x="3657600" y="3352800"/>
            <a:ext cx="5892800" cy="431800"/>
          </a:xfrm>
          <a:prstGeom prst="rect">
            <a:avLst/>
          </a:prstGeom>
          <a:noFill/>
          <a:ln>
            <a:noFill/>
          </a:ln>
          <a:effectLst/>
        </p:spPr>
        <p:txBody>
          <a:bodyPr wrap="square" lIns="0" tIns="0" rIns="0" bIns="0" anchor="ctr">
            <a:noAutofit/>
          </a:bodyPr>
          <a:lstStyle/>
          <a:p>
            <a:pPr>
              <a:lnSpc>
                <a:spcPct val="125000"/>
              </a:lnSpc>
              <a:buNone/>
            </a:pPr>
            <a:r>
              <a:rPr lang="fr-FR" sz="950" b="0" dirty="0">
                <a:solidFill>
                  <a:srgbClr val="4C5C72"/>
                </a:solidFill>
                <a:latin typeface="Segoe UI"/>
                <a:cs typeface="Segoe UI"/>
              </a:rPr>
              <a:t>Types, workflow, matrice d'accès, jalons et formulaire vivent hors de Next.js et de Prisma : le noyau est portable.</a:t>
            </a:r>
            <a:endParaRPr lang="fr-FR" sz="100"/>
          </a:p>
        </p:txBody>
      </p:sp>
      <p:sp>
        <p:nvSpPr>
          <p:cNvPr id="33" name="forme"/>
          <p:cNvSpPr/>
          <p:nvPr/>
        </p:nvSpPr>
        <p:spPr>
          <a:xfrm>
            <a:off x="9753600" y="3429000"/>
            <a:ext cx="1549400" cy="279400"/>
          </a:xfrm>
          <a:prstGeom prst="roundRect">
            <a:avLst>
              <a:gd name="adj" fmla="val 50000"/>
            </a:avLst>
          </a:prstGeom>
          <a:solidFill>
            <a:srgbClr val="F5F2E6"/>
          </a:solidFill>
          <a:ln>
            <a:noFill/>
          </a:ln>
          <a:effectLst/>
        </p:spPr>
        <p:txBody>
          <a:bodyPr/>
          <a:lstStyle/>
          <a:p>
            <a:endParaRPr lang="fr-FR"/>
          </a:p>
        </p:txBody>
      </p:sp>
      <p:sp>
        <p:nvSpPr>
          <p:cNvPr id="34" name="forme"/>
          <p:cNvSpPr/>
          <p:nvPr/>
        </p:nvSpPr>
        <p:spPr>
          <a:xfrm>
            <a:off x="9753600" y="3429000"/>
            <a:ext cx="1549400" cy="279400"/>
          </a:xfrm>
          <a:prstGeom prst="rect">
            <a:avLst/>
          </a:prstGeom>
          <a:noFill/>
          <a:ln>
            <a:noFill/>
          </a:ln>
          <a:effectLst/>
        </p:spPr>
        <p:txBody>
          <a:bodyPr wrap="square" lIns="0" tIns="0" rIns="0" bIns="0" anchor="ctr">
            <a:noAutofit/>
          </a:bodyPr>
          <a:lstStyle/>
          <a:p>
            <a:pPr algn="ctr">
              <a:buNone/>
            </a:pPr>
            <a:r>
              <a:rPr lang="fr-FR" sz="950" b="1" dirty="0">
                <a:solidFill>
                  <a:srgbClr val="9A9059"/>
                </a:solidFill>
                <a:latin typeface="Segoe UI"/>
                <a:cs typeface="Segoe UI"/>
              </a:rPr>
              <a:t>5 modules</a:t>
            </a:r>
            <a:endParaRPr lang="fr-FR" sz="100"/>
          </a:p>
        </p:txBody>
      </p:sp>
      <p:sp>
        <p:nvSpPr>
          <p:cNvPr id="35" name="forme"/>
          <p:cNvSpPr/>
          <p:nvPr/>
        </p:nvSpPr>
        <p:spPr>
          <a:xfrm>
            <a:off x="711200" y="3987800"/>
            <a:ext cx="10769600" cy="635000"/>
          </a:xfrm>
          <a:prstGeom prst="roundRect">
            <a:avLst>
              <a:gd name="adj" fmla="val 40000"/>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36" name="forme"/>
          <p:cNvSpPr/>
          <p:nvPr/>
        </p:nvSpPr>
        <p:spPr>
          <a:xfrm>
            <a:off x="889000" y="4102100"/>
            <a:ext cx="406400" cy="406400"/>
          </a:xfrm>
          <a:prstGeom prst="roundRect">
            <a:avLst>
              <a:gd name="adj" fmla="val 50000"/>
            </a:avLst>
          </a:prstGeom>
          <a:solidFill>
            <a:srgbClr val="2C4A78"/>
          </a:solidFill>
          <a:ln>
            <a:noFill/>
          </a:ln>
          <a:effectLst/>
        </p:spPr>
        <p:txBody>
          <a:bodyPr/>
          <a:lstStyle/>
          <a:p>
            <a:endParaRPr lang="fr-FR"/>
          </a:p>
        </p:txBody>
      </p:sp>
      <p:sp>
        <p:nvSpPr>
          <p:cNvPr id="37" name="forme"/>
          <p:cNvSpPr/>
          <p:nvPr/>
        </p:nvSpPr>
        <p:spPr>
          <a:xfrm>
            <a:off x="1014009" y="4220769"/>
            <a:ext cx="156383" cy="169062"/>
          </a:xfrm>
          <a:prstGeom prst="can">
            <a:avLst/>
          </a:prstGeom>
          <a:solidFill>
            <a:srgbClr val="FFFFFF"/>
          </a:solidFill>
          <a:ln>
            <a:noFill/>
          </a:ln>
          <a:effectLst/>
        </p:spPr>
        <p:txBody>
          <a:bodyPr/>
          <a:lstStyle/>
          <a:p>
            <a:endParaRPr lang="fr-FR"/>
          </a:p>
        </p:txBody>
      </p:sp>
      <p:sp>
        <p:nvSpPr>
          <p:cNvPr id="38" name="forme"/>
          <p:cNvSpPr/>
          <p:nvPr/>
        </p:nvSpPr>
        <p:spPr>
          <a:xfrm>
            <a:off x="1014009" y="4286280"/>
            <a:ext cx="156383" cy="14793"/>
          </a:xfrm>
          <a:prstGeom prst="rect">
            <a:avLst/>
          </a:prstGeom>
          <a:solidFill>
            <a:srgbClr val="2C4A78"/>
          </a:solidFill>
          <a:ln>
            <a:noFill/>
          </a:ln>
          <a:effectLst/>
        </p:spPr>
        <p:txBody>
          <a:bodyPr/>
          <a:lstStyle/>
          <a:p>
            <a:endParaRPr lang="fr-FR"/>
          </a:p>
        </p:txBody>
      </p:sp>
      <p:sp>
        <p:nvSpPr>
          <p:cNvPr id="39" name="forme"/>
          <p:cNvSpPr/>
          <p:nvPr/>
        </p:nvSpPr>
        <p:spPr>
          <a:xfrm>
            <a:off x="1014009" y="4328546"/>
            <a:ext cx="156383" cy="14793"/>
          </a:xfrm>
          <a:prstGeom prst="rect">
            <a:avLst/>
          </a:prstGeom>
          <a:solidFill>
            <a:srgbClr val="2C4A78"/>
          </a:solidFill>
          <a:ln>
            <a:noFill/>
          </a:ln>
          <a:effectLst/>
        </p:spPr>
        <p:txBody>
          <a:bodyPr/>
          <a:lstStyle/>
          <a:p>
            <a:endParaRPr lang="fr-FR"/>
          </a:p>
        </p:txBody>
      </p:sp>
      <p:sp>
        <p:nvSpPr>
          <p:cNvPr id="40" name="forme"/>
          <p:cNvSpPr/>
          <p:nvPr/>
        </p:nvSpPr>
        <p:spPr>
          <a:xfrm>
            <a:off x="1447800" y="4089400"/>
            <a:ext cx="2133600" cy="431800"/>
          </a:xfrm>
          <a:prstGeom prst="rect">
            <a:avLst/>
          </a:prstGeom>
          <a:noFill/>
          <a:ln>
            <a:noFill/>
          </a:ln>
          <a:effectLst/>
        </p:spPr>
        <p:txBody>
          <a:bodyPr wrap="square" lIns="0" tIns="0" rIns="0" bIns="0" anchor="ctr">
            <a:noAutofit/>
          </a:bodyPr>
          <a:lstStyle/>
          <a:p>
            <a:pPr>
              <a:buNone/>
            </a:pPr>
            <a:r>
              <a:rPr lang="fr-FR" sz="1150" b="1" dirty="0">
                <a:solidFill>
                  <a:srgbClr val="1C3359"/>
                </a:solidFill>
                <a:latin typeface="Segoe UI"/>
                <a:cs typeface="Segoe UI"/>
              </a:rPr>
              <a:t>Persistance &amp; accès</a:t>
            </a:r>
            <a:endParaRPr lang="fr-FR" sz="100"/>
          </a:p>
        </p:txBody>
      </p:sp>
      <p:sp>
        <p:nvSpPr>
          <p:cNvPr id="41" name="forme"/>
          <p:cNvSpPr/>
          <p:nvPr/>
        </p:nvSpPr>
        <p:spPr>
          <a:xfrm>
            <a:off x="3657600" y="4089400"/>
            <a:ext cx="5892800" cy="431800"/>
          </a:xfrm>
          <a:prstGeom prst="rect">
            <a:avLst/>
          </a:prstGeom>
          <a:noFill/>
          <a:ln>
            <a:noFill/>
          </a:ln>
          <a:effectLst/>
        </p:spPr>
        <p:txBody>
          <a:bodyPr wrap="square" lIns="0" tIns="0" rIns="0" bIns="0" anchor="ctr">
            <a:noAutofit/>
          </a:bodyPr>
          <a:lstStyle/>
          <a:p>
            <a:pPr>
              <a:lnSpc>
                <a:spcPct val="125000"/>
              </a:lnSpc>
              <a:buNone/>
            </a:pPr>
            <a:r>
              <a:rPr lang="fr-FR" sz="950" b="0" dirty="0">
                <a:solidFill>
                  <a:srgbClr val="4C5C72"/>
                </a:solidFill>
                <a:latin typeface="Segoe UI"/>
                <a:cs typeface="Segoe UI"/>
              </a:rPr>
              <a:t>Prisma 6 / PostgreSQL : 7 tables, versions figées, journal — et les accès : scrypt + session signée par le serveur.</a:t>
            </a:r>
            <a:endParaRPr lang="fr-FR" sz="100"/>
          </a:p>
        </p:txBody>
      </p:sp>
      <p:sp>
        <p:nvSpPr>
          <p:cNvPr id="42" name="forme"/>
          <p:cNvSpPr/>
          <p:nvPr/>
        </p:nvSpPr>
        <p:spPr>
          <a:xfrm>
            <a:off x="9753600" y="4165600"/>
            <a:ext cx="1549400" cy="279400"/>
          </a:xfrm>
          <a:prstGeom prst="roundRect">
            <a:avLst>
              <a:gd name="adj" fmla="val 50000"/>
            </a:avLst>
          </a:prstGeom>
          <a:solidFill>
            <a:srgbClr val="F5F2E6"/>
          </a:solidFill>
          <a:ln>
            <a:noFill/>
          </a:ln>
          <a:effectLst/>
        </p:spPr>
        <p:txBody>
          <a:bodyPr/>
          <a:lstStyle/>
          <a:p>
            <a:endParaRPr lang="fr-FR"/>
          </a:p>
        </p:txBody>
      </p:sp>
      <p:sp>
        <p:nvSpPr>
          <p:cNvPr id="43" name="forme"/>
          <p:cNvSpPr/>
          <p:nvPr/>
        </p:nvSpPr>
        <p:spPr>
          <a:xfrm>
            <a:off x="9753600" y="4165600"/>
            <a:ext cx="1549400" cy="279400"/>
          </a:xfrm>
          <a:prstGeom prst="rect">
            <a:avLst/>
          </a:prstGeom>
          <a:noFill/>
          <a:ln>
            <a:noFill/>
          </a:ln>
          <a:effectLst/>
        </p:spPr>
        <p:txBody>
          <a:bodyPr wrap="square" lIns="0" tIns="0" rIns="0" bIns="0" anchor="ctr">
            <a:noAutofit/>
          </a:bodyPr>
          <a:lstStyle/>
          <a:p>
            <a:pPr algn="ctr">
              <a:buNone/>
            </a:pPr>
            <a:r>
              <a:rPr lang="fr-FR" sz="950" b="1" dirty="0">
                <a:solidFill>
                  <a:srgbClr val="9A9059"/>
                </a:solidFill>
                <a:latin typeface="Segoe UI"/>
                <a:cs typeface="Segoe UI"/>
              </a:rPr>
              <a:t>7 tables</a:t>
            </a:r>
            <a:endParaRPr lang="fr-FR" sz="100"/>
          </a:p>
        </p:txBody>
      </p:sp>
      <p:sp>
        <p:nvSpPr>
          <p:cNvPr id="44" name="forme"/>
          <p:cNvSpPr/>
          <p:nvPr/>
        </p:nvSpPr>
        <p:spPr>
          <a:xfrm>
            <a:off x="711200" y="4724400"/>
            <a:ext cx="10769600" cy="635000"/>
          </a:xfrm>
          <a:prstGeom prst="roundRect">
            <a:avLst>
              <a:gd name="adj" fmla="val 40000"/>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45" name="forme"/>
          <p:cNvSpPr/>
          <p:nvPr/>
        </p:nvSpPr>
        <p:spPr>
          <a:xfrm>
            <a:off x="889000" y="4838700"/>
            <a:ext cx="406400" cy="406400"/>
          </a:xfrm>
          <a:prstGeom prst="roundRect">
            <a:avLst>
              <a:gd name="adj" fmla="val 50000"/>
            </a:avLst>
          </a:prstGeom>
          <a:solidFill>
            <a:srgbClr val="2C4A78"/>
          </a:solidFill>
          <a:ln>
            <a:noFill/>
          </a:ln>
          <a:effectLst/>
        </p:spPr>
        <p:txBody>
          <a:bodyPr/>
          <a:lstStyle/>
          <a:p>
            <a:endParaRPr lang="fr-FR"/>
          </a:p>
        </p:txBody>
      </p:sp>
      <p:sp>
        <p:nvSpPr>
          <p:cNvPr id="46" name="forme"/>
          <p:cNvSpPr/>
          <p:nvPr/>
        </p:nvSpPr>
        <p:spPr>
          <a:xfrm>
            <a:off x="997102" y="4961595"/>
            <a:ext cx="88758" cy="76078"/>
          </a:xfrm>
          <a:prstGeom prst="roundRect">
            <a:avLst>
              <a:gd name="adj" fmla="val 50000"/>
            </a:avLst>
          </a:prstGeom>
          <a:solidFill>
            <a:srgbClr val="FFFFFF"/>
          </a:solidFill>
          <a:ln>
            <a:noFill/>
          </a:ln>
          <a:effectLst/>
        </p:spPr>
        <p:txBody>
          <a:bodyPr/>
          <a:lstStyle/>
          <a:p>
            <a:endParaRPr lang="fr-FR"/>
          </a:p>
        </p:txBody>
      </p:sp>
      <p:sp>
        <p:nvSpPr>
          <p:cNvPr id="47" name="forme"/>
          <p:cNvSpPr/>
          <p:nvPr/>
        </p:nvSpPr>
        <p:spPr>
          <a:xfrm>
            <a:off x="1098540" y="4961595"/>
            <a:ext cx="88758" cy="76078"/>
          </a:xfrm>
          <a:prstGeom prst="roundRect">
            <a:avLst>
              <a:gd name="adj" fmla="val 50000"/>
            </a:avLst>
          </a:prstGeom>
          <a:solidFill>
            <a:srgbClr val="FFFFFF"/>
          </a:solidFill>
          <a:ln>
            <a:noFill/>
          </a:ln>
          <a:effectLst/>
        </p:spPr>
        <p:txBody>
          <a:bodyPr/>
          <a:lstStyle/>
          <a:p>
            <a:endParaRPr lang="fr-FR"/>
          </a:p>
        </p:txBody>
      </p:sp>
      <p:sp>
        <p:nvSpPr>
          <p:cNvPr id="48" name="forme"/>
          <p:cNvSpPr/>
          <p:nvPr/>
        </p:nvSpPr>
        <p:spPr>
          <a:xfrm>
            <a:off x="997102" y="5050353"/>
            <a:ext cx="88758" cy="71852"/>
          </a:xfrm>
          <a:prstGeom prst="roundRect">
            <a:avLst>
              <a:gd name="adj" fmla="val 50000"/>
            </a:avLst>
          </a:prstGeom>
          <a:solidFill>
            <a:srgbClr val="FFFFFF"/>
          </a:solidFill>
          <a:ln>
            <a:noFill/>
          </a:ln>
          <a:effectLst/>
        </p:spPr>
        <p:txBody>
          <a:bodyPr/>
          <a:lstStyle/>
          <a:p>
            <a:endParaRPr lang="fr-FR"/>
          </a:p>
        </p:txBody>
      </p:sp>
      <p:sp>
        <p:nvSpPr>
          <p:cNvPr id="49" name="forme"/>
          <p:cNvSpPr/>
          <p:nvPr/>
        </p:nvSpPr>
        <p:spPr>
          <a:xfrm>
            <a:off x="1098540" y="5050353"/>
            <a:ext cx="88758" cy="71852"/>
          </a:xfrm>
          <a:prstGeom prst="roundRect">
            <a:avLst>
              <a:gd name="adj" fmla="val 50000"/>
            </a:avLst>
          </a:prstGeom>
          <a:solidFill>
            <a:srgbClr val="FFFFFF"/>
          </a:solidFill>
          <a:ln>
            <a:noFill/>
          </a:ln>
          <a:effectLst/>
        </p:spPr>
        <p:txBody>
          <a:bodyPr/>
          <a:lstStyle/>
          <a:p>
            <a:endParaRPr lang="fr-FR"/>
          </a:p>
        </p:txBody>
      </p:sp>
      <p:sp>
        <p:nvSpPr>
          <p:cNvPr id="50" name="forme"/>
          <p:cNvSpPr/>
          <p:nvPr/>
        </p:nvSpPr>
        <p:spPr>
          <a:xfrm>
            <a:off x="1447800" y="4826000"/>
            <a:ext cx="2133600" cy="431800"/>
          </a:xfrm>
          <a:prstGeom prst="rect">
            <a:avLst/>
          </a:prstGeom>
          <a:noFill/>
          <a:ln>
            <a:noFill/>
          </a:ln>
          <a:effectLst/>
        </p:spPr>
        <p:txBody>
          <a:bodyPr wrap="square" lIns="0" tIns="0" rIns="0" bIns="0" anchor="ctr">
            <a:noAutofit/>
          </a:bodyPr>
          <a:lstStyle/>
          <a:p>
            <a:pPr>
              <a:buNone/>
            </a:pPr>
            <a:r>
              <a:rPr lang="fr-FR" sz="1150" b="1" dirty="0">
                <a:solidFill>
                  <a:srgbClr val="1C3359"/>
                </a:solidFill>
                <a:latin typeface="Segoe UI"/>
                <a:cs typeface="Segoe UI"/>
              </a:rPr>
              <a:t>Écrans &amp; accès par BU</a:t>
            </a:r>
            <a:endParaRPr lang="fr-FR" sz="100"/>
          </a:p>
        </p:txBody>
      </p:sp>
      <p:sp>
        <p:nvSpPr>
          <p:cNvPr id="51" name="forme"/>
          <p:cNvSpPr/>
          <p:nvPr/>
        </p:nvSpPr>
        <p:spPr>
          <a:xfrm>
            <a:off x="3657600" y="4826000"/>
            <a:ext cx="5892800" cy="431800"/>
          </a:xfrm>
          <a:prstGeom prst="rect">
            <a:avLst/>
          </a:prstGeom>
          <a:noFill/>
          <a:ln>
            <a:noFill/>
          </a:ln>
          <a:effectLst/>
        </p:spPr>
        <p:txBody>
          <a:bodyPr wrap="square" lIns="0" tIns="0" rIns="0" bIns="0" anchor="ctr">
            <a:noAutofit/>
          </a:bodyPr>
          <a:lstStyle/>
          <a:p>
            <a:pPr>
              <a:lnSpc>
                <a:spcPct val="125000"/>
              </a:lnSpc>
              <a:buNone/>
            </a:pPr>
            <a:r>
              <a:rPr lang="fr-FR" sz="950" b="0" dirty="0">
                <a:solidFill>
                  <a:srgbClr val="4C5C72"/>
                </a:solidFill>
                <a:latin typeface="Segoe UI"/>
                <a:cs typeface="Segoe UI"/>
              </a:rPr>
              <a:t>6 écrans + 6 routes API, session obligatoire : chaque direction ne voit que ses fiches, avec son propre mot de passe.</a:t>
            </a:r>
            <a:endParaRPr lang="fr-FR" sz="100"/>
          </a:p>
        </p:txBody>
      </p:sp>
      <p:sp>
        <p:nvSpPr>
          <p:cNvPr id="52" name="forme"/>
          <p:cNvSpPr/>
          <p:nvPr/>
        </p:nvSpPr>
        <p:spPr>
          <a:xfrm>
            <a:off x="9753600" y="4902200"/>
            <a:ext cx="1549400" cy="279400"/>
          </a:xfrm>
          <a:prstGeom prst="roundRect">
            <a:avLst>
              <a:gd name="adj" fmla="val 50000"/>
            </a:avLst>
          </a:prstGeom>
          <a:solidFill>
            <a:srgbClr val="F5F2E6"/>
          </a:solidFill>
          <a:ln>
            <a:noFill/>
          </a:ln>
          <a:effectLst/>
        </p:spPr>
        <p:txBody>
          <a:bodyPr/>
          <a:lstStyle/>
          <a:p>
            <a:endParaRPr lang="fr-FR"/>
          </a:p>
        </p:txBody>
      </p:sp>
      <p:sp>
        <p:nvSpPr>
          <p:cNvPr id="53" name="forme"/>
          <p:cNvSpPr/>
          <p:nvPr/>
        </p:nvSpPr>
        <p:spPr>
          <a:xfrm>
            <a:off x="9753600" y="4902200"/>
            <a:ext cx="1549400" cy="279400"/>
          </a:xfrm>
          <a:prstGeom prst="rect">
            <a:avLst/>
          </a:prstGeom>
          <a:noFill/>
          <a:ln>
            <a:noFill/>
          </a:ln>
          <a:effectLst/>
        </p:spPr>
        <p:txBody>
          <a:bodyPr wrap="square" lIns="0" tIns="0" rIns="0" bIns="0" anchor="ctr">
            <a:noAutofit/>
          </a:bodyPr>
          <a:lstStyle/>
          <a:p>
            <a:pPr algn="ctr">
              <a:buNone/>
            </a:pPr>
            <a:r>
              <a:rPr lang="fr-FR" sz="950" b="1" dirty="0">
                <a:solidFill>
                  <a:srgbClr val="9A9059"/>
                </a:solidFill>
                <a:latin typeface="Segoe UI"/>
                <a:cs typeface="Segoe UI"/>
              </a:rPr>
              <a:t>6 écrans</a:t>
            </a:r>
            <a:endParaRPr lang="fr-FR" sz="100"/>
          </a:p>
        </p:txBody>
      </p:sp>
      <p:sp>
        <p:nvSpPr>
          <p:cNvPr id="54" name="forme"/>
          <p:cNvSpPr/>
          <p:nvPr/>
        </p:nvSpPr>
        <p:spPr>
          <a:xfrm>
            <a:off x="711200" y="5613400"/>
            <a:ext cx="10769600" cy="635000"/>
          </a:xfrm>
          <a:prstGeom prst="roundRect">
            <a:avLst>
              <a:gd name="adj" fmla="val 40000"/>
            </a:avLst>
          </a:prstGeom>
          <a:solidFill>
            <a:srgbClr val="EEF2F8"/>
          </a:solidFill>
          <a:ln>
            <a:noFill/>
          </a:ln>
          <a:effectLst/>
        </p:spPr>
        <p:txBody>
          <a:bodyPr/>
          <a:lstStyle/>
          <a:p>
            <a:endParaRPr lang="fr-FR"/>
          </a:p>
        </p:txBody>
      </p:sp>
      <p:sp>
        <p:nvSpPr>
          <p:cNvPr id="55" name="forme"/>
          <p:cNvSpPr/>
          <p:nvPr/>
        </p:nvSpPr>
        <p:spPr>
          <a:xfrm>
            <a:off x="965200" y="5613400"/>
            <a:ext cx="1066800" cy="635000"/>
          </a:xfrm>
          <a:prstGeom prst="rect">
            <a:avLst/>
          </a:prstGeom>
          <a:noFill/>
          <a:ln>
            <a:noFill/>
          </a:ln>
          <a:effectLst/>
        </p:spPr>
        <p:txBody>
          <a:bodyPr wrap="square" lIns="0" tIns="0" rIns="0" bIns="0" anchor="ctr">
            <a:noAutofit/>
          </a:bodyPr>
          <a:lstStyle/>
          <a:p>
            <a:pPr>
              <a:buNone/>
            </a:pPr>
            <a:r>
              <a:rPr lang="fr-FR" sz="1100" b="1" dirty="0">
                <a:solidFill>
                  <a:srgbClr val="1C3359"/>
                </a:solidFill>
                <a:latin typeface="Segoe UI"/>
                <a:cs typeface="Segoe UI"/>
              </a:rPr>
              <a:t>Stack</a:t>
            </a:r>
            <a:endParaRPr lang="fr-FR" sz="100"/>
          </a:p>
        </p:txBody>
      </p:sp>
      <p:sp>
        <p:nvSpPr>
          <p:cNvPr id="56" name="forme"/>
          <p:cNvSpPr/>
          <p:nvPr/>
        </p:nvSpPr>
        <p:spPr>
          <a:xfrm>
            <a:off x="2082800" y="5791200"/>
            <a:ext cx="843280" cy="279400"/>
          </a:xfrm>
          <a:prstGeom prst="roundRect">
            <a:avLst>
              <a:gd name="adj" fmla="val 50000"/>
            </a:avLst>
          </a:prstGeom>
          <a:noFill/>
          <a:ln w="9525" cap="flat">
            <a:solidFill>
              <a:srgbClr val="C9D5E6"/>
            </a:solidFill>
            <a:prstDash val="solid"/>
            <a:flat/>
          </a:ln>
          <a:effectLst/>
        </p:spPr>
        <p:txBody>
          <a:bodyPr/>
          <a:lstStyle/>
          <a:p>
            <a:endParaRPr lang="fr-FR"/>
          </a:p>
        </p:txBody>
      </p:sp>
      <p:sp>
        <p:nvSpPr>
          <p:cNvPr id="57" name="forme"/>
          <p:cNvSpPr/>
          <p:nvPr/>
        </p:nvSpPr>
        <p:spPr>
          <a:xfrm>
            <a:off x="2082800" y="5791200"/>
            <a:ext cx="843280" cy="279400"/>
          </a:xfrm>
          <a:prstGeom prst="rect">
            <a:avLst/>
          </a:prstGeom>
          <a:noFill/>
          <a:ln>
            <a:noFill/>
          </a:ln>
          <a:effectLst/>
        </p:spPr>
        <p:txBody>
          <a:bodyPr wrap="square" lIns="0" tIns="0" rIns="0" bIns="0" anchor="ctr">
            <a:noAutofit/>
          </a:bodyPr>
          <a:lstStyle/>
          <a:p>
            <a:pPr algn="ctr">
              <a:buNone/>
            </a:pPr>
            <a:r>
              <a:rPr lang="fr-FR" sz="900" b="0" dirty="0">
                <a:solidFill>
                  <a:srgbClr val="4C5C72"/>
                </a:solidFill>
                <a:latin typeface="Segoe UI"/>
                <a:cs typeface="Segoe UI"/>
              </a:rPr>
              <a:t>Next.js 16</a:t>
            </a:r>
            <a:endParaRPr lang="fr-FR" sz="100"/>
          </a:p>
        </p:txBody>
      </p:sp>
      <p:sp>
        <p:nvSpPr>
          <p:cNvPr id="58" name="forme"/>
          <p:cNvSpPr/>
          <p:nvPr/>
        </p:nvSpPr>
        <p:spPr>
          <a:xfrm>
            <a:off x="3027680" y="5791200"/>
            <a:ext cx="715264" cy="279400"/>
          </a:xfrm>
          <a:prstGeom prst="roundRect">
            <a:avLst>
              <a:gd name="adj" fmla="val 50000"/>
            </a:avLst>
          </a:prstGeom>
          <a:noFill/>
          <a:ln w="9525" cap="flat">
            <a:solidFill>
              <a:srgbClr val="C9D5E6"/>
            </a:solidFill>
            <a:prstDash val="solid"/>
            <a:flat/>
          </a:ln>
          <a:effectLst/>
        </p:spPr>
        <p:txBody>
          <a:bodyPr/>
          <a:lstStyle/>
          <a:p>
            <a:endParaRPr lang="fr-FR"/>
          </a:p>
        </p:txBody>
      </p:sp>
      <p:sp>
        <p:nvSpPr>
          <p:cNvPr id="59" name="forme"/>
          <p:cNvSpPr/>
          <p:nvPr/>
        </p:nvSpPr>
        <p:spPr>
          <a:xfrm>
            <a:off x="3027680" y="5791200"/>
            <a:ext cx="715264" cy="279400"/>
          </a:xfrm>
          <a:prstGeom prst="rect">
            <a:avLst/>
          </a:prstGeom>
          <a:noFill/>
          <a:ln>
            <a:noFill/>
          </a:ln>
          <a:effectLst/>
        </p:spPr>
        <p:txBody>
          <a:bodyPr wrap="square" lIns="0" tIns="0" rIns="0" bIns="0" anchor="ctr">
            <a:noAutofit/>
          </a:bodyPr>
          <a:lstStyle/>
          <a:p>
            <a:pPr algn="ctr">
              <a:buNone/>
            </a:pPr>
            <a:r>
              <a:rPr lang="fr-FR" sz="900" b="0" dirty="0">
                <a:solidFill>
                  <a:srgbClr val="4C5C72"/>
                </a:solidFill>
                <a:latin typeface="Segoe UI"/>
                <a:cs typeface="Segoe UI"/>
              </a:rPr>
              <a:t>React 19</a:t>
            </a:r>
            <a:endParaRPr lang="fr-FR" sz="100"/>
          </a:p>
        </p:txBody>
      </p:sp>
      <p:sp>
        <p:nvSpPr>
          <p:cNvPr id="60" name="forme"/>
          <p:cNvSpPr/>
          <p:nvPr/>
        </p:nvSpPr>
        <p:spPr>
          <a:xfrm>
            <a:off x="3844544" y="5791200"/>
            <a:ext cx="907288" cy="279400"/>
          </a:xfrm>
          <a:prstGeom prst="roundRect">
            <a:avLst>
              <a:gd name="adj" fmla="val 50000"/>
            </a:avLst>
          </a:prstGeom>
          <a:noFill/>
          <a:ln w="9525" cap="flat">
            <a:solidFill>
              <a:srgbClr val="C9D5E6"/>
            </a:solidFill>
            <a:prstDash val="solid"/>
            <a:flat/>
          </a:ln>
          <a:effectLst/>
        </p:spPr>
        <p:txBody>
          <a:bodyPr/>
          <a:lstStyle/>
          <a:p>
            <a:endParaRPr lang="fr-FR"/>
          </a:p>
        </p:txBody>
      </p:sp>
      <p:sp>
        <p:nvSpPr>
          <p:cNvPr id="61" name="forme"/>
          <p:cNvSpPr/>
          <p:nvPr/>
        </p:nvSpPr>
        <p:spPr>
          <a:xfrm>
            <a:off x="3844544" y="5791200"/>
            <a:ext cx="907288" cy="279400"/>
          </a:xfrm>
          <a:prstGeom prst="rect">
            <a:avLst/>
          </a:prstGeom>
          <a:noFill/>
          <a:ln>
            <a:noFill/>
          </a:ln>
          <a:effectLst/>
        </p:spPr>
        <p:txBody>
          <a:bodyPr wrap="square" lIns="0" tIns="0" rIns="0" bIns="0" anchor="ctr">
            <a:noAutofit/>
          </a:bodyPr>
          <a:lstStyle/>
          <a:p>
            <a:pPr algn="ctr">
              <a:buNone/>
            </a:pPr>
            <a:r>
              <a:rPr lang="fr-FR" sz="900" b="0" dirty="0">
                <a:solidFill>
                  <a:srgbClr val="4C5C72"/>
                </a:solidFill>
                <a:latin typeface="Segoe UI"/>
                <a:cs typeface="Segoe UI"/>
              </a:rPr>
              <a:t>Tailwind v4</a:t>
            </a:r>
            <a:endParaRPr lang="fr-FR" sz="100"/>
          </a:p>
        </p:txBody>
      </p:sp>
      <p:sp>
        <p:nvSpPr>
          <p:cNvPr id="62" name="forme"/>
          <p:cNvSpPr/>
          <p:nvPr/>
        </p:nvSpPr>
        <p:spPr>
          <a:xfrm>
            <a:off x="4853432" y="5791200"/>
            <a:ext cx="1291336" cy="279400"/>
          </a:xfrm>
          <a:prstGeom prst="roundRect">
            <a:avLst>
              <a:gd name="adj" fmla="val 50000"/>
            </a:avLst>
          </a:prstGeom>
          <a:noFill/>
          <a:ln w="9525" cap="flat">
            <a:solidFill>
              <a:srgbClr val="C9D5E6"/>
            </a:solidFill>
            <a:prstDash val="solid"/>
            <a:flat/>
          </a:ln>
          <a:effectLst/>
        </p:spPr>
        <p:txBody>
          <a:bodyPr/>
          <a:lstStyle/>
          <a:p>
            <a:endParaRPr lang="fr-FR"/>
          </a:p>
        </p:txBody>
      </p:sp>
      <p:sp>
        <p:nvSpPr>
          <p:cNvPr id="63" name="forme"/>
          <p:cNvSpPr/>
          <p:nvPr/>
        </p:nvSpPr>
        <p:spPr>
          <a:xfrm>
            <a:off x="4853432" y="5791200"/>
            <a:ext cx="1291336" cy="279400"/>
          </a:xfrm>
          <a:prstGeom prst="rect">
            <a:avLst/>
          </a:prstGeom>
          <a:noFill/>
          <a:ln>
            <a:noFill/>
          </a:ln>
          <a:effectLst/>
        </p:spPr>
        <p:txBody>
          <a:bodyPr wrap="square" lIns="0" tIns="0" rIns="0" bIns="0" anchor="ctr">
            <a:noAutofit/>
          </a:bodyPr>
          <a:lstStyle/>
          <a:p>
            <a:pPr algn="ctr">
              <a:buNone/>
            </a:pPr>
            <a:r>
              <a:rPr lang="fr-FR" sz="900" b="0" dirty="0">
                <a:solidFill>
                  <a:srgbClr val="4C5C72"/>
                </a:solidFill>
                <a:latin typeface="Segoe UI"/>
                <a:cs typeface="Segoe UI"/>
              </a:rPr>
              <a:t>TypeScript strict</a:t>
            </a:r>
            <a:endParaRPr lang="fr-FR" sz="100"/>
          </a:p>
        </p:txBody>
      </p:sp>
      <p:sp>
        <p:nvSpPr>
          <p:cNvPr id="64" name="forme"/>
          <p:cNvSpPr/>
          <p:nvPr/>
        </p:nvSpPr>
        <p:spPr>
          <a:xfrm>
            <a:off x="6246368" y="5791200"/>
            <a:ext cx="587248" cy="279400"/>
          </a:xfrm>
          <a:prstGeom prst="roundRect">
            <a:avLst>
              <a:gd name="adj" fmla="val 50000"/>
            </a:avLst>
          </a:prstGeom>
          <a:noFill/>
          <a:ln w="9525" cap="flat">
            <a:solidFill>
              <a:srgbClr val="C9D5E6"/>
            </a:solidFill>
            <a:prstDash val="solid"/>
            <a:flat/>
          </a:ln>
          <a:effectLst/>
        </p:spPr>
        <p:txBody>
          <a:bodyPr/>
          <a:lstStyle/>
          <a:p>
            <a:endParaRPr lang="fr-FR"/>
          </a:p>
        </p:txBody>
      </p:sp>
      <p:sp>
        <p:nvSpPr>
          <p:cNvPr id="65" name="forme"/>
          <p:cNvSpPr/>
          <p:nvPr/>
        </p:nvSpPr>
        <p:spPr>
          <a:xfrm>
            <a:off x="6246368" y="5791200"/>
            <a:ext cx="587248" cy="279400"/>
          </a:xfrm>
          <a:prstGeom prst="rect">
            <a:avLst/>
          </a:prstGeom>
          <a:noFill/>
          <a:ln>
            <a:noFill/>
          </a:ln>
          <a:effectLst/>
        </p:spPr>
        <p:txBody>
          <a:bodyPr wrap="square" lIns="0" tIns="0" rIns="0" bIns="0" anchor="ctr">
            <a:noAutofit/>
          </a:bodyPr>
          <a:lstStyle/>
          <a:p>
            <a:pPr algn="ctr">
              <a:buNone/>
            </a:pPr>
            <a:r>
              <a:rPr lang="fr-FR" sz="900" b="0" dirty="0">
                <a:solidFill>
                  <a:srgbClr val="4C5C72"/>
                </a:solidFill>
                <a:latin typeface="Segoe UI"/>
                <a:cs typeface="Segoe UI"/>
              </a:rPr>
              <a:t>scrypt</a:t>
            </a:r>
            <a:endParaRPr lang="fr-FR" sz="100"/>
          </a:p>
        </p:txBody>
      </p:sp>
      <p:sp>
        <p:nvSpPr>
          <p:cNvPr id="66" name="forme"/>
          <p:cNvSpPr/>
          <p:nvPr/>
        </p:nvSpPr>
        <p:spPr>
          <a:xfrm>
            <a:off x="6935216" y="5791200"/>
            <a:ext cx="971296" cy="279400"/>
          </a:xfrm>
          <a:prstGeom prst="roundRect">
            <a:avLst>
              <a:gd name="adj" fmla="val 50000"/>
            </a:avLst>
          </a:prstGeom>
          <a:noFill/>
          <a:ln w="9525" cap="flat">
            <a:solidFill>
              <a:srgbClr val="C9D5E6"/>
            </a:solidFill>
            <a:prstDash val="solid"/>
            <a:flat/>
          </a:ln>
          <a:effectLst/>
        </p:spPr>
        <p:txBody>
          <a:bodyPr/>
          <a:lstStyle/>
          <a:p>
            <a:endParaRPr lang="fr-FR"/>
          </a:p>
        </p:txBody>
      </p:sp>
      <p:sp>
        <p:nvSpPr>
          <p:cNvPr id="67" name="forme"/>
          <p:cNvSpPr/>
          <p:nvPr/>
        </p:nvSpPr>
        <p:spPr>
          <a:xfrm>
            <a:off x="6935216" y="5791200"/>
            <a:ext cx="971296" cy="279400"/>
          </a:xfrm>
          <a:prstGeom prst="rect">
            <a:avLst/>
          </a:prstGeom>
          <a:noFill/>
          <a:ln>
            <a:noFill/>
          </a:ln>
          <a:effectLst/>
        </p:spPr>
        <p:txBody>
          <a:bodyPr wrap="square" lIns="0" tIns="0" rIns="0" bIns="0" anchor="ctr">
            <a:noAutofit/>
          </a:bodyPr>
          <a:lstStyle/>
          <a:p>
            <a:pPr algn="ctr">
              <a:buNone/>
            </a:pPr>
            <a:r>
              <a:rPr lang="fr-FR" sz="900" b="0" dirty="0">
                <a:solidFill>
                  <a:srgbClr val="4C5C72"/>
                </a:solidFill>
                <a:latin typeface="Segoe UI"/>
                <a:cs typeface="Segoe UI"/>
              </a:rPr>
              <a:t>session HMAC</a:t>
            </a:r>
            <a:endParaRPr lang="fr-FR" sz="100"/>
          </a:p>
        </p:txBody>
      </p:sp>
      <p:sp>
        <p:nvSpPr>
          <p:cNvPr id="68" name="forme"/>
          <p:cNvSpPr/>
          <p:nvPr/>
        </p:nvSpPr>
        <p:spPr>
          <a:xfrm>
            <a:off x="8008112" y="5791200"/>
            <a:ext cx="779272" cy="279400"/>
          </a:xfrm>
          <a:prstGeom prst="roundRect">
            <a:avLst>
              <a:gd name="adj" fmla="val 50000"/>
            </a:avLst>
          </a:prstGeom>
          <a:noFill/>
          <a:ln w="9525" cap="flat">
            <a:solidFill>
              <a:srgbClr val="C9D5E6"/>
            </a:solidFill>
            <a:prstDash val="solid"/>
            <a:flat/>
          </a:ln>
          <a:effectLst/>
        </p:spPr>
        <p:txBody>
          <a:bodyPr/>
          <a:lstStyle/>
          <a:p>
            <a:endParaRPr lang="fr-FR"/>
          </a:p>
        </p:txBody>
      </p:sp>
      <p:sp>
        <p:nvSpPr>
          <p:cNvPr id="69" name="forme"/>
          <p:cNvSpPr/>
          <p:nvPr/>
        </p:nvSpPr>
        <p:spPr>
          <a:xfrm>
            <a:off x="8008112" y="5791200"/>
            <a:ext cx="779272" cy="279400"/>
          </a:xfrm>
          <a:prstGeom prst="rect">
            <a:avLst/>
          </a:prstGeom>
          <a:noFill/>
          <a:ln>
            <a:noFill/>
          </a:ln>
          <a:effectLst/>
        </p:spPr>
        <p:txBody>
          <a:bodyPr wrap="square" lIns="0" tIns="0" rIns="0" bIns="0" anchor="ctr">
            <a:noAutofit/>
          </a:bodyPr>
          <a:lstStyle/>
          <a:p>
            <a:pPr algn="ctr">
              <a:buNone/>
            </a:pPr>
            <a:r>
              <a:rPr lang="fr-FR" sz="900" b="0" dirty="0">
                <a:solidFill>
                  <a:srgbClr val="4C5C72"/>
                </a:solidFill>
                <a:latin typeface="Segoe UI"/>
                <a:cs typeface="Segoe UI"/>
              </a:rPr>
              <a:t>IndexedDB</a:t>
            </a:r>
            <a:endParaRPr lang="fr-FR" sz="100"/>
          </a:p>
        </p:txBody>
      </p:sp>
      <p:sp>
        <p:nvSpPr>
          <p:cNvPr id="70" name="forme"/>
          <p:cNvSpPr/>
          <p:nvPr/>
        </p:nvSpPr>
        <p:spPr>
          <a:xfrm>
            <a:off x="711200" y="6400800"/>
            <a:ext cx="10769600" cy="9525"/>
          </a:xfrm>
          <a:prstGeom prst="rect">
            <a:avLst/>
          </a:prstGeom>
          <a:solidFill>
            <a:srgbClr val="DCE3EE"/>
          </a:solidFill>
          <a:ln>
            <a:noFill/>
          </a:ln>
          <a:effectLst/>
        </p:spPr>
        <p:txBody>
          <a:bodyPr/>
          <a:lstStyle/>
          <a:p>
            <a:endParaRPr lang="fr-FR"/>
          </a:p>
        </p:txBody>
      </p:sp>
      <p:sp>
        <p:nvSpPr>
          <p:cNvPr id="71" name="forme"/>
          <p:cNvSpPr/>
          <p:nvPr/>
        </p:nvSpPr>
        <p:spPr>
          <a:xfrm>
            <a:off x="711200" y="6489700"/>
            <a:ext cx="7112000" cy="152400"/>
          </a:xfrm>
          <a:prstGeom prst="rect">
            <a:avLst/>
          </a:prstGeom>
          <a:noFill/>
          <a:ln>
            <a:noFill/>
          </a:ln>
          <a:effectLst/>
        </p:spPr>
        <p:txBody>
          <a:bodyPr wrap="square" lIns="0" tIns="0" rIns="0" bIns="0" anchor="t">
            <a:noAutofit/>
          </a:bodyPr>
          <a:lstStyle/>
          <a:p>
            <a:pPr>
              <a:buNone/>
            </a:pPr>
            <a:r>
              <a:rPr lang="fr-FR" sz="850" b="1" dirty="0">
                <a:solidFill>
                  <a:srgbClr val="8494AB"/>
                </a:solidFill>
                <a:latin typeface="Segoe UI"/>
                <a:cs typeface="Segoe UI"/>
              </a:rPr>
              <a:t>AGL JuriCompliance</a:t>
            </a:r>
            <a:r>
              <a:rPr lang="fr-FR" sz="850" b="0" dirty="0">
                <a:solidFill>
                  <a:srgbClr val="8494AB"/>
                </a:solidFill>
                <a:latin typeface="Segoe UI"/>
                <a:cs typeface="Segoe UI"/>
              </a:rPr>
              <a:t>  ·  Veille réglementaire assistée par IA  ·  Prototype</a:t>
            </a:r>
            <a:endParaRPr lang="fr-FR" sz="100"/>
          </a:p>
        </p:txBody>
      </p:sp>
      <p:sp>
        <p:nvSpPr>
          <p:cNvPr id="72" name="forme"/>
          <p:cNvSpPr/>
          <p:nvPr/>
        </p:nvSpPr>
        <p:spPr>
          <a:xfrm>
            <a:off x="9448800" y="6489700"/>
            <a:ext cx="2032000" cy="152400"/>
          </a:xfrm>
          <a:prstGeom prst="rect">
            <a:avLst/>
          </a:prstGeom>
          <a:noFill/>
          <a:ln>
            <a:noFill/>
          </a:ln>
          <a:effectLst/>
        </p:spPr>
        <p:txBody>
          <a:bodyPr wrap="square" lIns="0" tIns="0" rIns="0" bIns="0" anchor="t">
            <a:noAutofit/>
          </a:bodyPr>
          <a:lstStyle/>
          <a:p>
            <a:pPr algn="r">
              <a:buNone/>
            </a:pPr>
            <a:r>
              <a:rPr lang="fr-FR" sz="850" b="1" dirty="0">
                <a:solidFill>
                  <a:srgbClr val="1C3359"/>
                </a:solidFill>
                <a:latin typeface="Segoe UI"/>
                <a:cs typeface="Segoe UI"/>
              </a:rPr>
              <a:t>3 / 6</a:t>
            </a:r>
            <a:endParaRPr lang="fr-FR" sz="100"/>
          </a:p>
        </p:txBody>
      </p:sp>
    </p:spTree>
  </p:cSld>
  <p:clrMapOvr>
    <a:masterClrMapping/>
  </p:clrMapOvr>
  <mc:AlternateContent>
    <mc:Choice Requires="p14">
      <p:transition spd="slow" p14:dur="900">
        <p:push dir="l"/>
      </p:transition>
    </mc:Choice>
    <mc:Fallback>
      <p:transition spd="slow">
        <p:push dir="l"/>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9="http://schemas.microsoft.com/office/powerpoint/2015/09/main">
  <p:cSld>
    <p:bg>
      <p:bgPr>
        <a:solidFill>
          <a:srgbClr val="FFFFFF"/>
        </a:solidFill>
        <a:effectLst/>
      </p:bgPr>
    </p:bg>
    <p:spTree>
      <p:nvGrpSpPr>
        <p:cNvPr id="1" name=""/>
        <p:cNvGrpSpPr/>
        <p:nvPr/>
      </p:nvGrpSpPr>
      <p:grpSpPr>
        <a:xfrm>
          <a:off x="0" y="0"/>
          <a:ext cx="0" cy="0"/>
          <a:chOff x="0" y="0"/>
          <a:chExt cx="0" cy="0"/>
        </a:xfrm>
      </p:grpSpPr>
      <p:sp>
        <p:nvSpPr>
          <p:cNvPr id="2" name="forme"/>
          <p:cNvSpPr/>
          <p:nvPr/>
        </p:nvSpPr>
        <p:spPr>
          <a:xfrm>
            <a:off x="0" y="0"/>
            <a:ext cx="12192000" cy="1168400"/>
          </a:xfrm>
          <a:prstGeom prst="rect">
            <a:avLst/>
          </a:prstGeom>
          <a:solidFill>
            <a:srgbClr val="1C3359"/>
          </a:solidFill>
          <a:ln>
            <a:noFill/>
          </a:ln>
          <a:effectLst/>
        </p:spPr>
        <p:txBody>
          <a:bodyPr/>
          <a:lstStyle/>
          <a:p>
            <a:endParaRPr lang="fr-FR"/>
          </a:p>
        </p:txBody>
      </p:sp>
      <p:sp>
        <p:nvSpPr>
          <p:cNvPr id="3" name="forme"/>
          <p:cNvSpPr/>
          <p:nvPr/>
        </p:nvSpPr>
        <p:spPr>
          <a:xfrm>
            <a:off x="0" y="1168400"/>
            <a:ext cx="12192000" cy="38100"/>
          </a:xfrm>
          <a:prstGeom prst="rect">
            <a:avLst/>
          </a:prstGeom>
          <a:solidFill>
            <a:srgbClr val="B6AD6E"/>
          </a:solidFill>
          <a:ln>
            <a:noFill/>
          </a:ln>
          <a:effectLst/>
        </p:spPr>
        <p:txBody>
          <a:bodyPr/>
          <a:lstStyle/>
          <a:p>
            <a:endParaRPr lang="fr-FR"/>
          </a:p>
        </p:txBody>
      </p:sp>
      <p:sp>
        <p:nvSpPr>
          <p:cNvPr id="4" name="forme"/>
          <p:cNvSpPr/>
          <p:nvPr/>
        </p:nvSpPr>
        <p:spPr>
          <a:xfrm>
            <a:off x="330200" y="342900"/>
            <a:ext cx="482600" cy="482600"/>
          </a:xfrm>
          <a:prstGeom prst="ellipse">
            <a:avLst/>
          </a:prstGeom>
          <a:noFill/>
          <a:ln w="15875" cap="flat">
            <a:solidFill>
              <a:srgbClr val="B6AD6E"/>
            </a:solidFill>
            <a:prstDash val="solid"/>
            <a:flat/>
          </a:ln>
          <a:effectLst/>
        </p:spPr>
        <p:txBody>
          <a:bodyPr/>
          <a:lstStyle/>
          <a:p>
            <a:endParaRPr lang="fr-FR"/>
          </a:p>
        </p:txBody>
      </p:sp>
      <p:sp>
        <p:nvSpPr>
          <p:cNvPr id="5" name="forme"/>
          <p:cNvSpPr/>
          <p:nvPr/>
        </p:nvSpPr>
        <p:spPr>
          <a:xfrm>
            <a:off x="330200" y="342900"/>
            <a:ext cx="482600" cy="482600"/>
          </a:xfrm>
          <a:prstGeom prst="rect">
            <a:avLst/>
          </a:prstGeom>
          <a:noFill/>
          <a:ln>
            <a:noFill/>
          </a:ln>
          <a:effectLst/>
        </p:spPr>
        <p:txBody>
          <a:bodyPr wrap="square" lIns="0" tIns="0" rIns="0" bIns="0" anchor="ctr">
            <a:noAutofit/>
          </a:bodyPr>
          <a:lstStyle/>
          <a:p>
            <a:pPr algn="ctr">
              <a:buNone/>
            </a:pPr>
            <a:r>
              <a:rPr lang="fr-FR" sz="1500" b="1" dirty="0">
                <a:solidFill>
                  <a:srgbClr val="B6AD6E"/>
                </a:solidFill>
                <a:latin typeface="Segoe UI"/>
                <a:cs typeface="Segoe UI"/>
              </a:rPr>
              <a:t>03</a:t>
            </a:r>
            <a:endParaRPr lang="fr-FR" sz="100"/>
          </a:p>
        </p:txBody>
      </p:sp>
      <p:sp>
        <p:nvSpPr>
          <p:cNvPr id="6" name="forme"/>
          <p:cNvSpPr/>
          <p:nvPr/>
        </p:nvSpPr>
        <p:spPr>
          <a:xfrm>
            <a:off x="1066800" y="228600"/>
            <a:ext cx="8128000" cy="177800"/>
          </a:xfrm>
          <a:prstGeom prst="rect">
            <a:avLst/>
          </a:prstGeom>
          <a:noFill/>
          <a:ln>
            <a:noFill/>
          </a:ln>
          <a:effectLst/>
        </p:spPr>
        <p:txBody>
          <a:bodyPr wrap="square" lIns="0" tIns="0" rIns="0" bIns="0" anchor="t">
            <a:noAutofit/>
          </a:bodyPr>
          <a:lstStyle/>
          <a:p>
            <a:pPr>
              <a:buNone/>
            </a:pPr>
            <a:r>
              <a:rPr lang="fr-FR" sz="900" b="1" cap="all" spc="140" dirty="0">
                <a:solidFill>
                  <a:srgbClr val="B6AD6E"/>
                </a:solidFill>
                <a:latin typeface="Segoe UI"/>
                <a:cs typeface="Segoe UI"/>
              </a:rPr>
              <a:t>Fonctionnement</a:t>
            </a:r>
            <a:endParaRPr lang="fr-FR" sz="100"/>
          </a:p>
        </p:txBody>
      </p:sp>
      <p:sp>
        <p:nvSpPr>
          <p:cNvPr id="7" name="forme"/>
          <p:cNvSpPr/>
          <p:nvPr/>
        </p:nvSpPr>
        <p:spPr>
          <a:xfrm>
            <a:off x="1066800" y="457200"/>
            <a:ext cx="8890000" cy="508000"/>
          </a:xfrm>
          <a:prstGeom prst="rect">
            <a:avLst/>
          </a:prstGeom>
          <a:noFill/>
          <a:ln>
            <a:noFill/>
          </a:ln>
          <a:effectLst/>
        </p:spPr>
        <p:txBody>
          <a:bodyPr wrap="square" lIns="0" tIns="0" rIns="0" bIns="0" anchor="t">
            <a:noAutofit/>
          </a:bodyPr>
          <a:lstStyle/>
          <a:p>
            <a:pPr>
              <a:buNone/>
            </a:pPr>
            <a:r>
              <a:rPr lang="fr-FR" sz="2400" b="1" dirty="0">
                <a:solidFill>
                  <a:srgbClr val="FFFFFF"/>
                </a:solidFill>
                <a:latin typeface="Segoe UI"/>
                <a:cs typeface="Segoe UI"/>
              </a:rPr>
              <a:t>La centrale pilote, chaque direction décide</a:t>
            </a:r>
            <a:endParaRPr lang="fr-FR" sz="100"/>
          </a:p>
        </p:txBody>
      </p:sp>
      <p:pic>
        <p:nvPicPr>
          <p:cNvPr id="8" name="image"/>
          <p:cNvPicPr>
            <a:picLocks noChangeAspect="1"/>
          </p:cNvPicPr>
          <p:nvPr/>
        </p:nvPicPr>
        <p:blipFill>
          <a:blip r:embed="rId2"/>
          <a:stretch>
            <a:fillRect/>
          </a:stretch>
        </p:blipFill>
        <p:spPr>
          <a:xfrm>
            <a:off x="10629900" y="381000"/>
            <a:ext cx="850900" cy="406400"/>
          </a:xfrm>
          <a:prstGeom prst="rect">
            <a:avLst/>
          </a:prstGeom>
        </p:spPr>
      </p:pic>
      <p:sp>
        <p:nvSpPr>
          <p:cNvPr id="9" name="forme"/>
          <p:cNvSpPr/>
          <p:nvPr/>
        </p:nvSpPr>
        <p:spPr>
          <a:xfrm>
            <a:off x="711200" y="1778000"/>
            <a:ext cx="2501900" cy="2540000"/>
          </a:xfrm>
          <a:prstGeom prst="roundRect">
            <a:avLst>
              <a:gd name="adj" fmla="val 12183"/>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10" name="forme"/>
          <p:cNvSpPr/>
          <p:nvPr/>
        </p:nvSpPr>
        <p:spPr>
          <a:xfrm>
            <a:off x="965200" y="2032000"/>
            <a:ext cx="508000" cy="508000"/>
          </a:xfrm>
          <a:prstGeom prst="roundRect">
            <a:avLst>
              <a:gd name="adj" fmla="val 50000"/>
            </a:avLst>
          </a:prstGeom>
          <a:solidFill>
            <a:srgbClr val="1C3359"/>
          </a:solidFill>
          <a:ln>
            <a:noFill/>
          </a:ln>
          <a:effectLst/>
        </p:spPr>
        <p:txBody>
          <a:bodyPr/>
          <a:lstStyle/>
          <a:p>
            <a:endParaRPr lang="fr-FR"/>
          </a:p>
        </p:txBody>
      </p:sp>
      <p:sp>
        <p:nvSpPr>
          <p:cNvPr id="11" name="forme"/>
          <p:cNvSpPr/>
          <p:nvPr/>
        </p:nvSpPr>
        <p:spPr>
          <a:xfrm>
            <a:off x="1092403" y="2175053"/>
            <a:ext cx="147930" cy="195478"/>
          </a:xfrm>
          <a:prstGeom prst="roundRect">
            <a:avLst>
              <a:gd name="adj" fmla="val 50000"/>
            </a:avLst>
          </a:prstGeom>
          <a:solidFill>
            <a:srgbClr val="1C3359"/>
          </a:solidFill>
          <a:ln>
            <a:noFill/>
          </a:ln>
          <a:effectLst/>
        </p:spPr>
        <p:txBody>
          <a:bodyPr/>
          <a:lstStyle/>
          <a:p>
            <a:endParaRPr lang="fr-FR"/>
          </a:p>
        </p:txBody>
      </p:sp>
      <p:sp>
        <p:nvSpPr>
          <p:cNvPr id="12" name="forme"/>
          <p:cNvSpPr/>
          <p:nvPr/>
        </p:nvSpPr>
        <p:spPr>
          <a:xfrm>
            <a:off x="1139952" y="2201469"/>
            <a:ext cx="206045" cy="200762"/>
          </a:xfrm>
          <a:prstGeom prst="roundRect">
            <a:avLst>
              <a:gd name="adj" fmla="val 50000"/>
            </a:avLst>
          </a:prstGeom>
          <a:solidFill>
            <a:srgbClr val="FFFFFF"/>
          </a:solidFill>
          <a:ln>
            <a:noFill/>
          </a:ln>
          <a:effectLst/>
        </p:spPr>
        <p:txBody>
          <a:bodyPr/>
          <a:lstStyle/>
          <a:p>
            <a:endParaRPr lang="fr-FR"/>
          </a:p>
        </p:txBody>
      </p:sp>
      <p:sp>
        <p:nvSpPr>
          <p:cNvPr id="13" name="forme"/>
          <p:cNvSpPr/>
          <p:nvPr/>
        </p:nvSpPr>
        <p:spPr>
          <a:xfrm>
            <a:off x="1171651" y="2249018"/>
            <a:ext cx="142646" cy="18491"/>
          </a:xfrm>
          <a:prstGeom prst="rect">
            <a:avLst/>
          </a:prstGeom>
          <a:solidFill>
            <a:srgbClr val="1C3359"/>
          </a:solidFill>
          <a:ln>
            <a:noFill/>
          </a:ln>
          <a:effectLst/>
        </p:spPr>
        <p:txBody>
          <a:bodyPr/>
          <a:lstStyle/>
          <a:p>
            <a:endParaRPr lang="fr-FR"/>
          </a:p>
        </p:txBody>
      </p:sp>
      <p:sp>
        <p:nvSpPr>
          <p:cNvPr id="14" name="forme"/>
          <p:cNvSpPr/>
          <p:nvPr/>
        </p:nvSpPr>
        <p:spPr>
          <a:xfrm>
            <a:off x="1171651" y="2291283"/>
            <a:ext cx="142646" cy="18491"/>
          </a:xfrm>
          <a:prstGeom prst="rect">
            <a:avLst/>
          </a:prstGeom>
          <a:solidFill>
            <a:srgbClr val="1C3359"/>
          </a:solidFill>
          <a:ln>
            <a:noFill/>
          </a:ln>
          <a:effectLst/>
        </p:spPr>
        <p:txBody>
          <a:bodyPr/>
          <a:lstStyle/>
          <a:p>
            <a:endParaRPr lang="fr-FR"/>
          </a:p>
        </p:txBody>
      </p:sp>
      <p:sp>
        <p:nvSpPr>
          <p:cNvPr id="15" name="forme"/>
          <p:cNvSpPr/>
          <p:nvPr/>
        </p:nvSpPr>
        <p:spPr>
          <a:xfrm>
            <a:off x="1171651" y="2333549"/>
            <a:ext cx="84531" cy="18491"/>
          </a:xfrm>
          <a:prstGeom prst="rect">
            <a:avLst/>
          </a:prstGeom>
          <a:solidFill>
            <a:srgbClr val="1C3359"/>
          </a:solidFill>
          <a:ln>
            <a:noFill/>
          </a:ln>
          <a:effectLst/>
        </p:spPr>
        <p:txBody>
          <a:bodyPr/>
          <a:lstStyle/>
          <a:p>
            <a:endParaRPr lang="fr-FR"/>
          </a:p>
        </p:txBody>
      </p:sp>
      <p:sp>
        <p:nvSpPr>
          <p:cNvPr id="16" name="forme"/>
          <p:cNvSpPr/>
          <p:nvPr/>
        </p:nvSpPr>
        <p:spPr>
          <a:xfrm>
            <a:off x="965200" y="27178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1 · Analyse &amp; extraction</a:t>
            </a:r>
            <a:endParaRPr lang="fr-FR" sz="100"/>
          </a:p>
        </p:txBody>
      </p:sp>
      <p:sp>
        <p:nvSpPr>
          <p:cNvPr id="17" name="forme"/>
          <p:cNvSpPr/>
          <p:nvPr/>
        </p:nvSpPr>
        <p:spPr>
          <a:xfrm>
            <a:off x="965200" y="3175000"/>
            <a:ext cx="1993900" cy="10160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L'IA découpe le document en actes, propose les directions concernées et évalue la pertinence pour l'activité AGL CI.</a:t>
            </a:r>
            <a:endParaRPr lang="fr-FR" sz="100"/>
          </a:p>
        </p:txBody>
      </p:sp>
      <p:sp>
        <p:nvSpPr>
          <p:cNvPr id="18" name="forme"/>
          <p:cNvSpPr/>
          <p:nvPr/>
        </p:nvSpPr>
        <p:spPr>
          <a:xfrm>
            <a:off x="3263900" y="2870200"/>
            <a:ext cx="152400" cy="279400"/>
          </a:xfrm>
          <a:prstGeom prst="chevron">
            <a:avLst/>
          </a:prstGeom>
          <a:solidFill>
            <a:srgbClr val="B6AD6E"/>
          </a:solidFill>
          <a:ln>
            <a:noFill/>
          </a:ln>
          <a:effectLst/>
        </p:spPr>
        <p:txBody>
          <a:bodyPr/>
          <a:lstStyle/>
          <a:p>
            <a:endParaRPr lang="fr-FR"/>
          </a:p>
        </p:txBody>
      </p:sp>
      <p:sp>
        <p:nvSpPr>
          <p:cNvPr id="19" name="forme"/>
          <p:cNvSpPr/>
          <p:nvPr/>
        </p:nvSpPr>
        <p:spPr>
          <a:xfrm>
            <a:off x="3467100" y="1778000"/>
            <a:ext cx="2501900" cy="2540000"/>
          </a:xfrm>
          <a:prstGeom prst="roundRect">
            <a:avLst>
              <a:gd name="adj" fmla="val 12183"/>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20" name="forme"/>
          <p:cNvSpPr/>
          <p:nvPr/>
        </p:nvSpPr>
        <p:spPr>
          <a:xfrm>
            <a:off x="3721100" y="2032000"/>
            <a:ext cx="508000" cy="508000"/>
          </a:xfrm>
          <a:prstGeom prst="roundRect">
            <a:avLst>
              <a:gd name="adj" fmla="val 50000"/>
            </a:avLst>
          </a:prstGeom>
          <a:solidFill>
            <a:srgbClr val="2C4A78"/>
          </a:solidFill>
          <a:ln>
            <a:noFill/>
          </a:ln>
          <a:effectLst/>
        </p:spPr>
        <p:txBody>
          <a:bodyPr/>
          <a:lstStyle/>
          <a:p>
            <a:endParaRPr lang="fr-FR"/>
          </a:p>
        </p:txBody>
      </p:sp>
      <p:sp>
        <p:nvSpPr>
          <p:cNvPr id="21" name="forme"/>
          <p:cNvSpPr/>
          <p:nvPr/>
        </p:nvSpPr>
        <p:spPr>
          <a:xfrm rot="2700000">
            <a:off x="3872078" y="2320341"/>
            <a:ext cx="81890" cy="31699"/>
          </a:xfrm>
          <a:prstGeom prst="roundRect">
            <a:avLst>
              <a:gd name="adj" fmla="val 50000"/>
            </a:avLst>
          </a:prstGeom>
          <a:solidFill>
            <a:srgbClr val="FFFFFF"/>
          </a:solidFill>
          <a:ln>
            <a:noFill/>
          </a:ln>
          <a:effectLst/>
        </p:spPr>
        <p:txBody>
          <a:bodyPr/>
          <a:lstStyle/>
          <a:p>
            <a:endParaRPr lang="fr-FR"/>
          </a:p>
        </p:txBody>
      </p:sp>
      <p:sp>
        <p:nvSpPr>
          <p:cNvPr id="22" name="forme"/>
          <p:cNvSpPr/>
          <p:nvPr/>
        </p:nvSpPr>
        <p:spPr>
          <a:xfrm rot="-2700000">
            <a:off x="3916985" y="2288642"/>
            <a:ext cx="171704" cy="31699"/>
          </a:xfrm>
          <a:prstGeom prst="roundRect">
            <a:avLst>
              <a:gd name="adj" fmla="val 50000"/>
            </a:avLst>
          </a:prstGeom>
          <a:solidFill>
            <a:srgbClr val="FFFFFF"/>
          </a:solidFill>
          <a:ln>
            <a:noFill/>
          </a:ln>
          <a:effectLst/>
        </p:spPr>
        <p:txBody>
          <a:bodyPr/>
          <a:lstStyle/>
          <a:p>
            <a:endParaRPr lang="fr-FR"/>
          </a:p>
        </p:txBody>
      </p:sp>
      <p:sp>
        <p:nvSpPr>
          <p:cNvPr id="23" name="forme"/>
          <p:cNvSpPr/>
          <p:nvPr/>
        </p:nvSpPr>
        <p:spPr>
          <a:xfrm>
            <a:off x="3721100" y="27178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2 · Validation juridique</a:t>
            </a:r>
            <a:endParaRPr lang="fr-FR" sz="100"/>
          </a:p>
        </p:txBody>
      </p:sp>
      <p:sp>
        <p:nvSpPr>
          <p:cNvPr id="24" name="forme"/>
          <p:cNvSpPr/>
          <p:nvPr/>
        </p:nvSpPr>
        <p:spPr>
          <a:xfrm>
            <a:off x="3721100" y="3175000"/>
            <a:ext cx="1993900" cy="10160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La centrale relit le texte, corrige les champs de l'alerte et valide l'envoi au métier.</a:t>
            </a:r>
            <a:endParaRPr lang="fr-FR" sz="100"/>
          </a:p>
        </p:txBody>
      </p:sp>
      <p:sp>
        <p:nvSpPr>
          <p:cNvPr id="25" name="forme"/>
          <p:cNvSpPr/>
          <p:nvPr/>
        </p:nvSpPr>
        <p:spPr>
          <a:xfrm>
            <a:off x="6019800" y="2870200"/>
            <a:ext cx="152400" cy="279400"/>
          </a:xfrm>
          <a:prstGeom prst="chevron">
            <a:avLst/>
          </a:prstGeom>
          <a:solidFill>
            <a:srgbClr val="B6AD6E"/>
          </a:solidFill>
          <a:ln>
            <a:noFill/>
          </a:ln>
          <a:effectLst/>
        </p:spPr>
        <p:txBody>
          <a:bodyPr/>
          <a:lstStyle/>
          <a:p>
            <a:endParaRPr lang="fr-FR"/>
          </a:p>
        </p:txBody>
      </p:sp>
      <p:sp>
        <p:nvSpPr>
          <p:cNvPr id="26" name="forme"/>
          <p:cNvSpPr/>
          <p:nvPr/>
        </p:nvSpPr>
        <p:spPr>
          <a:xfrm>
            <a:off x="6223000" y="1778000"/>
            <a:ext cx="2501900" cy="2540000"/>
          </a:xfrm>
          <a:prstGeom prst="roundRect">
            <a:avLst>
              <a:gd name="adj" fmla="val 12183"/>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27" name="forme"/>
          <p:cNvSpPr/>
          <p:nvPr/>
        </p:nvSpPr>
        <p:spPr>
          <a:xfrm>
            <a:off x="6477000" y="2032000"/>
            <a:ext cx="508000" cy="508000"/>
          </a:xfrm>
          <a:prstGeom prst="roundRect">
            <a:avLst>
              <a:gd name="adj" fmla="val 50000"/>
            </a:avLst>
          </a:prstGeom>
          <a:solidFill>
            <a:srgbClr val="2C4A78"/>
          </a:solidFill>
          <a:ln>
            <a:noFill/>
          </a:ln>
          <a:effectLst/>
        </p:spPr>
        <p:txBody>
          <a:bodyPr/>
          <a:lstStyle/>
          <a:p>
            <a:endParaRPr lang="fr-FR"/>
          </a:p>
        </p:txBody>
      </p:sp>
      <p:sp>
        <p:nvSpPr>
          <p:cNvPr id="28" name="forme"/>
          <p:cNvSpPr/>
          <p:nvPr/>
        </p:nvSpPr>
        <p:spPr>
          <a:xfrm>
            <a:off x="6686093" y="2175053"/>
            <a:ext cx="89814" cy="89814"/>
          </a:xfrm>
          <a:prstGeom prst="ellipse">
            <a:avLst/>
          </a:prstGeom>
          <a:solidFill>
            <a:srgbClr val="FFFFFF"/>
          </a:solidFill>
          <a:ln>
            <a:noFill/>
          </a:ln>
          <a:effectLst/>
        </p:spPr>
        <p:txBody>
          <a:bodyPr/>
          <a:lstStyle/>
          <a:p>
            <a:endParaRPr lang="fr-FR"/>
          </a:p>
        </p:txBody>
      </p:sp>
      <p:sp>
        <p:nvSpPr>
          <p:cNvPr id="29" name="forme"/>
          <p:cNvSpPr/>
          <p:nvPr/>
        </p:nvSpPr>
        <p:spPr>
          <a:xfrm>
            <a:off x="6620053" y="2280717"/>
            <a:ext cx="221894" cy="142646"/>
          </a:xfrm>
          <a:prstGeom prst="chord">
            <a:avLst>
              <a:gd name="adj1" fmla="val 10800000"/>
              <a:gd name="adj2" fmla="val 0"/>
            </a:avLst>
          </a:prstGeom>
          <a:solidFill>
            <a:srgbClr val="FFFFFF"/>
          </a:solidFill>
          <a:ln>
            <a:noFill/>
          </a:ln>
          <a:effectLst/>
        </p:spPr>
        <p:txBody>
          <a:bodyPr/>
          <a:lstStyle/>
          <a:p>
            <a:endParaRPr lang="fr-FR"/>
          </a:p>
        </p:txBody>
      </p:sp>
      <p:sp>
        <p:nvSpPr>
          <p:cNvPr id="30" name="forme"/>
          <p:cNvSpPr/>
          <p:nvPr/>
        </p:nvSpPr>
        <p:spPr>
          <a:xfrm>
            <a:off x="6477000" y="27178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3 · Approbation métier</a:t>
            </a:r>
            <a:endParaRPr lang="fr-FR" sz="100"/>
          </a:p>
        </p:txBody>
      </p:sp>
      <p:sp>
        <p:nvSpPr>
          <p:cNvPr id="31" name="forme"/>
          <p:cNvSpPr/>
          <p:nvPr/>
        </p:nvSpPr>
        <p:spPr>
          <a:xfrm>
            <a:off x="6477000" y="3175000"/>
            <a:ext cx="1993900" cy="10160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Chaque direction approuve ou rejette son assignation. Un refus motivé revient automatiquement à la centrale.</a:t>
            </a:r>
            <a:endParaRPr lang="fr-FR" sz="100"/>
          </a:p>
        </p:txBody>
      </p:sp>
      <p:sp>
        <p:nvSpPr>
          <p:cNvPr id="32" name="forme"/>
          <p:cNvSpPr/>
          <p:nvPr/>
        </p:nvSpPr>
        <p:spPr>
          <a:xfrm>
            <a:off x="8775700" y="2870200"/>
            <a:ext cx="152400" cy="279400"/>
          </a:xfrm>
          <a:prstGeom prst="chevron">
            <a:avLst/>
          </a:prstGeom>
          <a:solidFill>
            <a:srgbClr val="B6AD6E"/>
          </a:solidFill>
          <a:ln>
            <a:noFill/>
          </a:ln>
          <a:effectLst/>
        </p:spPr>
        <p:txBody>
          <a:bodyPr/>
          <a:lstStyle/>
          <a:p>
            <a:endParaRPr lang="fr-FR"/>
          </a:p>
        </p:txBody>
      </p:sp>
      <p:sp>
        <p:nvSpPr>
          <p:cNvPr id="33" name="forme"/>
          <p:cNvSpPr/>
          <p:nvPr/>
        </p:nvSpPr>
        <p:spPr>
          <a:xfrm>
            <a:off x="8978900" y="1778000"/>
            <a:ext cx="2501900" cy="2540000"/>
          </a:xfrm>
          <a:prstGeom prst="roundRect">
            <a:avLst>
              <a:gd name="adj" fmla="val 12183"/>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34" name="forme"/>
          <p:cNvSpPr/>
          <p:nvPr/>
        </p:nvSpPr>
        <p:spPr>
          <a:xfrm>
            <a:off x="9232900" y="2032000"/>
            <a:ext cx="508000" cy="508000"/>
          </a:xfrm>
          <a:prstGeom prst="roundRect">
            <a:avLst>
              <a:gd name="adj" fmla="val 50000"/>
            </a:avLst>
          </a:prstGeom>
          <a:solidFill>
            <a:srgbClr val="2C4A78"/>
          </a:solidFill>
          <a:ln>
            <a:noFill/>
          </a:ln>
          <a:effectLst/>
        </p:spPr>
        <p:txBody>
          <a:bodyPr/>
          <a:lstStyle/>
          <a:p>
            <a:endParaRPr lang="fr-FR"/>
          </a:p>
        </p:txBody>
      </p:sp>
      <p:sp>
        <p:nvSpPr>
          <p:cNvPr id="35" name="forme"/>
          <p:cNvSpPr/>
          <p:nvPr/>
        </p:nvSpPr>
        <p:spPr>
          <a:xfrm>
            <a:off x="9375953" y="2270150"/>
            <a:ext cx="44907" cy="105664"/>
          </a:xfrm>
          <a:prstGeom prst="roundRect">
            <a:avLst>
              <a:gd name="adj" fmla="val 50000"/>
            </a:avLst>
          </a:prstGeom>
          <a:solidFill>
            <a:srgbClr val="FFFFFF"/>
          </a:solidFill>
          <a:ln>
            <a:noFill/>
          </a:ln>
          <a:effectLst/>
        </p:spPr>
        <p:txBody>
          <a:bodyPr/>
          <a:lstStyle/>
          <a:p>
            <a:endParaRPr lang="fr-FR"/>
          </a:p>
        </p:txBody>
      </p:sp>
      <p:sp>
        <p:nvSpPr>
          <p:cNvPr id="36" name="forme"/>
          <p:cNvSpPr/>
          <p:nvPr/>
        </p:nvSpPr>
        <p:spPr>
          <a:xfrm>
            <a:off x="9463126" y="2212035"/>
            <a:ext cx="44907" cy="163779"/>
          </a:xfrm>
          <a:prstGeom prst="roundRect">
            <a:avLst>
              <a:gd name="adj" fmla="val 50000"/>
            </a:avLst>
          </a:prstGeom>
          <a:solidFill>
            <a:srgbClr val="FFFFFF"/>
          </a:solidFill>
          <a:ln>
            <a:noFill/>
          </a:ln>
          <a:effectLst/>
        </p:spPr>
        <p:txBody>
          <a:bodyPr/>
          <a:lstStyle/>
          <a:p>
            <a:endParaRPr lang="fr-FR"/>
          </a:p>
        </p:txBody>
      </p:sp>
      <p:sp>
        <p:nvSpPr>
          <p:cNvPr id="37" name="forme"/>
          <p:cNvSpPr/>
          <p:nvPr/>
        </p:nvSpPr>
        <p:spPr>
          <a:xfrm>
            <a:off x="9550298" y="2301850"/>
            <a:ext cx="44907" cy="73965"/>
          </a:xfrm>
          <a:prstGeom prst="roundRect">
            <a:avLst>
              <a:gd name="adj" fmla="val 50000"/>
            </a:avLst>
          </a:prstGeom>
          <a:solidFill>
            <a:srgbClr val="FFFFFF"/>
          </a:solidFill>
          <a:ln>
            <a:noFill/>
          </a:ln>
          <a:effectLst/>
        </p:spPr>
        <p:txBody>
          <a:bodyPr/>
          <a:lstStyle/>
          <a:p>
            <a:endParaRPr lang="fr-FR"/>
          </a:p>
        </p:txBody>
      </p:sp>
      <p:sp>
        <p:nvSpPr>
          <p:cNvPr id="38" name="forme"/>
          <p:cNvSpPr/>
          <p:nvPr/>
        </p:nvSpPr>
        <p:spPr>
          <a:xfrm>
            <a:off x="9365386" y="2386381"/>
            <a:ext cx="243027" cy="18491"/>
          </a:xfrm>
          <a:prstGeom prst="roundRect">
            <a:avLst>
              <a:gd name="adj" fmla="val 50000"/>
            </a:avLst>
          </a:prstGeom>
          <a:solidFill>
            <a:srgbClr val="FFFFFF"/>
          </a:solidFill>
          <a:ln>
            <a:noFill/>
          </a:ln>
          <a:effectLst/>
        </p:spPr>
        <p:txBody>
          <a:bodyPr/>
          <a:lstStyle/>
          <a:p>
            <a:endParaRPr lang="fr-FR"/>
          </a:p>
        </p:txBody>
      </p:sp>
      <p:sp>
        <p:nvSpPr>
          <p:cNvPr id="39" name="forme"/>
          <p:cNvSpPr/>
          <p:nvPr/>
        </p:nvSpPr>
        <p:spPr>
          <a:xfrm>
            <a:off x="9232900" y="27178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4 · Conformité suivie</a:t>
            </a:r>
            <a:endParaRPr lang="fr-FR" sz="100"/>
          </a:p>
        </p:txBody>
      </p:sp>
      <p:sp>
        <p:nvSpPr>
          <p:cNvPr id="40" name="forme"/>
          <p:cNvSpPr/>
          <p:nvPr/>
        </p:nvSpPr>
        <p:spPr>
          <a:xfrm>
            <a:off x="9232900" y="3175000"/>
            <a:ext cx="1993900" cy="10160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Statut, preuve, action, responsable, délai et taux d'avancement : le pilotage devient chiffré.</a:t>
            </a:r>
            <a:endParaRPr lang="fr-FR" sz="100"/>
          </a:p>
        </p:txBody>
      </p:sp>
      <p:sp>
        <p:nvSpPr>
          <p:cNvPr id="41" name="forme"/>
          <p:cNvSpPr/>
          <p:nvPr/>
        </p:nvSpPr>
        <p:spPr>
          <a:xfrm>
            <a:off x="711200" y="4597400"/>
            <a:ext cx="5232400" cy="1498600"/>
          </a:xfrm>
          <a:prstGeom prst="roundRect">
            <a:avLst>
              <a:gd name="adj" fmla="val 20339"/>
            </a:avLst>
          </a:prstGeom>
          <a:solidFill>
            <a:srgbClr val="EEF2F8"/>
          </a:solidFill>
          <a:ln w="9525" cap="flat">
            <a:solidFill>
              <a:srgbClr val="C9D5E6"/>
            </a:solidFill>
            <a:prstDash val="solid"/>
            <a:flat/>
          </a:ln>
          <a:effectLst>
            <a:outerShdw blurRad="127000" dist="31750" dir="5400000" rotWithShape="0">
              <a:srgbClr val="0B1A30">
                <a:alpha val="8000"/>
              </a:srgbClr>
            </a:outerShdw>
          </a:effectLst>
        </p:spPr>
        <p:txBody>
          <a:bodyPr/>
          <a:lstStyle/>
          <a:p>
            <a:endParaRPr lang="fr-FR"/>
          </a:p>
        </p:txBody>
      </p:sp>
      <p:sp>
        <p:nvSpPr>
          <p:cNvPr id="42" name="forme"/>
          <p:cNvSpPr/>
          <p:nvPr/>
        </p:nvSpPr>
        <p:spPr>
          <a:xfrm>
            <a:off x="965200" y="4851400"/>
            <a:ext cx="508000" cy="508000"/>
          </a:xfrm>
          <a:prstGeom prst="roundRect">
            <a:avLst>
              <a:gd name="adj" fmla="val 50000"/>
            </a:avLst>
          </a:prstGeom>
          <a:solidFill>
            <a:srgbClr val="1C3359"/>
          </a:solidFill>
          <a:ln>
            <a:noFill/>
          </a:ln>
          <a:effectLst/>
        </p:spPr>
        <p:txBody>
          <a:bodyPr/>
          <a:lstStyle/>
          <a:p>
            <a:endParaRPr lang="fr-FR"/>
          </a:p>
        </p:txBody>
      </p:sp>
      <p:sp>
        <p:nvSpPr>
          <p:cNvPr id="43" name="forme"/>
          <p:cNvSpPr/>
          <p:nvPr/>
        </p:nvSpPr>
        <p:spPr>
          <a:xfrm>
            <a:off x="1092403" y="4978603"/>
            <a:ext cx="253594" cy="253594"/>
          </a:xfrm>
          <a:prstGeom prst="gear6">
            <a:avLst/>
          </a:prstGeom>
          <a:solidFill>
            <a:srgbClr val="FFFFFF"/>
          </a:solidFill>
          <a:ln>
            <a:noFill/>
          </a:ln>
          <a:effectLst/>
        </p:spPr>
        <p:txBody>
          <a:bodyPr/>
          <a:lstStyle/>
          <a:p>
            <a:endParaRPr lang="fr-FR"/>
          </a:p>
        </p:txBody>
      </p:sp>
      <p:sp>
        <p:nvSpPr>
          <p:cNvPr id="44" name="forme"/>
          <p:cNvSpPr/>
          <p:nvPr/>
        </p:nvSpPr>
        <p:spPr>
          <a:xfrm>
            <a:off x="1182218" y="5068418"/>
            <a:ext cx="73965" cy="73965"/>
          </a:xfrm>
          <a:prstGeom prst="ellipse">
            <a:avLst/>
          </a:prstGeom>
          <a:solidFill>
            <a:srgbClr val="1C3359"/>
          </a:solidFill>
          <a:ln>
            <a:noFill/>
          </a:ln>
          <a:effectLst/>
        </p:spPr>
        <p:txBody>
          <a:bodyPr/>
          <a:lstStyle/>
          <a:p>
            <a:endParaRPr lang="fr-FR"/>
          </a:p>
        </p:txBody>
      </p:sp>
      <p:sp>
        <p:nvSpPr>
          <p:cNvPr id="45" name="forme"/>
          <p:cNvSpPr/>
          <p:nvPr/>
        </p:nvSpPr>
        <p:spPr>
          <a:xfrm>
            <a:off x="1676400" y="4876800"/>
            <a:ext cx="4013200" cy="279400"/>
          </a:xfrm>
          <a:prstGeom prst="rect">
            <a:avLst/>
          </a:prstGeom>
          <a:noFill/>
          <a:ln>
            <a:noFill/>
          </a:ln>
          <a:effectLst/>
        </p:spPr>
        <p:txBody>
          <a:bodyPr wrap="square" lIns="0" tIns="0" rIns="0" bIns="0" anchor="t">
            <a:noAutofit/>
          </a:bodyPr>
          <a:lstStyle/>
          <a:p>
            <a:pPr>
              <a:buNone/>
            </a:pPr>
            <a:r>
              <a:rPr lang="fr-FR" sz="1200" b="1" dirty="0">
                <a:solidFill>
                  <a:srgbClr val="1C3359"/>
                </a:solidFill>
                <a:latin typeface="Segoe UI"/>
                <a:cs typeface="Segoe UI"/>
              </a:rPr>
              <a:t>La centrale — Veille Réglementaire Générale</a:t>
            </a:r>
            <a:endParaRPr lang="fr-FR" sz="100"/>
          </a:p>
        </p:txBody>
      </p:sp>
      <p:sp>
        <p:nvSpPr>
          <p:cNvPr id="46" name="forme"/>
          <p:cNvSpPr/>
          <p:nvPr/>
        </p:nvSpPr>
        <p:spPr>
          <a:xfrm>
            <a:off x="1676400" y="5181600"/>
            <a:ext cx="4013200" cy="7620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Crée les alertes, assigne les directions, corrige le texte source, fait avancer le flux et retraite les rejets. Vue générale : elle ne touche jamais à la conformité d'une direction.</a:t>
            </a:r>
            <a:endParaRPr lang="fr-FR" sz="100"/>
          </a:p>
        </p:txBody>
      </p:sp>
      <p:sp>
        <p:nvSpPr>
          <p:cNvPr id="47" name="forme"/>
          <p:cNvSpPr/>
          <p:nvPr/>
        </p:nvSpPr>
        <p:spPr>
          <a:xfrm>
            <a:off x="6248400" y="4597400"/>
            <a:ext cx="5232400" cy="1498600"/>
          </a:xfrm>
          <a:prstGeom prst="roundRect">
            <a:avLst>
              <a:gd name="adj" fmla="val 20339"/>
            </a:avLst>
          </a:prstGeom>
          <a:solidFill>
            <a:srgbClr val="EEF2F8"/>
          </a:solidFill>
          <a:ln w="9525" cap="flat">
            <a:solidFill>
              <a:srgbClr val="C9D5E6"/>
            </a:solidFill>
            <a:prstDash val="solid"/>
            <a:flat/>
          </a:ln>
          <a:effectLst>
            <a:outerShdw blurRad="127000" dist="31750" dir="5400000" rotWithShape="0">
              <a:srgbClr val="0B1A30">
                <a:alpha val="8000"/>
              </a:srgbClr>
            </a:outerShdw>
          </a:effectLst>
        </p:spPr>
        <p:txBody>
          <a:bodyPr/>
          <a:lstStyle/>
          <a:p>
            <a:endParaRPr lang="fr-FR"/>
          </a:p>
        </p:txBody>
      </p:sp>
      <p:sp>
        <p:nvSpPr>
          <p:cNvPr id="48" name="forme"/>
          <p:cNvSpPr/>
          <p:nvPr/>
        </p:nvSpPr>
        <p:spPr>
          <a:xfrm>
            <a:off x="6502400" y="4851400"/>
            <a:ext cx="508000" cy="508000"/>
          </a:xfrm>
          <a:prstGeom prst="roundRect">
            <a:avLst>
              <a:gd name="adj" fmla="val 50000"/>
            </a:avLst>
          </a:prstGeom>
          <a:solidFill>
            <a:srgbClr val="9A9059"/>
          </a:solidFill>
          <a:ln>
            <a:noFill/>
          </a:ln>
          <a:effectLst/>
        </p:spPr>
        <p:txBody>
          <a:bodyPr/>
          <a:lstStyle/>
          <a:p>
            <a:endParaRPr lang="fr-FR"/>
          </a:p>
        </p:txBody>
      </p:sp>
      <p:sp>
        <p:nvSpPr>
          <p:cNvPr id="49" name="forme"/>
          <p:cNvSpPr/>
          <p:nvPr/>
        </p:nvSpPr>
        <p:spPr>
          <a:xfrm>
            <a:off x="6677152" y="4989170"/>
            <a:ext cx="158496" cy="163779"/>
          </a:xfrm>
          <a:prstGeom prst="blockArc">
            <a:avLst>
              <a:gd name="adj1" fmla="val 10800000"/>
              <a:gd name="adj2" fmla="val 0"/>
              <a:gd name="adj3" fmla="val 17000"/>
            </a:avLst>
          </a:prstGeom>
          <a:solidFill>
            <a:srgbClr val="FFFFFF"/>
          </a:solidFill>
          <a:ln>
            <a:noFill/>
          </a:ln>
          <a:effectLst/>
        </p:spPr>
        <p:txBody>
          <a:bodyPr/>
          <a:lstStyle/>
          <a:p>
            <a:endParaRPr lang="fr-FR"/>
          </a:p>
        </p:txBody>
      </p:sp>
      <p:sp>
        <p:nvSpPr>
          <p:cNvPr id="50" name="forme"/>
          <p:cNvSpPr/>
          <p:nvPr/>
        </p:nvSpPr>
        <p:spPr>
          <a:xfrm>
            <a:off x="6645453" y="5084267"/>
            <a:ext cx="221894" cy="132080"/>
          </a:xfrm>
          <a:prstGeom prst="roundRect">
            <a:avLst>
              <a:gd name="adj" fmla="val 50000"/>
            </a:avLst>
          </a:prstGeom>
          <a:solidFill>
            <a:srgbClr val="FFFFFF"/>
          </a:solidFill>
          <a:ln>
            <a:noFill/>
          </a:ln>
          <a:effectLst/>
        </p:spPr>
        <p:txBody>
          <a:bodyPr/>
          <a:lstStyle/>
          <a:p>
            <a:endParaRPr lang="fr-FR"/>
          </a:p>
        </p:txBody>
      </p:sp>
      <p:sp>
        <p:nvSpPr>
          <p:cNvPr id="51" name="forme"/>
          <p:cNvSpPr/>
          <p:nvPr/>
        </p:nvSpPr>
        <p:spPr>
          <a:xfrm>
            <a:off x="6735267" y="5123891"/>
            <a:ext cx="42266" cy="42266"/>
          </a:xfrm>
          <a:prstGeom prst="ellipse">
            <a:avLst/>
          </a:prstGeom>
          <a:solidFill>
            <a:srgbClr val="9A9059"/>
          </a:solidFill>
          <a:ln>
            <a:noFill/>
          </a:ln>
          <a:effectLst/>
        </p:spPr>
        <p:txBody>
          <a:bodyPr/>
          <a:lstStyle/>
          <a:p>
            <a:endParaRPr lang="fr-FR"/>
          </a:p>
        </p:txBody>
      </p:sp>
      <p:sp>
        <p:nvSpPr>
          <p:cNvPr id="52" name="forme"/>
          <p:cNvSpPr/>
          <p:nvPr/>
        </p:nvSpPr>
        <p:spPr>
          <a:xfrm>
            <a:off x="6748475" y="5147666"/>
            <a:ext cx="15850" cy="36982"/>
          </a:xfrm>
          <a:prstGeom prst="rect">
            <a:avLst/>
          </a:prstGeom>
          <a:solidFill>
            <a:srgbClr val="9A9059"/>
          </a:solidFill>
          <a:ln>
            <a:noFill/>
          </a:ln>
          <a:effectLst/>
        </p:spPr>
        <p:txBody>
          <a:bodyPr/>
          <a:lstStyle/>
          <a:p>
            <a:endParaRPr lang="fr-FR"/>
          </a:p>
        </p:txBody>
      </p:sp>
      <p:sp>
        <p:nvSpPr>
          <p:cNvPr id="53" name="forme"/>
          <p:cNvSpPr/>
          <p:nvPr/>
        </p:nvSpPr>
        <p:spPr>
          <a:xfrm>
            <a:off x="7213600" y="4876800"/>
            <a:ext cx="4013200" cy="279400"/>
          </a:xfrm>
          <a:prstGeom prst="rect">
            <a:avLst/>
          </a:prstGeom>
          <a:noFill/>
          <a:ln>
            <a:noFill/>
          </a:ln>
          <a:effectLst/>
        </p:spPr>
        <p:txBody>
          <a:bodyPr wrap="square" lIns="0" tIns="0" rIns="0" bIns="0" anchor="t">
            <a:noAutofit/>
          </a:bodyPr>
          <a:lstStyle/>
          <a:p>
            <a:pPr>
              <a:buNone/>
            </a:pPr>
            <a:r>
              <a:rPr lang="fr-FR" sz="1200" b="1" dirty="0">
                <a:solidFill>
                  <a:srgbClr val="1C3359"/>
                </a:solidFill>
                <a:latin typeface="Segoe UI"/>
                <a:cs typeface="Segoe UI"/>
              </a:rPr>
              <a:t>Chaque direction, cloisonnée</a:t>
            </a:r>
            <a:endParaRPr lang="fr-FR" sz="100"/>
          </a:p>
        </p:txBody>
      </p:sp>
      <p:sp>
        <p:nvSpPr>
          <p:cNvPr id="54" name="forme"/>
          <p:cNvSpPr/>
          <p:nvPr/>
        </p:nvSpPr>
        <p:spPr>
          <a:xfrm>
            <a:off x="7213600" y="5181600"/>
            <a:ext cx="4013200" cy="7620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Connexion obligatoire, mot de passe propre à la direction : elle ne voit et ne modifie que ses fiches — Direction Juridique comprise. Écrans Assignation et Rejet absents, API en 403.</a:t>
            </a:r>
            <a:endParaRPr lang="fr-FR" sz="100"/>
          </a:p>
        </p:txBody>
      </p:sp>
      <p:sp>
        <p:nvSpPr>
          <p:cNvPr id="55" name="forme"/>
          <p:cNvSpPr/>
          <p:nvPr/>
        </p:nvSpPr>
        <p:spPr>
          <a:xfrm>
            <a:off x="711200" y="6400800"/>
            <a:ext cx="10769600" cy="9525"/>
          </a:xfrm>
          <a:prstGeom prst="rect">
            <a:avLst/>
          </a:prstGeom>
          <a:solidFill>
            <a:srgbClr val="DCE3EE"/>
          </a:solidFill>
          <a:ln>
            <a:noFill/>
          </a:ln>
          <a:effectLst/>
        </p:spPr>
        <p:txBody>
          <a:bodyPr/>
          <a:lstStyle/>
          <a:p>
            <a:endParaRPr lang="fr-FR"/>
          </a:p>
        </p:txBody>
      </p:sp>
      <p:sp>
        <p:nvSpPr>
          <p:cNvPr id="56" name="forme"/>
          <p:cNvSpPr/>
          <p:nvPr/>
        </p:nvSpPr>
        <p:spPr>
          <a:xfrm>
            <a:off x="711200" y="6489700"/>
            <a:ext cx="7112000" cy="152400"/>
          </a:xfrm>
          <a:prstGeom prst="rect">
            <a:avLst/>
          </a:prstGeom>
          <a:noFill/>
          <a:ln>
            <a:noFill/>
          </a:ln>
          <a:effectLst/>
        </p:spPr>
        <p:txBody>
          <a:bodyPr wrap="square" lIns="0" tIns="0" rIns="0" bIns="0" anchor="t">
            <a:noAutofit/>
          </a:bodyPr>
          <a:lstStyle/>
          <a:p>
            <a:pPr>
              <a:buNone/>
            </a:pPr>
            <a:r>
              <a:rPr lang="fr-FR" sz="850" b="1" dirty="0">
                <a:solidFill>
                  <a:srgbClr val="8494AB"/>
                </a:solidFill>
                <a:latin typeface="Segoe UI"/>
                <a:cs typeface="Segoe UI"/>
              </a:rPr>
              <a:t>AGL JuriCompliance</a:t>
            </a:r>
            <a:r>
              <a:rPr lang="fr-FR" sz="850" b="0" dirty="0">
                <a:solidFill>
                  <a:srgbClr val="8494AB"/>
                </a:solidFill>
                <a:latin typeface="Segoe UI"/>
                <a:cs typeface="Segoe UI"/>
              </a:rPr>
              <a:t>  ·  Veille réglementaire assistée par IA  ·  Prototype</a:t>
            </a:r>
            <a:endParaRPr lang="fr-FR" sz="100"/>
          </a:p>
        </p:txBody>
      </p:sp>
      <p:sp>
        <p:nvSpPr>
          <p:cNvPr id="57" name="forme"/>
          <p:cNvSpPr/>
          <p:nvPr/>
        </p:nvSpPr>
        <p:spPr>
          <a:xfrm>
            <a:off x="9448800" y="6489700"/>
            <a:ext cx="2032000" cy="152400"/>
          </a:xfrm>
          <a:prstGeom prst="rect">
            <a:avLst/>
          </a:prstGeom>
          <a:noFill/>
          <a:ln>
            <a:noFill/>
          </a:ln>
          <a:effectLst/>
        </p:spPr>
        <p:txBody>
          <a:bodyPr wrap="square" lIns="0" tIns="0" rIns="0" bIns="0" anchor="t">
            <a:noAutofit/>
          </a:bodyPr>
          <a:lstStyle/>
          <a:p>
            <a:pPr algn="r">
              <a:buNone/>
            </a:pPr>
            <a:r>
              <a:rPr lang="fr-FR" sz="850" b="1" dirty="0">
                <a:solidFill>
                  <a:srgbClr val="1C3359"/>
                </a:solidFill>
                <a:latin typeface="Segoe UI"/>
                <a:cs typeface="Segoe UI"/>
              </a:rPr>
              <a:t>4 / 6</a:t>
            </a:r>
            <a:endParaRPr lang="fr-FR" sz="100"/>
          </a:p>
        </p:txBody>
      </p:sp>
    </p:spTree>
  </p:cSld>
  <p:clrMapOvr>
    <a:masterClrMapping/>
  </p:clrMapOvr>
  <mc:AlternateContent>
    <mc:Choice Requires="p14 p159">
      <p:transition spd="slow" p14:dur="9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9="http://schemas.microsoft.com/office/powerpoint/2015/09/main">
  <p:cSld>
    <p:bg>
      <p:bgPr>
        <a:solidFill>
          <a:srgbClr val="FFFFFF"/>
        </a:solidFill>
        <a:effectLst/>
      </p:bgPr>
    </p:bg>
    <p:spTree>
      <p:nvGrpSpPr>
        <p:cNvPr id="1" name=""/>
        <p:cNvGrpSpPr/>
        <p:nvPr/>
      </p:nvGrpSpPr>
      <p:grpSpPr>
        <a:xfrm>
          <a:off x="0" y="0"/>
          <a:ext cx="0" cy="0"/>
          <a:chOff x="0" y="0"/>
          <a:chExt cx="0" cy="0"/>
        </a:xfrm>
      </p:grpSpPr>
      <p:sp>
        <p:nvSpPr>
          <p:cNvPr id="2" name="forme"/>
          <p:cNvSpPr/>
          <p:nvPr/>
        </p:nvSpPr>
        <p:spPr>
          <a:xfrm>
            <a:off x="0" y="0"/>
            <a:ext cx="12192000" cy="1168400"/>
          </a:xfrm>
          <a:prstGeom prst="rect">
            <a:avLst/>
          </a:prstGeom>
          <a:solidFill>
            <a:srgbClr val="1C3359"/>
          </a:solidFill>
          <a:ln>
            <a:noFill/>
          </a:ln>
          <a:effectLst/>
        </p:spPr>
        <p:txBody>
          <a:bodyPr/>
          <a:lstStyle/>
          <a:p>
            <a:endParaRPr lang="fr-FR"/>
          </a:p>
        </p:txBody>
      </p:sp>
      <p:sp>
        <p:nvSpPr>
          <p:cNvPr id="3" name="forme"/>
          <p:cNvSpPr/>
          <p:nvPr/>
        </p:nvSpPr>
        <p:spPr>
          <a:xfrm>
            <a:off x="0" y="1168400"/>
            <a:ext cx="12192000" cy="38100"/>
          </a:xfrm>
          <a:prstGeom prst="rect">
            <a:avLst/>
          </a:prstGeom>
          <a:solidFill>
            <a:srgbClr val="B6AD6E"/>
          </a:solidFill>
          <a:ln>
            <a:noFill/>
          </a:ln>
          <a:effectLst/>
        </p:spPr>
        <p:txBody>
          <a:bodyPr/>
          <a:lstStyle/>
          <a:p>
            <a:endParaRPr lang="fr-FR"/>
          </a:p>
        </p:txBody>
      </p:sp>
      <p:sp>
        <p:nvSpPr>
          <p:cNvPr id="4" name="forme"/>
          <p:cNvSpPr/>
          <p:nvPr/>
        </p:nvSpPr>
        <p:spPr>
          <a:xfrm>
            <a:off x="330200" y="342900"/>
            <a:ext cx="482600" cy="482600"/>
          </a:xfrm>
          <a:prstGeom prst="ellipse">
            <a:avLst/>
          </a:prstGeom>
          <a:noFill/>
          <a:ln w="15875" cap="flat">
            <a:solidFill>
              <a:srgbClr val="B6AD6E"/>
            </a:solidFill>
            <a:prstDash val="solid"/>
            <a:flat/>
          </a:ln>
          <a:effectLst/>
        </p:spPr>
        <p:txBody>
          <a:bodyPr/>
          <a:lstStyle/>
          <a:p>
            <a:endParaRPr lang="fr-FR"/>
          </a:p>
        </p:txBody>
      </p:sp>
      <p:sp>
        <p:nvSpPr>
          <p:cNvPr id="5" name="forme"/>
          <p:cNvSpPr/>
          <p:nvPr/>
        </p:nvSpPr>
        <p:spPr>
          <a:xfrm>
            <a:off x="330200" y="342900"/>
            <a:ext cx="482600" cy="482600"/>
          </a:xfrm>
          <a:prstGeom prst="rect">
            <a:avLst/>
          </a:prstGeom>
          <a:noFill/>
          <a:ln>
            <a:noFill/>
          </a:ln>
          <a:effectLst/>
        </p:spPr>
        <p:txBody>
          <a:bodyPr wrap="square" lIns="0" tIns="0" rIns="0" bIns="0" anchor="ctr">
            <a:noAutofit/>
          </a:bodyPr>
          <a:lstStyle/>
          <a:p>
            <a:pPr algn="ctr">
              <a:buNone/>
            </a:pPr>
            <a:r>
              <a:rPr lang="fr-FR" sz="1500" b="1" dirty="0">
                <a:solidFill>
                  <a:srgbClr val="B6AD6E"/>
                </a:solidFill>
                <a:latin typeface="Segoe UI"/>
                <a:cs typeface="Segoe UI"/>
              </a:rPr>
              <a:t>04</a:t>
            </a:r>
            <a:endParaRPr lang="fr-FR" sz="100"/>
          </a:p>
        </p:txBody>
      </p:sp>
      <p:sp>
        <p:nvSpPr>
          <p:cNvPr id="6" name="forme"/>
          <p:cNvSpPr/>
          <p:nvPr/>
        </p:nvSpPr>
        <p:spPr>
          <a:xfrm>
            <a:off x="1066800" y="228600"/>
            <a:ext cx="8128000" cy="177800"/>
          </a:xfrm>
          <a:prstGeom prst="rect">
            <a:avLst/>
          </a:prstGeom>
          <a:noFill/>
          <a:ln>
            <a:noFill/>
          </a:ln>
          <a:effectLst/>
        </p:spPr>
        <p:txBody>
          <a:bodyPr wrap="square" lIns="0" tIns="0" rIns="0" bIns="0" anchor="t">
            <a:noAutofit/>
          </a:bodyPr>
          <a:lstStyle/>
          <a:p>
            <a:pPr>
              <a:buNone/>
            </a:pPr>
            <a:r>
              <a:rPr lang="fr-FR" sz="900" b="1" cap="all" spc="140" dirty="0">
                <a:solidFill>
                  <a:srgbClr val="B6AD6E"/>
                </a:solidFill>
                <a:latin typeface="Segoe UI"/>
                <a:cs typeface="Segoe UI"/>
              </a:rPr>
              <a:t>Garanties</a:t>
            </a:r>
            <a:endParaRPr lang="fr-FR" sz="100"/>
          </a:p>
        </p:txBody>
      </p:sp>
      <p:sp>
        <p:nvSpPr>
          <p:cNvPr id="7" name="forme"/>
          <p:cNvSpPr/>
          <p:nvPr/>
        </p:nvSpPr>
        <p:spPr>
          <a:xfrm>
            <a:off x="1066800" y="457200"/>
            <a:ext cx="8890000" cy="508000"/>
          </a:xfrm>
          <a:prstGeom prst="rect">
            <a:avLst/>
          </a:prstGeom>
          <a:noFill/>
          <a:ln>
            <a:noFill/>
          </a:ln>
          <a:effectLst/>
        </p:spPr>
        <p:txBody>
          <a:bodyPr wrap="square" lIns="0" tIns="0" rIns="0" bIns="0" anchor="t">
            <a:noAutofit/>
          </a:bodyPr>
          <a:lstStyle/>
          <a:p>
            <a:pPr>
              <a:buNone/>
            </a:pPr>
            <a:r>
              <a:rPr lang="fr-FR" sz="2400" b="1" dirty="0">
                <a:solidFill>
                  <a:srgbClr val="FFFFFF"/>
                </a:solidFill>
                <a:latin typeface="Segoe UI"/>
                <a:cs typeface="Segoe UI"/>
              </a:rPr>
              <a:t>Rien ne se perd, tout se prouve</a:t>
            </a:r>
            <a:endParaRPr lang="fr-FR" sz="100"/>
          </a:p>
        </p:txBody>
      </p:sp>
      <p:pic>
        <p:nvPicPr>
          <p:cNvPr id="8" name="image"/>
          <p:cNvPicPr>
            <a:picLocks noChangeAspect="1"/>
          </p:cNvPicPr>
          <p:nvPr/>
        </p:nvPicPr>
        <p:blipFill>
          <a:blip r:embed="rId2"/>
          <a:stretch>
            <a:fillRect/>
          </a:stretch>
        </p:blipFill>
        <p:spPr>
          <a:xfrm>
            <a:off x="10629900" y="381000"/>
            <a:ext cx="850900" cy="406400"/>
          </a:xfrm>
          <a:prstGeom prst="rect">
            <a:avLst/>
          </a:prstGeom>
        </p:spPr>
      </p:pic>
      <p:sp>
        <p:nvSpPr>
          <p:cNvPr id="9" name="forme"/>
          <p:cNvSpPr/>
          <p:nvPr/>
        </p:nvSpPr>
        <p:spPr>
          <a:xfrm>
            <a:off x="711200" y="1778000"/>
            <a:ext cx="2501900" cy="2489200"/>
          </a:xfrm>
          <a:prstGeom prst="roundRect">
            <a:avLst>
              <a:gd name="adj" fmla="val 12245"/>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10" name="forme"/>
          <p:cNvSpPr/>
          <p:nvPr/>
        </p:nvSpPr>
        <p:spPr>
          <a:xfrm>
            <a:off x="711200" y="1778000"/>
            <a:ext cx="50800" cy="2489200"/>
          </a:xfrm>
          <a:prstGeom prst="roundRect">
            <a:avLst>
              <a:gd name="adj" fmla="val 50000"/>
            </a:avLst>
          </a:prstGeom>
          <a:solidFill>
            <a:srgbClr val="B6AD6E"/>
          </a:solidFill>
          <a:ln>
            <a:noFill/>
          </a:ln>
          <a:effectLst/>
        </p:spPr>
        <p:txBody>
          <a:bodyPr/>
          <a:lstStyle/>
          <a:p>
            <a:endParaRPr lang="fr-FR"/>
          </a:p>
        </p:txBody>
      </p:sp>
      <p:sp>
        <p:nvSpPr>
          <p:cNvPr id="11" name="forme"/>
          <p:cNvSpPr/>
          <p:nvPr/>
        </p:nvSpPr>
        <p:spPr>
          <a:xfrm>
            <a:off x="965200" y="2032000"/>
            <a:ext cx="482600" cy="482600"/>
          </a:xfrm>
          <a:prstGeom prst="roundRect">
            <a:avLst>
              <a:gd name="adj" fmla="val 50000"/>
            </a:avLst>
          </a:prstGeom>
          <a:solidFill>
            <a:srgbClr val="1C3359"/>
          </a:solidFill>
          <a:ln>
            <a:noFill/>
          </a:ln>
          <a:effectLst/>
        </p:spPr>
        <p:txBody>
          <a:bodyPr/>
          <a:lstStyle/>
          <a:p>
            <a:endParaRPr lang="fr-FR"/>
          </a:p>
        </p:txBody>
      </p:sp>
      <p:sp>
        <p:nvSpPr>
          <p:cNvPr id="12" name="forme"/>
          <p:cNvSpPr/>
          <p:nvPr/>
        </p:nvSpPr>
        <p:spPr>
          <a:xfrm>
            <a:off x="1091062" y="2157862"/>
            <a:ext cx="230876" cy="230876"/>
          </a:xfrm>
          <a:prstGeom prst="circularArrow">
            <a:avLst/>
          </a:prstGeom>
          <a:solidFill>
            <a:srgbClr val="FFFFFF"/>
          </a:solidFill>
          <a:ln>
            <a:noFill/>
          </a:ln>
          <a:effectLst/>
        </p:spPr>
        <p:txBody>
          <a:bodyPr/>
          <a:lstStyle/>
          <a:p>
            <a:endParaRPr lang="fr-FR"/>
          </a:p>
        </p:txBody>
      </p:sp>
      <p:sp>
        <p:nvSpPr>
          <p:cNvPr id="13" name="forme"/>
          <p:cNvSpPr/>
          <p:nvPr/>
        </p:nvSpPr>
        <p:spPr>
          <a:xfrm>
            <a:off x="965200" y="26416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Un scan ne se perd jamais</a:t>
            </a:r>
            <a:endParaRPr lang="fr-FR" sz="100"/>
          </a:p>
        </p:txBody>
      </p:sp>
      <p:sp>
        <p:nvSpPr>
          <p:cNvPr id="14" name="forme"/>
          <p:cNvSpPr/>
          <p:nvPr/>
        </p:nvSpPr>
        <p:spPr>
          <a:xfrm>
            <a:off x="965200" y="3098800"/>
            <a:ext cx="1993900" cy="9906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Un document scanné reste enregistré tant qu'il n'est pas assigné : changer d'onglet, quitter la page, revenir le lendemain — rien ne disparaît.</a:t>
            </a:r>
            <a:endParaRPr lang="fr-FR" sz="100"/>
          </a:p>
        </p:txBody>
      </p:sp>
      <p:sp>
        <p:nvSpPr>
          <p:cNvPr id="15" name="forme"/>
          <p:cNvSpPr/>
          <p:nvPr/>
        </p:nvSpPr>
        <p:spPr>
          <a:xfrm>
            <a:off x="3467100" y="1778000"/>
            <a:ext cx="2501900" cy="2489200"/>
          </a:xfrm>
          <a:prstGeom prst="roundRect">
            <a:avLst>
              <a:gd name="adj" fmla="val 12245"/>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16" name="forme"/>
          <p:cNvSpPr/>
          <p:nvPr/>
        </p:nvSpPr>
        <p:spPr>
          <a:xfrm>
            <a:off x="3467100" y="1778000"/>
            <a:ext cx="50800" cy="2489200"/>
          </a:xfrm>
          <a:prstGeom prst="roundRect">
            <a:avLst>
              <a:gd name="adj" fmla="val 50000"/>
            </a:avLst>
          </a:prstGeom>
          <a:solidFill>
            <a:srgbClr val="B6AD6E"/>
          </a:solidFill>
          <a:ln>
            <a:noFill/>
          </a:ln>
          <a:effectLst/>
        </p:spPr>
        <p:txBody>
          <a:bodyPr/>
          <a:lstStyle/>
          <a:p>
            <a:endParaRPr lang="fr-FR"/>
          </a:p>
        </p:txBody>
      </p:sp>
      <p:sp>
        <p:nvSpPr>
          <p:cNvPr id="17" name="forme"/>
          <p:cNvSpPr/>
          <p:nvPr/>
        </p:nvSpPr>
        <p:spPr>
          <a:xfrm>
            <a:off x="3721100" y="2032000"/>
            <a:ext cx="482600" cy="482600"/>
          </a:xfrm>
          <a:prstGeom prst="roundRect">
            <a:avLst>
              <a:gd name="adj" fmla="val 50000"/>
            </a:avLst>
          </a:prstGeom>
          <a:solidFill>
            <a:srgbClr val="1C3359"/>
          </a:solidFill>
          <a:ln>
            <a:noFill/>
          </a:ln>
          <a:effectLst/>
        </p:spPr>
        <p:txBody>
          <a:bodyPr/>
          <a:lstStyle/>
          <a:p>
            <a:endParaRPr lang="fr-FR"/>
          </a:p>
        </p:txBody>
      </p:sp>
      <p:sp>
        <p:nvSpPr>
          <p:cNvPr id="18" name="forme"/>
          <p:cNvSpPr/>
          <p:nvPr/>
        </p:nvSpPr>
        <p:spPr>
          <a:xfrm>
            <a:off x="3887114" y="2162881"/>
            <a:ext cx="150571" cy="155590"/>
          </a:xfrm>
          <a:prstGeom prst="blockArc">
            <a:avLst>
              <a:gd name="adj1" fmla="val 10800000"/>
              <a:gd name="adj2" fmla="val 0"/>
              <a:gd name="adj3" fmla="val 17000"/>
            </a:avLst>
          </a:prstGeom>
          <a:solidFill>
            <a:srgbClr val="FFFFFF"/>
          </a:solidFill>
          <a:ln>
            <a:noFill/>
          </a:ln>
          <a:effectLst/>
        </p:spPr>
        <p:txBody>
          <a:bodyPr/>
          <a:lstStyle/>
          <a:p>
            <a:endParaRPr lang="fr-FR"/>
          </a:p>
        </p:txBody>
      </p:sp>
      <p:sp>
        <p:nvSpPr>
          <p:cNvPr id="19" name="forme"/>
          <p:cNvSpPr/>
          <p:nvPr/>
        </p:nvSpPr>
        <p:spPr>
          <a:xfrm>
            <a:off x="3857000" y="2253224"/>
            <a:ext cx="210800" cy="125476"/>
          </a:xfrm>
          <a:prstGeom prst="roundRect">
            <a:avLst>
              <a:gd name="adj" fmla="val 50000"/>
            </a:avLst>
          </a:prstGeom>
          <a:solidFill>
            <a:srgbClr val="FFFFFF"/>
          </a:solidFill>
          <a:ln>
            <a:noFill/>
          </a:ln>
          <a:effectLst/>
        </p:spPr>
        <p:txBody>
          <a:bodyPr/>
          <a:lstStyle/>
          <a:p>
            <a:endParaRPr lang="fr-FR"/>
          </a:p>
        </p:txBody>
      </p:sp>
      <p:sp>
        <p:nvSpPr>
          <p:cNvPr id="20" name="forme"/>
          <p:cNvSpPr/>
          <p:nvPr/>
        </p:nvSpPr>
        <p:spPr>
          <a:xfrm>
            <a:off x="3942324" y="2290867"/>
            <a:ext cx="40152" cy="40152"/>
          </a:xfrm>
          <a:prstGeom prst="ellipse">
            <a:avLst/>
          </a:prstGeom>
          <a:solidFill>
            <a:srgbClr val="1C3359"/>
          </a:solidFill>
          <a:ln>
            <a:noFill/>
          </a:ln>
          <a:effectLst/>
        </p:spPr>
        <p:txBody>
          <a:bodyPr/>
          <a:lstStyle/>
          <a:p>
            <a:endParaRPr lang="fr-FR"/>
          </a:p>
        </p:txBody>
      </p:sp>
      <p:sp>
        <p:nvSpPr>
          <p:cNvPr id="21" name="forme"/>
          <p:cNvSpPr/>
          <p:nvPr/>
        </p:nvSpPr>
        <p:spPr>
          <a:xfrm>
            <a:off x="3954871" y="2313452"/>
            <a:ext cx="15057" cy="35133"/>
          </a:xfrm>
          <a:prstGeom prst="rect">
            <a:avLst/>
          </a:prstGeom>
          <a:solidFill>
            <a:srgbClr val="1C3359"/>
          </a:solidFill>
          <a:ln>
            <a:noFill/>
          </a:ln>
          <a:effectLst/>
        </p:spPr>
        <p:txBody>
          <a:bodyPr/>
          <a:lstStyle/>
          <a:p>
            <a:endParaRPr lang="fr-FR"/>
          </a:p>
        </p:txBody>
      </p:sp>
      <p:sp>
        <p:nvSpPr>
          <p:cNvPr id="22" name="forme"/>
          <p:cNvSpPr/>
          <p:nvPr/>
        </p:nvSpPr>
        <p:spPr>
          <a:xfrm>
            <a:off x="3721100" y="26416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Accès réels, par direction</a:t>
            </a:r>
            <a:endParaRPr lang="fr-FR" sz="100"/>
          </a:p>
        </p:txBody>
      </p:sp>
      <p:sp>
        <p:nvSpPr>
          <p:cNvPr id="23" name="forme"/>
          <p:cNvSpPr/>
          <p:nvPr/>
        </p:nvSpPr>
        <p:spPr>
          <a:xfrm>
            <a:off x="3721100" y="3098800"/>
            <a:ext cx="1993900" cy="9906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Un mot de passe par direction, mots de passe scrypt, session signée par le serveur : impossible de se faire passer pour une autre BU.</a:t>
            </a:r>
            <a:endParaRPr lang="fr-FR" sz="100"/>
          </a:p>
        </p:txBody>
      </p:sp>
      <p:sp>
        <p:nvSpPr>
          <p:cNvPr id="24" name="forme"/>
          <p:cNvSpPr/>
          <p:nvPr/>
        </p:nvSpPr>
        <p:spPr>
          <a:xfrm>
            <a:off x="6223000" y="1778000"/>
            <a:ext cx="2501900" cy="2489200"/>
          </a:xfrm>
          <a:prstGeom prst="roundRect">
            <a:avLst>
              <a:gd name="adj" fmla="val 12245"/>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25" name="forme"/>
          <p:cNvSpPr/>
          <p:nvPr/>
        </p:nvSpPr>
        <p:spPr>
          <a:xfrm>
            <a:off x="6223000" y="1778000"/>
            <a:ext cx="50800" cy="2489200"/>
          </a:xfrm>
          <a:prstGeom prst="roundRect">
            <a:avLst>
              <a:gd name="adj" fmla="val 50000"/>
            </a:avLst>
          </a:prstGeom>
          <a:solidFill>
            <a:srgbClr val="B6AD6E"/>
          </a:solidFill>
          <a:ln>
            <a:noFill/>
          </a:ln>
          <a:effectLst/>
        </p:spPr>
        <p:txBody>
          <a:bodyPr/>
          <a:lstStyle/>
          <a:p>
            <a:endParaRPr lang="fr-FR"/>
          </a:p>
        </p:txBody>
      </p:sp>
      <p:sp>
        <p:nvSpPr>
          <p:cNvPr id="26" name="forme"/>
          <p:cNvSpPr/>
          <p:nvPr/>
        </p:nvSpPr>
        <p:spPr>
          <a:xfrm>
            <a:off x="6477000" y="2032000"/>
            <a:ext cx="482600" cy="482600"/>
          </a:xfrm>
          <a:prstGeom prst="roundRect">
            <a:avLst>
              <a:gd name="adj" fmla="val 50000"/>
            </a:avLst>
          </a:prstGeom>
          <a:solidFill>
            <a:srgbClr val="1C3359"/>
          </a:solidFill>
          <a:ln>
            <a:noFill/>
          </a:ln>
          <a:effectLst/>
        </p:spPr>
        <p:txBody>
          <a:bodyPr/>
          <a:lstStyle/>
          <a:p>
            <a:endParaRPr lang="fr-FR"/>
          </a:p>
        </p:txBody>
      </p:sp>
      <p:sp>
        <p:nvSpPr>
          <p:cNvPr id="27" name="forme"/>
          <p:cNvSpPr/>
          <p:nvPr/>
        </p:nvSpPr>
        <p:spPr>
          <a:xfrm rot="2700000">
            <a:off x="6620429" y="2305924"/>
            <a:ext cx="77795" cy="30114"/>
          </a:xfrm>
          <a:prstGeom prst="roundRect">
            <a:avLst>
              <a:gd name="adj" fmla="val 50000"/>
            </a:avLst>
          </a:prstGeom>
          <a:solidFill>
            <a:srgbClr val="FFFFFF"/>
          </a:solidFill>
          <a:ln>
            <a:noFill/>
          </a:ln>
          <a:effectLst/>
        </p:spPr>
        <p:txBody>
          <a:bodyPr/>
          <a:lstStyle/>
          <a:p>
            <a:endParaRPr lang="fr-FR"/>
          </a:p>
        </p:txBody>
      </p:sp>
      <p:sp>
        <p:nvSpPr>
          <p:cNvPr id="28" name="forme"/>
          <p:cNvSpPr/>
          <p:nvPr/>
        </p:nvSpPr>
        <p:spPr>
          <a:xfrm rot="-2700000">
            <a:off x="6663091" y="2275810"/>
            <a:ext cx="163119" cy="30114"/>
          </a:xfrm>
          <a:prstGeom prst="roundRect">
            <a:avLst>
              <a:gd name="adj" fmla="val 50000"/>
            </a:avLst>
          </a:prstGeom>
          <a:solidFill>
            <a:srgbClr val="FFFFFF"/>
          </a:solidFill>
          <a:ln>
            <a:noFill/>
          </a:ln>
          <a:effectLst/>
        </p:spPr>
        <p:txBody>
          <a:bodyPr/>
          <a:lstStyle/>
          <a:p>
            <a:endParaRPr lang="fr-FR"/>
          </a:p>
        </p:txBody>
      </p:sp>
      <p:sp>
        <p:nvSpPr>
          <p:cNvPr id="29" name="forme"/>
          <p:cNvSpPr/>
          <p:nvPr/>
        </p:nvSpPr>
        <p:spPr>
          <a:xfrm>
            <a:off x="6477000" y="26416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Fidélité de l'extraction</a:t>
            </a:r>
            <a:endParaRPr lang="fr-FR" sz="100"/>
          </a:p>
        </p:txBody>
      </p:sp>
      <p:sp>
        <p:nvSpPr>
          <p:cNvPr id="30" name="forme"/>
          <p:cNvSpPr/>
          <p:nvPr/>
        </p:nvSpPr>
        <p:spPr>
          <a:xfrm>
            <a:off x="6477000" y="3098800"/>
            <a:ext cx="1993900" cy="9906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Articles copiés mot à mot, références complètes, URL jamais inventée : « N/A » si l'information manque.</a:t>
            </a:r>
            <a:endParaRPr lang="fr-FR" sz="100"/>
          </a:p>
        </p:txBody>
      </p:sp>
      <p:sp>
        <p:nvSpPr>
          <p:cNvPr id="31" name="forme"/>
          <p:cNvSpPr/>
          <p:nvPr/>
        </p:nvSpPr>
        <p:spPr>
          <a:xfrm>
            <a:off x="8978900" y="1778000"/>
            <a:ext cx="2501900" cy="2489200"/>
          </a:xfrm>
          <a:prstGeom prst="roundRect">
            <a:avLst>
              <a:gd name="adj" fmla="val 12245"/>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32" name="forme"/>
          <p:cNvSpPr/>
          <p:nvPr/>
        </p:nvSpPr>
        <p:spPr>
          <a:xfrm>
            <a:off x="8978900" y="1778000"/>
            <a:ext cx="50800" cy="2489200"/>
          </a:xfrm>
          <a:prstGeom prst="roundRect">
            <a:avLst>
              <a:gd name="adj" fmla="val 50000"/>
            </a:avLst>
          </a:prstGeom>
          <a:solidFill>
            <a:srgbClr val="B6AD6E"/>
          </a:solidFill>
          <a:ln>
            <a:noFill/>
          </a:ln>
          <a:effectLst/>
        </p:spPr>
        <p:txBody>
          <a:bodyPr/>
          <a:lstStyle/>
          <a:p>
            <a:endParaRPr lang="fr-FR"/>
          </a:p>
        </p:txBody>
      </p:sp>
      <p:sp>
        <p:nvSpPr>
          <p:cNvPr id="33" name="forme"/>
          <p:cNvSpPr/>
          <p:nvPr/>
        </p:nvSpPr>
        <p:spPr>
          <a:xfrm>
            <a:off x="9232900" y="2032000"/>
            <a:ext cx="482600" cy="482600"/>
          </a:xfrm>
          <a:prstGeom prst="roundRect">
            <a:avLst>
              <a:gd name="adj" fmla="val 50000"/>
            </a:avLst>
          </a:prstGeom>
          <a:solidFill>
            <a:srgbClr val="1C3359"/>
          </a:solidFill>
          <a:ln>
            <a:noFill/>
          </a:ln>
          <a:effectLst/>
        </p:spPr>
        <p:txBody>
          <a:bodyPr/>
          <a:lstStyle/>
          <a:p>
            <a:endParaRPr lang="fr-FR"/>
          </a:p>
        </p:txBody>
      </p:sp>
      <p:sp>
        <p:nvSpPr>
          <p:cNvPr id="34" name="forme"/>
          <p:cNvSpPr/>
          <p:nvPr/>
        </p:nvSpPr>
        <p:spPr>
          <a:xfrm>
            <a:off x="9358762" y="2157862"/>
            <a:ext cx="230876" cy="230876"/>
          </a:xfrm>
          <a:prstGeom prst="ellipse">
            <a:avLst/>
          </a:prstGeom>
          <a:solidFill>
            <a:srgbClr val="FFFFFF"/>
          </a:solidFill>
          <a:ln>
            <a:noFill/>
          </a:ln>
          <a:effectLst/>
        </p:spPr>
        <p:txBody>
          <a:bodyPr/>
          <a:lstStyle/>
          <a:p>
            <a:endParaRPr lang="fr-FR"/>
          </a:p>
        </p:txBody>
      </p:sp>
      <p:sp>
        <p:nvSpPr>
          <p:cNvPr id="35" name="forme"/>
          <p:cNvSpPr/>
          <p:nvPr/>
        </p:nvSpPr>
        <p:spPr>
          <a:xfrm>
            <a:off x="9466671" y="2213072"/>
            <a:ext cx="15057" cy="70267"/>
          </a:xfrm>
          <a:prstGeom prst="roundRect">
            <a:avLst>
              <a:gd name="adj" fmla="val 50000"/>
            </a:avLst>
          </a:prstGeom>
          <a:solidFill>
            <a:srgbClr val="1C3359"/>
          </a:solidFill>
          <a:ln>
            <a:noFill/>
          </a:ln>
          <a:effectLst/>
        </p:spPr>
        <p:txBody>
          <a:bodyPr/>
          <a:lstStyle/>
          <a:p>
            <a:endParaRPr lang="fr-FR"/>
          </a:p>
        </p:txBody>
      </p:sp>
      <p:sp>
        <p:nvSpPr>
          <p:cNvPr id="36" name="forme"/>
          <p:cNvSpPr/>
          <p:nvPr/>
        </p:nvSpPr>
        <p:spPr>
          <a:xfrm>
            <a:off x="9471690" y="2265771"/>
            <a:ext cx="65248" cy="15057"/>
          </a:xfrm>
          <a:prstGeom prst="roundRect">
            <a:avLst>
              <a:gd name="adj" fmla="val 50000"/>
            </a:avLst>
          </a:prstGeom>
          <a:solidFill>
            <a:srgbClr val="1C3359"/>
          </a:solidFill>
          <a:ln>
            <a:noFill/>
          </a:ln>
          <a:effectLst/>
        </p:spPr>
        <p:txBody>
          <a:bodyPr/>
          <a:lstStyle/>
          <a:p>
            <a:endParaRPr lang="fr-FR"/>
          </a:p>
        </p:txBody>
      </p:sp>
      <p:sp>
        <p:nvSpPr>
          <p:cNvPr id="37" name="forme"/>
          <p:cNvSpPr/>
          <p:nvPr/>
        </p:nvSpPr>
        <p:spPr>
          <a:xfrm>
            <a:off x="9232900" y="2641600"/>
            <a:ext cx="1993900" cy="431800"/>
          </a:xfrm>
          <a:prstGeom prst="rect">
            <a:avLst/>
          </a:prstGeom>
          <a:noFill/>
          <a:ln>
            <a:noFill/>
          </a:ln>
          <a:effectLst/>
        </p:spPr>
        <p:txBody>
          <a:bodyPr wrap="square" lIns="0" tIns="0" rIns="0" bIns="0" anchor="t">
            <a:noAutofit/>
          </a:bodyPr>
          <a:lstStyle/>
          <a:p>
            <a:pPr>
              <a:lnSpc>
                <a:spcPct val="106000"/>
              </a:lnSpc>
              <a:buNone/>
            </a:pPr>
            <a:r>
              <a:rPr lang="fr-FR" sz="1250" b="1" dirty="0">
                <a:solidFill>
                  <a:srgbClr val="1C3359"/>
                </a:solidFill>
                <a:latin typeface="Segoe UI"/>
                <a:cs typeface="Segoe UI"/>
              </a:rPr>
              <a:t>Historique SCD type 2</a:t>
            </a:r>
            <a:endParaRPr lang="fr-FR" sz="100"/>
          </a:p>
        </p:txBody>
      </p:sp>
      <p:sp>
        <p:nvSpPr>
          <p:cNvPr id="38" name="forme"/>
          <p:cNvSpPr/>
          <p:nvPr/>
        </p:nvSpPr>
        <p:spPr>
          <a:xfrm>
            <a:off x="9232900" y="3098800"/>
            <a:ext cx="1993900" cy="990600"/>
          </a:xfrm>
          <a:prstGeom prst="rect">
            <a:avLst/>
          </a:prstGeom>
          <a:noFill/>
          <a:ln>
            <a:noFill/>
          </a:ln>
          <a:effectLst/>
        </p:spPr>
        <p:txBody>
          <a:bodyPr wrap="square" lIns="0" tIns="0" rIns="0" bIns="0" anchor="t">
            <a:noAutofit/>
          </a:bodyPr>
          <a:lstStyle/>
          <a:p>
            <a:pPr>
              <a:lnSpc>
                <a:spcPct val="125000"/>
              </a:lnSpc>
              <a:buNone/>
            </a:pPr>
            <a:r>
              <a:rPr lang="fr-FR" sz="950" b="0" dirty="0">
                <a:solidFill>
                  <a:srgbClr val="4C5C72"/>
                </a:solidFill>
                <a:latin typeface="Segoe UI"/>
                <a:cs typeface="Segoe UI"/>
              </a:rPr>
              <a:t>Chaque enregistrement fige la version précédente et alimente un journal lisible : qui, quoi, quand, champs modifiés.</a:t>
            </a:r>
            <a:endParaRPr lang="fr-FR" sz="100"/>
          </a:p>
        </p:txBody>
      </p:sp>
      <p:sp>
        <p:nvSpPr>
          <p:cNvPr id="39" name="forme"/>
          <p:cNvSpPr/>
          <p:nvPr/>
        </p:nvSpPr>
        <p:spPr>
          <a:xfrm>
            <a:off x="711200" y="4597400"/>
            <a:ext cx="10769600" cy="1422400"/>
          </a:xfrm>
          <a:prstGeom prst="roundRect">
            <a:avLst>
              <a:gd name="adj" fmla="val 21429"/>
            </a:avLst>
          </a:prstGeom>
          <a:solidFill>
            <a:srgbClr val="1C3359"/>
          </a:solidFill>
          <a:ln>
            <a:noFill/>
          </a:ln>
          <a:effectLst/>
        </p:spPr>
        <p:txBody>
          <a:bodyPr/>
          <a:lstStyle/>
          <a:p>
            <a:endParaRPr lang="fr-FR"/>
          </a:p>
        </p:txBody>
      </p:sp>
      <p:sp>
        <p:nvSpPr>
          <p:cNvPr id="40" name="forme"/>
          <p:cNvSpPr/>
          <p:nvPr/>
        </p:nvSpPr>
        <p:spPr>
          <a:xfrm>
            <a:off x="990600" y="5054600"/>
            <a:ext cx="508000" cy="508000"/>
          </a:xfrm>
          <a:prstGeom prst="roundRect">
            <a:avLst>
              <a:gd name="adj" fmla="val 50000"/>
            </a:avLst>
          </a:prstGeom>
          <a:solidFill>
            <a:srgbClr val="2C4A78"/>
          </a:solidFill>
          <a:ln>
            <a:noFill/>
          </a:ln>
          <a:effectLst/>
        </p:spPr>
        <p:txBody>
          <a:bodyPr/>
          <a:lstStyle/>
          <a:p>
            <a:endParaRPr lang="fr-FR"/>
          </a:p>
        </p:txBody>
      </p:sp>
      <p:sp>
        <p:nvSpPr>
          <p:cNvPr id="41" name="forme"/>
          <p:cNvSpPr/>
          <p:nvPr/>
        </p:nvSpPr>
        <p:spPr>
          <a:xfrm>
            <a:off x="1117803" y="5208219"/>
            <a:ext cx="253594" cy="68682"/>
          </a:xfrm>
          <a:prstGeom prst="parallelogram">
            <a:avLst>
              <a:gd name="adj" fmla="val 22000"/>
            </a:avLst>
          </a:prstGeom>
          <a:solidFill>
            <a:srgbClr val="FFFFFF"/>
          </a:solidFill>
          <a:ln>
            <a:noFill/>
          </a:ln>
          <a:effectLst/>
        </p:spPr>
        <p:txBody>
          <a:bodyPr/>
          <a:lstStyle/>
          <a:p>
            <a:endParaRPr lang="fr-FR"/>
          </a:p>
        </p:txBody>
      </p:sp>
      <p:sp>
        <p:nvSpPr>
          <p:cNvPr id="42" name="forme"/>
          <p:cNvSpPr/>
          <p:nvPr/>
        </p:nvSpPr>
        <p:spPr>
          <a:xfrm>
            <a:off x="1117803" y="5276901"/>
            <a:ext cx="253594" cy="68682"/>
          </a:xfrm>
          <a:prstGeom prst="parallelogram">
            <a:avLst>
              <a:gd name="adj" fmla="val 22000"/>
            </a:avLst>
          </a:prstGeom>
          <a:solidFill>
            <a:srgbClr val="FFFFFF"/>
          </a:solidFill>
          <a:ln>
            <a:noFill/>
          </a:ln>
          <a:effectLst/>
        </p:spPr>
        <p:txBody>
          <a:bodyPr/>
          <a:lstStyle/>
          <a:p>
            <a:endParaRPr lang="fr-FR"/>
          </a:p>
        </p:txBody>
      </p:sp>
      <p:sp>
        <p:nvSpPr>
          <p:cNvPr id="43" name="forme"/>
          <p:cNvSpPr/>
          <p:nvPr/>
        </p:nvSpPr>
        <p:spPr>
          <a:xfrm>
            <a:off x="1117803" y="5345582"/>
            <a:ext cx="253594" cy="68682"/>
          </a:xfrm>
          <a:prstGeom prst="parallelogram">
            <a:avLst>
              <a:gd name="adj" fmla="val 22000"/>
            </a:avLst>
          </a:prstGeom>
          <a:solidFill>
            <a:srgbClr val="FFFFFF"/>
          </a:solidFill>
          <a:ln>
            <a:noFill/>
          </a:ln>
          <a:effectLst/>
        </p:spPr>
        <p:txBody>
          <a:bodyPr/>
          <a:lstStyle/>
          <a:p>
            <a:endParaRPr lang="fr-FR"/>
          </a:p>
        </p:txBody>
      </p:sp>
      <p:sp>
        <p:nvSpPr>
          <p:cNvPr id="44" name="forme"/>
          <p:cNvSpPr/>
          <p:nvPr/>
        </p:nvSpPr>
        <p:spPr>
          <a:xfrm>
            <a:off x="1701800" y="4775200"/>
            <a:ext cx="9372600" cy="254000"/>
          </a:xfrm>
          <a:prstGeom prst="rect">
            <a:avLst/>
          </a:prstGeom>
          <a:noFill/>
          <a:ln>
            <a:noFill/>
          </a:ln>
          <a:effectLst/>
        </p:spPr>
        <p:txBody>
          <a:bodyPr wrap="square" lIns="0" tIns="0" rIns="0" bIns="0" anchor="t">
            <a:noAutofit/>
          </a:bodyPr>
          <a:lstStyle/>
          <a:p>
            <a:pPr>
              <a:buNone/>
            </a:pPr>
            <a:r>
              <a:rPr lang="fr-FR" sz="1150" b="1" dirty="0">
                <a:solidFill>
                  <a:srgbClr val="FFFFFF"/>
                </a:solidFill>
                <a:latin typeface="Segoe UI"/>
                <a:cs typeface="Segoe UI"/>
              </a:rPr>
              <a:t>Une fiche modifiée trois fois reste consultable dans chacun de ses états</a:t>
            </a:r>
            <a:endParaRPr lang="fr-FR" sz="100"/>
          </a:p>
        </p:txBody>
      </p:sp>
      <p:sp>
        <p:nvSpPr>
          <p:cNvPr id="45" name="forme"/>
          <p:cNvSpPr/>
          <p:nvPr/>
        </p:nvSpPr>
        <p:spPr>
          <a:xfrm>
            <a:off x="1701800" y="5054600"/>
            <a:ext cx="9372600" cy="228600"/>
          </a:xfrm>
          <a:prstGeom prst="rect">
            <a:avLst/>
          </a:prstGeom>
          <a:noFill/>
          <a:ln>
            <a:noFill/>
          </a:ln>
          <a:effectLst/>
        </p:spPr>
        <p:txBody>
          <a:bodyPr wrap="square" lIns="0" tIns="0" rIns="0" bIns="0" anchor="t">
            <a:noAutofit/>
          </a:bodyPr>
          <a:lstStyle/>
          <a:p>
            <a:pPr>
              <a:buNone/>
            </a:pPr>
            <a:r>
              <a:rPr lang="fr-FR" sz="1000" b="0" dirty="0">
                <a:solidFill>
                  <a:srgbClr val="C3D0E2"/>
                </a:solidFill>
                <a:latin typeface="Segoe UI"/>
                <a:cs typeface="Segoe UI"/>
              </a:rPr>
              <a:t>Auteur, date et détail des champs modifiés sont conservés à chaque version.</a:t>
            </a:r>
            <a:endParaRPr lang="fr-FR" sz="100"/>
          </a:p>
        </p:txBody>
      </p:sp>
      <p:sp>
        <p:nvSpPr>
          <p:cNvPr id="46" name="forme"/>
          <p:cNvSpPr/>
          <p:nvPr/>
        </p:nvSpPr>
        <p:spPr>
          <a:xfrm>
            <a:off x="1701800" y="5562600"/>
            <a:ext cx="9296400" cy="12700"/>
          </a:xfrm>
          <a:prstGeom prst="rect">
            <a:avLst/>
          </a:prstGeom>
          <a:solidFill>
            <a:srgbClr val="5D7093"/>
          </a:solidFill>
          <a:ln>
            <a:noFill/>
          </a:ln>
          <a:effectLst/>
        </p:spPr>
        <p:txBody>
          <a:bodyPr/>
          <a:lstStyle/>
          <a:p>
            <a:endParaRPr lang="fr-FR"/>
          </a:p>
        </p:txBody>
      </p:sp>
      <p:sp>
        <p:nvSpPr>
          <p:cNvPr id="47" name="forme"/>
          <p:cNvSpPr/>
          <p:nvPr/>
        </p:nvSpPr>
        <p:spPr>
          <a:xfrm>
            <a:off x="1701800" y="5384800"/>
            <a:ext cx="1367536" cy="355600"/>
          </a:xfrm>
          <a:prstGeom prst="roundRect">
            <a:avLst>
              <a:gd name="adj" fmla="val 50000"/>
            </a:avLst>
          </a:prstGeom>
          <a:solidFill>
            <a:srgbClr val="1C3359">
              <a:alpha val="100000"/>
            </a:srgbClr>
          </a:solidFill>
          <a:ln w="9525" cap="flat">
            <a:solidFill>
              <a:srgbClr val="B6AD6E">
                <a:alpha val="45000"/>
              </a:srgbClr>
            </a:solidFill>
            <a:prstDash val="solid"/>
            <a:flat/>
          </a:ln>
          <a:effectLst/>
        </p:spPr>
        <p:txBody>
          <a:bodyPr/>
          <a:lstStyle/>
          <a:p>
            <a:endParaRPr lang="fr-FR"/>
          </a:p>
        </p:txBody>
      </p:sp>
      <p:sp>
        <p:nvSpPr>
          <p:cNvPr id="48" name="forme"/>
          <p:cNvSpPr/>
          <p:nvPr/>
        </p:nvSpPr>
        <p:spPr>
          <a:xfrm>
            <a:off x="1701800" y="5384800"/>
            <a:ext cx="1367536" cy="355600"/>
          </a:xfrm>
          <a:prstGeom prst="rect">
            <a:avLst/>
          </a:prstGeom>
          <a:noFill/>
          <a:ln>
            <a:noFill/>
          </a:ln>
          <a:effectLst/>
        </p:spPr>
        <p:txBody>
          <a:bodyPr wrap="square" lIns="0" tIns="0" rIns="0" bIns="0" anchor="ctr">
            <a:noAutofit/>
          </a:bodyPr>
          <a:lstStyle/>
          <a:p>
            <a:pPr algn="ctr">
              <a:buNone/>
            </a:pPr>
            <a:r>
              <a:rPr lang="fr-FR" sz="900" b="1" dirty="0">
                <a:solidFill>
                  <a:srgbClr val="D5DFEE"/>
                </a:solidFill>
                <a:latin typeface="Segoe UI"/>
                <a:cs typeface="Segoe UI"/>
              </a:rPr>
              <a:t>Version 1 · figée</a:t>
            </a:r>
            <a:endParaRPr lang="fr-FR" sz="100"/>
          </a:p>
        </p:txBody>
      </p:sp>
      <p:sp>
        <p:nvSpPr>
          <p:cNvPr id="49" name="forme"/>
          <p:cNvSpPr/>
          <p:nvPr/>
        </p:nvSpPr>
        <p:spPr>
          <a:xfrm>
            <a:off x="3588173" y="5473700"/>
            <a:ext cx="165100" cy="177800"/>
          </a:xfrm>
          <a:prstGeom prst="chevron">
            <a:avLst/>
          </a:prstGeom>
          <a:solidFill>
            <a:srgbClr val="B6AD6E"/>
          </a:solidFill>
          <a:ln>
            <a:noFill/>
          </a:ln>
          <a:effectLst/>
        </p:spPr>
        <p:txBody>
          <a:bodyPr/>
          <a:lstStyle/>
          <a:p>
            <a:endParaRPr lang="fr-FR"/>
          </a:p>
        </p:txBody>
      </p:sp>
      <p:sp>
        <p:nvSpPr>
          <p:cNvPr id="50" name="forme"/>
          <p:cNvSpPr/>
          <p:nvPr/>
        </p:nvSpPr>
        <p:spPr>
          <a:xfrm>
            <a:off x="4259411" y="5384800"/>
            <a:ext cx="1559560" cy="355600"/>
          </a:xfrm>
          <a:prstGeom prst="roundRect">
            <a:avLst>
              <a:gd name="adj" fmla="val 50000"/>
            </a:avLst>
          </a:prstGeom>
          <a:solidFill>
            <a:srgbClr val="2C4A78">
              <a:alpha val="100000"/>
            </a:srgbClr>
          </a:solidFill>
          <a:ln w="9525" cap="flat">
            <a:solidFill>
              <a:srgbClr val="B6AD6E">
                <a:alpha val="100000"/>
              </a:srgbClr>
            </a:solidFill>
            <a:prstDash val="solid"/>
            <a:flat/>
          </a:ln>
          <a:effectLst/>
        </p:spPr>
        <p:txBody>
          <a:bodyPr/>
          <a:lstStyle/>
          <a:p>
            <a:endParaRPr lang="fr-FR"/>
          </a:p>
        </p:txBody>
      </p:sp>
      <p:sp>
        <p:nvSpPr>
          <p:cNvPr id="51" name="forme"/>
          <p:cNvSpPr/>
          <p:nvPr/>
        </p:nvSpPr>
        <p:spPr>
          <a:xfrm>
            <a:off x="4259411" y="5384800"/>
            <a:ext cx="1559560" cy="355600"/>
          </a:xfrm>
          <a:prstGeom prst="rect">
            <a:avLst/>
          </a:prstGeom>
          <a:noFill/>
          <a:ln>
            <a:noFill/>
          </a:ln>
          <a:effectLst/>
        </p:spPr>
        <p:txBody>
          <a:bodyPr wrap="square" lIns="0" tIns="0" rIns="0" bIns="0" anchor="ctr">
            <a:noAutofit/>
          </a:bodyPr>
          <a:lstStyle/>
          <a:p>
            <a:pPr algn="ctr">
              <a:buNone/>
            </a:pPr>
            <a:r>
              <a:rPr lang="fr-FR" sz="900" b="1" dirty="0">
                <a:solidFill>
                  <a:srgbClr val="B6AD6E"/>
                </a:solidFill>
                <a:latin typeface="Segoe UI"/>
                <a:cs typeface="Segoe UI"/>
              </a:rPr>
              <a:t>Version 2 · courante</a:t>
            </a:r>
            <a:endParaRPr lang="fr-FR" sz="100"/>
          </a:p>
        </p:txBody>
      </p:sp>
      <p:sp>
        <p:nvSpPr>
          <p:cNvPr id="52" name="forme"/>
          <p:cNvSpPr/>
          <p:nvPr/>
        </p:nvSpPr>
        <p:spPr>
          <a:xfrm>
            <a:off x="6337808" y="5473700"/>
            <a:ext cx="165100" cy="177800"/>
          </a:xfrm>
          <a:prstGeom prst="chevron">
            <a:avLst/>
          </a:prstGeom>
          <a:solidFill>
            <a:srgbClr val="B6AD6E"/>
          </a:solidFill>
          <a:ln>
            <a:noFill/>
          </a:ln>
          <a:effectLst/>
        </p:spPr>
        <p:txBody>
          <a:bodyPr/>
          <a:lstStyle/>
          <a:p>
            <a:endParaRPr lang="fr-FR"/>
          </a:p>
        </p:txBody>
      </p:sp>
      <p:sp>
        <p:nvSpPr>
          <p:cNvPr id="53" name="forme"/>
          <p:cNvSpPr/>
          <p:nvPr/>
        </p:nvSpPr>
        <p:spPr>
          <a:xfrm>
            <a:off x="7009045" y="5384800"/>
            <a:ext cx="1559560" cy="355600"/>
          </a:xfrm>
          <a:prstGeom prst="roundRect">
            <a:avLst>
              <a:gd name="adj" fmla="val 50000"/>
            </a:avLst>
          </a:prstGeom>
          <a:solidFill>
            <a:srgbClr val="1C3359">
              <a:alpha val="100000"/>
            </a:srgbClr>
          </a:solidFill>
          <a:ln w="9525" cap="flat">
            <a:solidFill>
              <a:srgbClr val="B6AD6E">
                <a:alpha val="45000"/>
              </a:srgbClr>
            </a:solidFill>
            <a:prstDash val="solid"/>
            <a:flat/>
          </a:ln>
          <a:effectLst/>
        </p:spPr>
        <p:txBody>
          <a:bodyPr/>
          <a:lstStyle/>
          <a:p>
            <a:endParaRPr lang="fr-FR"/>
          </a:p>
        </p:txBody>
      </p:sp>
      <p:sp>
        <p:nvSpPr>
          <p:cNvPr id="54" name="forme"/>
          <p:cNvSpPr/>
          <p:nvPr/>
        </p:nvSpPr>
        <p:spPr>
          <a:xfrm>
            <a:off x="7009045" y="5384800"/>
            <a:ext cx="1559560" cy="355600"/>
          </a:xfrm>
          <a:prstGeom prst="rect">
            <a:avLst/>
          </a:prstGeom>
          <a:noFill/>
          <a:ln>
            <a:noFill/>
          </a:ln>
          <a:effectLst/>
        </p:spPr>
        <p:txBody>
          <a:bodyPr wrap="square" lIns="0" tIns="0" rIns="0" bIns="0" anchor="ctr">
            <a:noAutofit/>
          </a:bodyPr>
          <a:lstStyle/>
          <a:p>
            <a:pPr algn="ctr">
              <a:buNone/>
            </a:pPr>
            <a:r>
              <a:rPr lang="fr-FR" sz="900" b="1" dirty="0">
                <a:solidFill>
                  <a:srgbClr val="D5DFEE"/>
                </a:solidFill>
                <a:latin typeface="Segoe UI"/>
                <a:cs typeface="Segoe UI"/>
              </a:rPr>
              <a:t>Version 3 · en cours</a:t>
            </a:r>
            <a:endParaRPr lang="fr-FR" sz="100"/>
          </a:p>
        </p:txBody>
      </p:sp>
      <p:sp>
        <p:nvSpPr>
          <p:cNvPr id="55" name="forme"/>
          <p:cNvSpPr/>
          <p:nvPr/>
        </p:nvSpPr>
        <p:spPr>
          <a:xfrm>
            <a:off x="9087443" y="5473700"/>
            <a:ext cx="165100" cy="177800"/>
          </a:xfrm>
          <a:prstGeom prst="chevron">
            <a:avLst/>
          </a:prstGeom>
          <a:solidFill>
            <a:srgbClr val="B6AD6E"/>
          </a:solidFill>
          <a:ln>
            <a:noFill/>
          </a:ln>
          <a:effectLst/>
        </p:spPr>
        <p:txBody>
          <a:bodyPr/>
          <a:lstStyle/>
          <a:p>
            <a:endParaRPr lang="fr-FR"/>
          </a:p>
        </p:txBody>
      </p:sp>
      <p:sp>
        <p:nvSpPr>
          <p:cNvPr id="56" name="forme"/>
          <p:cNvSpPr/>
          <p:nvPr/>
        </p:nvSpPr>
        <p:spPr>
          <a:xfrm>
            <a:off x="9758680" y="5384800"/>
            <a:ext cx="1239520" cy="355600"/>
          </a:xfrm>
          <a:prstGeom prst="roundRect">
            <a:avLst>
              <a:gd name="adj" fmla="val 50000"/>
            </a:avLst>
          </a:prstGeom>
          <a:solidFill>
            <a:srgbClr val="1C3359">
              <a:alpha val="100000"/>
            </a:srgbClr>
          </a:solidFill>
          <a:ln w="9525" cap="flat">
            <a:solidFill>
              <a:srgbClr val="B6AD6E">
                <a:alpha val="45000"/>
              </a:srgbClr>
            </a:solidFill>
            <a:prstDash val="solid"/>
            <a:flat/>
          </a:ln>
          <a:effectLst/>
        </p:spPr>
        <p:txBody>
          <a:bodyPr/>
          <a:lstStyle/>
          <a:p>
            <a:endParaRPr lang="fr-FR"/>
          </a:p>
        </p:txBody>
      </p:sp>
      <p:sp>
        <p:nvSpPr>
          <p:cNvPr id="57" name="forme"/>
          <p:cNvSpPr/>
          <p:nvPr/>
        </p:nvSpPr>
        <p:spPr>
          <a:xfrm>
            <a:off x="9758680" y="5384800"/>
            <a:ext cx="1239520" cy="355600"/>
          </a:xfrm>
          <a:prstGeom prst="rect">
            <a:avLst/>
          </a:prstGeom>
          <a:noFill/>
          <a:ln>
            <a:noFill/>
          </a:ln>
          <a:effectLst/>
        </p:spPr>
        <p:txBody>
          <a:bodyPr wrap="square" lIns="0" tIns="0" rIns="0" bIns="0" anchor="ctr">
            <a:noAutofit/>
          </a:bodyPr>
          <a:lstStyle/>
          <a:p>
            <a:pPr algn="ctr">
              <a:buNone/>
            </a:pPr>
            <a:r>
              <a:rPr lang="fr-FR" sz="900" b="1" dirty="0">
                <a:solidFill>
                  <a:srgbClr val="D5DFEE"/>
                </a:solidFill>
                <a:latin typeface="Segoe UI"/>
                <a:cs typeface="Segoe UI"/>
              </a:rPr>
              <a:t>Journal complet</a:t>
            </a:r>
            <a:endParaRPr lang="fr-FR" sz="100"/>
          </a:p>
        </p:txBody>
      </p:sp>
      <p:sp>
        <p:nvSpPr>
          <p:cNvPr id="58" name="forme"/>
          <p:cNvSpPr/>
          <p:nvPr/>
        </p:nvSpPr>
        <p:spPr>
          <a:xfrm>
            <a:off x="711200" y="6400800"/>
            <a:ext cx="10769600" cy="9525"/>
          </a:xfrm>
          <a:prstGeom prst="rect">
            <a:avLst/>
          </a:prstGeom>
          <a:solidFill>
            <a:srgbClr val="DCE3EE"/>
          </a:solidFill>
          <a:ln>
            <a:noFill/>
          </a:ln>
          <a:effectLst/>
        </p:spPr>
        <p:txBody>
          <a:bodyPr/>
          <a:lstStyle/>
          <a:p>
            <a:endParaRPr lang="fr-FR"/>
          </a:p>
        </p:txBody>
      </p:sp>
      <p:sp>
        <p:nvSpPr>
          <p:cNvPr id="59" name="forme"/>
          <p:cNvSpPr/>
          <p:nvPr/>
        </p:nvSpPr>
        <p:spPr>
          <a:xfrm>
            <a:off x="711200" y="6489700"/>
            <a:ext cx="7112000" cy="152400"/>
          </a:xfrm>
          <a:prstGeom prst="rect">
            <a:avLst/>
          </a:prstGeom>
          <a:noFill/>
          <a:ln>
            <a:noFill/>
          </a:ln>
          <a:effectLst/>
        </p:spPr>
        <p:txBody>
          <a:bodyPr wrap="square" lIns="0" tIns="0" rIns="0" bIns="0" anchor="t">
            <a:noAutofit/>
          </a:bodyPr>
          <a:lstStyle/>
          <a:p>
            <a:pPr>
              <a:buNone/>
            </a:pPr>
            <a:r>
              <a:rPr lang="fr-FR" sz="850" b="1" dirty="0">
                <a:solidFill>
                  <a:srgbClr val="8494AB"/>
                </a:solidFill>
                <a:latin typeface="Segoe UI"/>
                <a:cs typeface="Segoe UI"/>
              </a:rPr>
              <a:t>AGL JuriCompliance</a:t>
            </a:r>
            <a:r>
              <a:rPr lang="fr-FR" sz="850" b="0" dirty="0">
                <a:solidFill>
                  <a:srgbClr val="8494AB"/>
                </a:solidFill>
                <a:latin typeface="Segoe UI"/>
                <a:cs typeface="Segoe UI"/>
              </a:rPr>
              <a:t>  ·  Veille réglementaire assistée par IA  ·  Prototype</a:t>
            </a:r>
            <a:endParaRPr lang="fr-FR" sz="100"/>
          </a:p>
        </p:txBody>
      </p:sp>
      <p:sp>
        <p:nvSpPr>
          <p:cNvPr id="60" name="forme"/>
          <p:cNvSpPr/>
          <p:nvPr/>
        </p:nvSpPr>
        <p:spPr>
          <a:xfrm>
            <a:off x="9448800" y="6489700"/>
            <a:ext cx="2032000" cy="152400"/>
          </a:xfrm>
          <a:prstGeom prst="rect">
            <a:avLst/>
          </a:prstGeom>
          <a:noFill/>
          <a:ln>
            <a:noFill/>
          </a:ln>
          <a:effectLst/>
        </p:spPr>
        <p:txBody>
          <a:bodyPr wrap="square" lIns="0" tIns="0" rIns="0" bIns="0" anchor="t">
            <a:noAutofit/>
          </a:bodyPr>
          <a:lstStyle/>
          <a:p>
            <a:pPr algn="r">
              <a:buNone/>
            </a:pPr>
            <a:r>
              <a:rPr lang="fr-FR" sz="850" b="1" dirty="0">
                <a:solidFill>
                  <a:srgbClr val="1C3359"/>
                </a:solidFill>
                <a:latin typeface="Segoe UI"/>
                <a:cs typeface="Segoe UI"/>
              </a:rPr>
              <a:t>5 / 6</a:t>
            </a:r>
            <a:endParaRPr lang="fr-FR" sz="100"/>
          </a:p>
        </p:txBody>
      </p:sp>
    </p:spTree>
  </p:cSld>
  <p:clrMapOvr>
    <a:masterClrMapping/>
  </p:clrMapOvr>
  <mc:AlternateContent>
    <mc:Choice Requires="p14 p159">
      <p:transition spd="slow" p14:dur="9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9="http://schemas.microsoft.com/office/powerpoint/2015/09/main">
  <p:cSld>
    <p:bg>
      <p:bgPr>
        <a:solidFill>
          <a:srgbClr val="FFFFFF"/>
        </a:solidFill>
        <a:effectLst/>
      </p:bgPr>
    </p:bg>
    <p:spTree>
      <p:nvGrpSpPr>
        <p:cNvPr id="1" name=""/>
        <p:cNvGrpSpPr/>
        <p:nvPr/>
      </p:nvGrpSpPr>
      <p:grpSpPr>
        <a:xfrm>
          <a:off x="0" y="0"/>
          <a:ext cx="0" cy="0"/>
          <a:chOff x="0" y="0"/>
          <a:chExt cx="0" cy="0"/>
        </a:xfrm>
      </p:grpSpPr>
      <p:sp>
        <p:nvSpPr>
          <p:cNvPr id="2" name="forme"/>
          <p:cNvSpPr/>
          <p:nvPr/>
        </p:nvSpPr>
        <p:spPr>
          <a:xfrm>
            <a:off x="0" y="0"/>
            <a:ext cx="12192000" cy="1168400"/>
          </a:xfrm>
          <a:prstGeom prst="rect">
            <a:avLst/>
          </a:prstGeom>
          <a:solidFill>
            <a:srgbClr val="1C3359"/>
          </a:solidFill>
          <a:ln>
            <a:noFill/>
          </a:ln>
          <a:effectLst/>
        </p:spPr>
        <p:txBody>
          <a:bodyPr/>
          <a:lstStyle/>
          <a:p>
            <a:endParaRPr lang="fr-FR"/>
          </a:p>
        </p:txBody>
      </p:sp>
      <p:sp>
        <p:nvSpPr>
          <p:cNvPr id="3" name="forme"/>
          <p:cNvSpPr/>
          <p:nvPr/>
        </p:nvSpPr>
        <p:spPr>
          <a:xfrm>
            <a:off x="0" y="1168400"/>
            <a:ext cx="12192000" cy="38100"/>
          </a:xfrm>
          <a:prstGeom prst="rect">
            <a:avLst/>
          </a:prstGeom>
          <a:solidFill>
            <a:srgbClr val="B6AD6E"/>
          </a:solidFill>
          <a:ln>
            <a:noFill/>
          </a:ln>
          <a:effectLst/>
        </p:spPr>
        <p:txBody>
          <a:bodyPr/>
          <a:lstStyle/>
          <a:p>
            <a:endParaRPr lang="fr-FR"/>
          </a:p>
        </p:txBody>
      </p:sp>
      <p:sp>
        <p:nvSpPr>
          <p:cNvPr id="4" name="forme"/>
          <p:cNvSpPr/>
          <p:nvPr/>
        </p:nvSpPr>
        <p:spPr>
          <a:xfrm>
            <a:off x="330200" y="342900"/>
            <a:ext cx="482600" cy="482600"/>
          </a:xfrm>
          <a:prstGeom prst="ellipse">
            <a:avLst/>
          </a:prstGeom>
          <a:noFill/>
          <a:ln w="15875" cap="flat">
            <a:solidFill>
              <a:srgbClr val="B6AD6E"/>
            </a:solidFill>
            <a:prstDash val="solid"/>
            <a:flat/>
          </a:ln>
          <a:effectLst/>
        </p:spPr>
        <p:txBody>
          <a:bodyPr/>
          <a:lstStyle/>
          <a:p>
            <a:endParaRPr lang="fr-FR"/>
          </a:p>
        </p:txBody>
      </p:sp>
      <p:sp>
        <p:nvSpPr>
          <p:cNvPr id="5" name="forme"/>
          <p:cNvSpPr/>
          <p:nvPr/>
        </p:nvSpPr>
        <p:spPr>
          <a:xfrm>
            <a:off x="330200" y="342900"/>
            <a:ext cx="482600" cy="482600"/>
          </a:xfrm>
          <a:prstGeom prst="rect">
            <a:avLst/>
          </a:prstGeom>
          <a:noFill/>
          <a:ln>
            <a:noFill/>
          </a:ln>
          <a:effectLst/>
        </p:spPr>
        <p:txBody>
          <a:bodyPr wrap="square" lIns="0" tIns="0" rIns="0" bIns="0" anchor="ctr">
            <a:noAutofit/>
          </a:bodyPr>
          <a:lstStyle/>
          <a:p>
            <a:pPr algn="ctr">
              <a:buNone/>
            </a:pPr>
            <a:r>
              <a:rPr lang="fr-FR" sz="1500" b="1" dirty="0">
                <a:solidFill>
                  <a:srgbClr val="B6AD6E"/>
                </a:solidFill>
                <a:latin typeface="Segoe UI"/>
                <a:cs typeface="Segoe UI"/>
              </a:rPr>
              <a:t>05</a:t>
            </a:r>
            <a:endParaRPr lang="fr-FR" sz="100"/>
          </a:p>
        </p:txBody>
      </p:sp>
      <p:sp>
        <p:nvSpPr>
          <p:cNvPr id="6" name="forme"/>
          <p:cNvSpPr/>
          <p:nvPr/>
        </p:nvSpPr>
        <p:spPr>
          <a:xfrm>
            <a:off x="1066800" y="228600"/>
            <a:ext cx="8128000" cy="177800"/>
          </a:xfrm>
          <a:prstGeom prst="rect">
            <a:avLst/>
          </a:prstGeom>
          <a:noFill/>
          <a:ln>
            <a:noFill/>
          </a:ln>
          <a:effectLst/>
        </p:spPr>
        <p:txBody>
          <a:bodyPr wrap="square" lIns="0" tIns="0" rIns="0" bIns="0" anchor="t">
            <a:noAutofit/>
          </a:bodyPr>
          <a:lstStyle/>
          <a:p>
            <a:pPr>
              <a:buNone/>
            </a:pPr>
            <a:r>
              <a:rPr lang="fr-FR" sz="900" b="1" cap="all" spc="140" dirty="0">
                <a:solidFill>
                  <a:srgbClr val="B6AD6E"/>
                </a:solidFill>
                <a:latin typeface="Segoe UI"/>
                <a:cs typeface="Segoe UI"/>
              </a:rPr>
              <a:t>Perspectives</a:t>
            </a:r>
            <a:endParaRPr lang="fr-FR" sz="100"/>
          </a:p>
        </p:txBody>
      </p:sp>
      <p:sp>
        <p:nvSpPr>
          <p:cNvPr id="7" name="forme"/>
          <p:cNvSpPr/>
          <p:nvPr/>
        </p:nvSpPr>
        <p:spPr>
          <a:xfrm>
            <a:off x="1066800" y="457200"/>
            <a:ext cx="8890000" cy="508000"/>
          </a:xfrm>
          <a:prstGeom prst="rect">
            <a:avLst/>
          </a:prstGeom>
          <a:noFill/>
          <a:ln>
            <a:noFill/>
          </a:ln>
          <a:effectLst/>
        </p:spPr>
        <p:txBody>
          <a:bodyPr wrap="square" lIns="0" tIns="0" rIns="0" bIns="0" anchor="t">
            <a:noAutofit/>
          </a:bodyPr>
          <a:lstStyle/>
          <a:p>
            <a:pPr>
              <a:buNone/>
            </a:pPr>
            <a:r>
              <a:rPr lang="fr-FR" sz="2400" b="1" dirty="0">
                <a:solidFill>
                  <a:srgbClr val="FFFFFF"/>
                </a:solidFill>
                <a:latin typeface="Segoe UI"/>
                <a:cs typeface="Segoe UI"/>
              </a:rPr>
              <a:t>Cap sur Microsoft : déjà préparé</a:t>
            </a:r>
            <a:endParaRPr lang="fr-FR" sz="100"/>
          </a:p>
        </p:txBody>
      </p:sp>
      <p:pic>
        <p:nvPicPr>
          <p:cNvPr id="8" name="image"/>
          <p:cNvPicPr>
            <a:picLocks noChangeAspect="1"/>
          </p:cNvPicPr>
          <p:nvPr/>
        </p:nvPicPr>
        <p:blipFill>
          <a:blip r:embed="rId2"/>
          <a:stretch>
            <a:fillRect/>
          </a:stretch>
        </p:blipFill>
        <p:spPr>
          <a:xfrm>
            <a:off x="10629900" y="381000"/>
            <a:ext cx="850900" cy="406400"/>
          </a:xfrm>
          <a:prstGeom prst="rect">
            <a:avLst/>
          </a:prstGeom>
        </p:spPr>
      </p:pic>
      <p:sp>
        <p:nvSpPr>
          <p:cNvPr id="9" name="forme"/>
          <p:cNvSpPr/>
          <p:nvPr/>
        </p:nvSpPr>
        <p:spPr>
          <a:xfrm>
            <a:off x="711200" y="1778000"/>
            <a:ext cx="6604000" cy="3708400"/>
          </a:xfrm>
          <a:prstGeom prst="roundRect">
            <a:avLst>
              <a:gd name="adj" fmla="val 8219"/>
            </a:avLst>
          </a:prstGeom>
          <a:solidFill>
            <a:srgbClr val="FFFFFF"/>
          </a:solidFill>
          <a:ln w="9525" cap="flat">
            <a:solidFill>
              <a:srgbClr val="DCE3EE"/>
            </a:solidFill>
            <a:prstDash val="solid"/>
            <a:flat/>
          </a:ln>
          <a:effectLst>
            <a:outerShdw blurRad="127000" dist="31750" dir="5400000" rotWithShape="0">
              <a:srgbClr val="0B1A30">
                <a:alpha val="8000"/>
              </a:srgbClr>
            </a:outerShdw>
          </a:effectLst>
        </p:spPr>
        <p:txBody>
          <a:bodyPr/>
          <a:lstStyle/>
          <a:p>
            <a:endParaRPr lang="fr-FR"/>
          </a:p>
        </p:txBody>
      </p:sp>
      <p:sp>
        <p:nvSpPr>
          <p:cNvPr id="10" name="forme"/>
          <p:cNvSpPr/>
          <p:nvPr/>
        </p:nvSpPr>
        <p:spPr>
          <a:xfrm>
            <a:off x="990600" y="2057400"/>
            <a:ext cx="508000" cy="508000"/>
          </a:xfrm>
          <a:prstGeom prst="roundRect">
            <a:avLst>
              <a:gd name="adj" fmla="val 50000"/>
            </a:avLst>
          </a:prstGeom>
          <a:solidFill>
            <a:srgbClr val="1C3359"/>
          </a:solidFill>
          <a:ln>
            <a:noFill/>
          </a:ln>
          <a:effectLst/>
        </p:spPr>
        <p:txBody>
          <a:bodyPr/>
          <a:lstStyle/>
          <a:p>
            <a:endParaRPr lang="fr-FR"/>
          </a:p>
        </p:txBody>
      </p:sp>
      <p:sp>
        <p:nvSpPr>
          <p:cNvPr id="11" name="forme"/>
          <p:cNvSpPr/>
          <p:nvPr/>
        </p:nvSpPr>
        <p:spPr>
          <a:xfrm>
            <a:off x="1117803" y="2226869"/>
            <a:ext cx="253594" cy="169062"/>
          </a:xfrm>
          <a:prstGeom prst="cloud">
            <a:avLst/>
          </a:prstGeom>
          <a:solidFill>
            <a:srgbClr val="FFFFFF"/>
          </a:solidFill>
          <a:ln>
            <a:noFill/>
          </a:ln>
          <a:effectLst/>
        </p:spPr>
        <p:txBody>
          <a:bodyPr/>
          <a:lstStyle/>
          <a:p>
            <a:endParaRPr lang="fr-FR"/>
          </a:p>
        </p:txBody>
      </p:sp>
      <p:sp>
        <p:nvSpPr>
          <p:cNvPr id="12" name="forme"/>
          <p:cNvSpPr/>
          <p:nvPr/>
        </p:nvSpPr>
        <p:spPr>
          <a:xfrm>
            <a:off x="1701800" y="2057400"/>
            <a:ext cx="5334000" cy="508000"/>
          </a:xfrm>
          <a:prstGeom prst="rect">
            <a:avLst/>
          </a:prstGeom>
          <a:noFill/>
          <a:ln>
            <a:noFill/>
          </a:ln>
          <a:effectLst/>
        </p:spPr>
        <p:txBody>
          <a:bodyPr wrap="square" lIns="0" tIns="0" rIns="0" bIns="0" anchor="ctr">
            <a:noAutofit/>
          </a:bodyPr>
          <a:lstStyle/>
          <a:p>
            <a:pPr>
              <a:buNone/>
            </a:pPr>
            <a:r>
              <a:rPr lang="fr-FR" sz="1300" b="1" dirty="0">
                <a:solidFill>
                  <a:srgbClr val="1C3359"/>
                </a:solidFill>
                <a:latin typeface="Segoe UI"/>
                <a:cs typeface="Segoe UI"/>
              </a:rPr>
              <a:t>Déjà prêt pour Power Pages</a:t>
            </a:r>
            <a:endParaRPr lang="fr-FR" sz="100"/>
          </a:p>
          <a:p>
            <a:pPr>
              <a:buNone/>
            </a:pPr>
            <a:r>
              <a:rPr lang="fr-FR" sz="1300" b="1" dirty="0">
                <a:solidFill>
                  <a:srgbClr val="1C3359"/>
                </a:solidFill>
                <a:latin typeface="Segoe UI"/>
                <a:cs typeface="Segoe UI"/>
              </a:rPr>
              <a:t>et Dataverse</a:t>
            </a:r>
            <a:endParaRPr lang="fr-FR" sz="100"/>
          </a:p>
        </p:txBody>
      </p:sp>
      <p:sp>
        <p:nvSpPr>
          <p:cNvPr id="13" name="forme"/>
          <p:cNvSpPr/>
          <p:nvPr/>
        </p:nvSpPr>
        <p:spPr>
          <a:xfrm rot="2700000">
            <a:off x="1036955" y="2926715"/>
            <a:ext cx="59055" cy="22860"/>
          </a:xfrm>
          <a:prstGeom prst="roundRect">
            <a:avLst>
              <a:gd name="adj" fmla="val 50000"/>
            </a:avLst>
          </a:prstGeom>
          <a:solidFill>
            <a:srgbClr val="2F7D5B"/>
          </a:solidFill>
          <a:ln>
            <a:noFill/>
          </a:ln>
          <a:effectLst/>
        </p:spPr>
        <p:txBody>
          <a:bodyPr/>
          <a:lstStyle/>
          <a:p>
            <a:endParaRPr lang="fr-FR"/>
          </a:p>
        </p:txBody>
      </p:sp>
      <p:sp>
        <p:nvSpPr>
          <p:cNvPr id="14" name="forme"/>
          <p:cNvSpPr/>
          <p:nvPr/>
        </p:nvSpPr>
        <p:spPr>
          <a:xfrm rot="-2700000">
            <a:off x="1069340" y="2903855"/>
            <a:ext cx="123825" cy="22860"/>
          </a:xfrm>
          <a:prstGeom prst="roundRect">
            <a:avLst>
              <a:gd name="adj" fmla="val 50000"/>
            </a:avLst>
          </a:prstGeom>
          <a:solidFill>
            <a:srgbClr val="2F7D5B"/>
          </a:solidFill>
          <a:ln>
            <a:noFill/>
          </a:ln>
          <a:effectLst/>
        </p:spPr>
        <p:txBody>
          <a:bodyPr/>
          <a:lstStyle/>
          <a:p>
            <a:endParaRPr lang="fr-FR"/>
          </a:p>
        </p:txBody>
      </p:sp>
      <p:sp>
        <p:nvSpPr>
          <p:cNvPr id="15" name="forme"/>
          <p:cNvSpPr/>
          <p:nvPr/>
        </p:nvSpPr>
        <p:spPr>
          <a:xfrm>
            <a:off x="1346200" y="2794000"/>
            <a:ext cx="5638800" cy="431800"/>
          </a:xfrm>
          <a:prstGeom prst="rect">
            <a:avLst/>
          </a:prstGeom>
          <a:noFill/>
          <a:ln>
            <a:noFill/>
          </a:ln>
          <a:effectLst/>
        </p:spPr>
        <p:txBody>
          <a:bodyPr wrap="square" lIns="0" tIns="0" rIns="0" bIns="0" anchor="ctr">
            <a:noAutofit/>
          </a:bodyPr>
          <a:lstStyle/>
          <a:p>
            <a:pPr>
              <a:lnSpc>
                <a:spcPct val="125000"/>
              </a:lnSpc>
              <a:buNone/>
            </a:pPr>
            <a:r>
              <a:rPr lang="fr-FR" sz="1000" b="0" dirty="0">
                <a:solidFill>
                  <a:srgbClr val="4C5C72"/>
                </a:solidFill>
                <a:latin typeface="Segoe UI"/>
                <a:cs typeface="Segoe UI"/>
              </a:rPr>
              <a:t>7 tables + 4 listes de choix décrites et mappées dans le code</a:t>
            </a:r>
            <a:endParaRPr lang="fr-FR" sz="100"/>
          </a:p>
        </p:txBody>
      </p:sp>
      <p:sp>
        <p:nvSpPr>
          <p:cNvPr id="16" name="forme"/>
          <p:cNvSpPr/>
          <p:nvPr/>
        </p:nvSpPr>
        <p:spPr>
          <a:xfrm rot="2700000">
            <a:off x="1036955" y="3434715"/>
            <a:ext cx="59055" cy="22860"/>
          </a:xfrm>
          <a:prstGeom prst="roundRect">
            <a:avLst>
              <a:gd name="adj" fmla="val 50000"/>
            </a:avLst>
          </a:prstGeom>
          <a:solidFill>
            <a:srgbClr val="2F7D5B"/>
          </a:solidFill>
          <a:ln>
            <a:noFill/>
          </a:ln>
          <a:effectLst/>
        </p:spPr>
        <p:txBody>
          <a:bodyPr/>
          <a:lstStyle/>
          <a:p>
            <a:endParaRPr lang="fr-FR"/>
          </a:p>
        </p:txBody>
      </p:sp>
      <p:sp>
        <p:nvSpPr>
          <p:cNvPr id="17" name="forme"/>
          <p:cNvSpPr/>
          <p:nvPr/>
        </p:nvSpPr>
        <p:spPr>
          <a:xfrm rot="-2700000">
            <a:off x="1069340" y="3411855"/>
            <a:ext cx="123825" cy="22860"/>
          </a:xfrm>
          <a:prstGeom prst="roundRect">
            <a:avLst>
              <a:gd name="adj" fmla="val 50000"/>
            </a:avLst>
          </a:prstGeom>
          <a:solidFill>
            <a:srgbClr val="2F7D5B"/>
          </a:solidFill>
          <a:ln>
            <a:noFill/>
          </a:ln>
          <a:effectLst/>
        </p:spPr>
        <p:txBody>
          <a:bodyPr/>
          <a:lstStyle/>
          <a:p>
            <a:endParaRPr lang="fr-FR"/>
          </a:p>
        </p:txBody>
      </p:sp>
      <p:sp>
        <p:nvSpPr>
          <p:cNvPr id="18" name="forme"/>
          <p:cNvSpPr/>
          <p:nvPr/>
        </p:nvSpPr>
        <p:spPr>
          <a:xfrm>
            <a:off x="1346200" y="3302000"/>
            <a:ext cx="5638800" cy="431800"/>
          </a:xfrm>
          <a:prstGeom prst="rect">
            <a:avLst/>
          </a:prstGeom>
          <a:noFill/>
          <a:ln>
            <a:noFill/>
          </a:ln>
          <a:effectLst/>
        </p:spPr>
        <p:txBody>
          <a:bodyPr wrap="square" lIns="0" tIns="0" rIns="0" bIns="0" anchor="ctr">
            <a:noAutofit/>
          </a:bodyPr>
          <a:lstStyle/>
          <a:p>
            <a:pPr>
              <a:lnSpc>
                <a:spcPct val="125000"/>
              </a:lnSpc>
              <a:buNone/>
            </a:pPr>
            <a:r>
              <a:rPr lang="fr-FR" sz="1000" b="0" dirty="0">
                <a:solidFill>
                  <a:srgbClr val="4C5C72"/>
                </a:solidFill>
                <a:latin typeface="Segoe UI"/>
                <a:cs typeface="Segoe UI"/>
              </a:rPr>
              <a:t>Une Business Unit par direction, 2 rôles de sécurité (BU / Centrale)</a:t>
            </a:r>
            <a:endParaRPr lang="fr-FR" sz="100"/>
          </a:p>
        </p:txBody>
      </p:sp>
      <p:sp>
        <p:nvSpPr>
          <p:cNvPr id="19" name="forme"/>
          <p:cNvSpPr/>
          <p:nvPr/>
        </p:nvSpPr>
        <p:spPr>
          <a:xfrm rot="2700000">
            <a:off x="1036955" y="3942715"/>
            <a:ext cx="59055" cy="22860"/>
          </a:xfrm>
          <a:prstGeom prst="roundRect">
            <a:avLst>
              <a:gd name="adj" fmla="val 50000"/>
            </a:avLst>
          </a:prstGeom>
          <a:solidFill>
            <a:srgbClr val="2F7D5B"/>
          </a:solidFill>
          <a:ln>
            <a:noFill/>
          </a:ln>
          <a:effectLst/>
        </p:spPr>
        <p:txBody>
          <a:bodyPr/>
          <a:lstStyle/>
          <a:p>
            <a:endParaRPr lang="fr-FR"/>
          </a:p>
        </p:txBody>
      </p:sp>
      <p:sp>
        <p:nvSpPr>
          <p:cNvPr id="20" name="forme"/>
          <p:cNvSpPr/>
          <p:nvPr/>
        </p:nvSpPr>
        <p:spPr>
          <a:xfrm rot="-2700000">
            <a:off x="1069340" y="3919855"/>
            <a:ext cx="123825" cy="22860"/>
          </a:xfrm>
          <a:prstGeom prst="roundRect">
            <a:avLst>
              <a:gd name="adj" fmla="val 50000"/>
            </a:avLst>
          </a:prstGeom>
          <a:solidFill>
            <a:srgbClr val="2F7D5B"/>
          </a:solidFill>
          <a:ln>
            <a:noFill/>
          </a:ln>
          <a:effectLst/>
        </p:spPr>
        <p:txBody>
          <a:bodyPr/>
          <a:lstStyle/>
          <a:p>
            <a:endParaRPr lang="fr-FR"/>
          </a:p>
        </p:txBody>
      </p:sp>
      <p:sp>
        <p:nvSpPr>
          <p:cNvPr id="21" name="forme"/>
          <p:cNvSpPr/>
          <p:nvPr/>
        </p:nvSpPr>
        <p:spPr>
          <a:xfrm>
            <a:off x="1346200" y="3810000"/>
            <a:ext cx="5638800" cy="431800"/>
          </a:xfrm>
          <a:prstGeom prst="rect">
            <a:avLst/>
          </a:prstGeom>
          <a:noFill/>
          <a:ln>
            <a:noFill/>
          </a:ln>
          <a:effectLst/>
        </p:spPr>
        <p:txBody>
          <a:bodyPr wrap="square" lIns="0" tIns="0" rIns="0" bIns="0" anchor="ctr">
            <a:noAutofit/>
          </a:bodyPr>
          <a:lstStyle/>
          <a:p>
            <a:pPr>
              <a:lnSpc>
                <a:spcPct val="125000"/>
              </a:lnSpc>
              <a:buNone/>
            </a:pPr>
            <a:r>
              <a:rPr lang="fr-FR" sz="1000" b="0" dirty="0">
                <a:solidFill>
                  <a:srgbClr val="4C5C72"/>
                </a:solidFill>
                <a:latin typeface="Segoe UI"/>
                <a:cs typeface="Segoe UI"/>
              </a:rPr>
              <a:t>Deux points à basculer : lireSession (serveur) et la pastille d’identité</a:t>
            </a:r>
            <a:endParaRPr lang="fr-FR" sz="100"/>
          </a:p>
        </p:txBody>
      </p:sp>
      <p:sp>
        <p:nvSpPr>
          <p:cNvPr id="22" name="forme"/>
          <p:cNvSpPr/>
          <p:nvPr/>
        </p:nvSpPr>
        <p:spPr>
          <a:xfrm rot="2700000">
            <a:off x="1036955" y="4450715"/>
            <a:ext cx="59055" cy="22860"/>
          </a:xfrm>
          <a:prstGeom prst="roundRect">
            <a:avLst>
              <a:gd name="adj" fmla="val 50000"/>
            </a:avLst>
          </a:prstGeom>
          <a:solidFill>
            <a:srgbClr val="2F7D5B"/>
          </a:solidFill>
          <a:ln>
            <a:noFill/>
          </a:ln>
          <a:effectLst/>
        </p:spPr>
        <p:txBody>
          <a:bodyPr/>
          <a:lstStyle/>
          <a:p>
            <a:endParaRPr lang="fr-FR"/>
          </a:p>
        </p:txBody>
      </p:sp>
      <p:sp>
        <p:nvSpPr>
          <p:cNvPr id="23" name="forme"/>
          <p:cNvSpPr/>
          <p:nvPr/>
        </p:nvSpPr>
        <p:spPr>
          <a:xfrm rot="-2700000">
            <a:off x="1069340" y="4427855"/>
            <a:ext cx="123825" cy="22860"/>
          </a:xfrm>
          <a:prstGeom prst="roundRect">
            <a:avLst>
              <a:gd name="adj" fmla="val 50000"/>
            </a:avLst>
          </a:prstGeom>
          <a:solidFill>
            <a:srgbClr val="2F7D5B"/>
          </a:solidFill>
          <a:ln>
            <a:noFill/>
          </a:ln>
          <a:effectLst/>
        </p:spPr>
        <p:txBody>
          <a:bodyPr/>
          <a:lstStyle/>
          <a:p>
            <a:endParaRPr lang="fr-FR"/>
          </a:p>
        </p:txBody>
      </p:sp>
      <p:sp>
        <p:nvSpPr>
          <p:cNvPr id="24" name="forme"/>
          <p:cNvSpPr/>
          <p:nvPr/>
        </p:nvSpPr>
        <p:spPr>
          <a:xfrm>
            <a:off x="1346200" y="4318000"/>
            <a:ext cx="5638800" cy="431800"/>
          </a:xfrm>
          <a:prstGeom prst="rect">
            <a:avLst/>
          </a:prstGeom>
          <a:noFill/>
          <a:ln>
            <a:noFill/>
          </a:ln>
          <a:effectLst/>
        </p:spPr>
        <p:txBody>
          <a:bodyPr wrap="square" lIns="0" tIns="0" rIns="0" bIns="0" anchor="ctr">
            <a:noAutofit/>
          </a:bodyPr>
          <a:lstStyle/>
          <a:p>
            <a:pPr>
              <a:lnSpc>
                <a:spcPct val="125000"/>
              </a:lnSpc>
              <a:buNone/>
            </a:pPr>
            <a:r>
              <a:rPr lang="fr-FR" sz="1000" b="0" dirty="0">
                <a:solidFill>
                  <a:srgbClr val="4C5C72"/>
                </a:solidFill>
                <a:latin typeface="Segoe UI"/>
                <a:cs typeface="Segoe UI"/>
              </a:rPr>
              <a:t>Journal d'audit lisible dans Power Pages, versions en tables dédiées</a:t>
            </a:r>
            <a:endParaRPr lang="fr-FR" sz="100"/>
          </a:p>
        </p:txBody>
      </p:sp>
      <p:sp>
        <p:nvSpPr>
          <p:cNvPr id="25" name="forme"/>
          <p:cNvSpPr/>
          <p:nvPr/>
        </p:nvSpPr>
        <p:spPr>
          <a:xfrm rot="2700000">
            <a:off x="1036955" y="4958715"/>
            <a:ext cx="59055" cy="22860"/>
          </a:xfrm>
          <a:prstGeom prst="roundRect">
            <a:avLst>
              <a:gd name="adj" fmla="val 50000"/>
            </a:avLst>
          </a:prstGeom>
          <a:solidFill>
            <a:srgbClr val="2F7D5B"/>
          </a:solidFill>
          <a:ln>
            <a:noFill/>
          </a:ln>
          <a:effectLst/>
        </p:spPr>
        <p:txBody>
          <a:bodyPr/>
          <a:lstStyle/>
          <a:p>
            <a:endParaRPr lang="fr-FR"/>
          </a:p>
        </p:txBody>
      </p:sp>
      <p:sp>
        <p:nvSpPr>
          <p:cNvPr id="26" name="forme"/>
          <p:cNvSpPr/>
          <p:nvPr/>
        </p:nvSpPr>
        <p:spPr>
          <a:xfrm rot="-2700000">
            <a:off x="1069340" y="4935855"/>
            <a:ext cx="123825" cy="22860"/>
          </a:xfrm>
          <a:prstGeom prst="roundRect">
            <a:avLst>
              <a:gd name="adj" fmla="val 50000"/>
            </a:avLst>
          </a:prstGeom>
          <a:solidFill>
            <a:srgbClr val="2F7D5B"/>
          </a:solidFill>
          <a:ln>
            <a:noFill/>
          </a:ln>
          <a:effectLst/>
        </p:spPr>
        <p:txBody>
          <a:bodyPr/>
          <a:lstStyle/>
          <a:p>
            <a:endParaRPr lang="fr-FR"/>
          </a:p>
        </p:txBody>
      </p:sp>
      <p:sp>
        <p:nvSpPr>
          <p:cNvPr id="27" name="forme"/>
          <p:cNvSpPr/>
          <p:nvPr/>
        </p:nvSpPr>
        <p:spPr>
          <a:xfrm>
            <a:off x="1346200" y="4826000"/>
            <a:ext cx="5638800" cy="431800"/>
          </a:xfrm>
          <a:prstGeom prst="rect">
            <a:avLst/>
          </a:prstGeom>
          <a:noFill/>
          <a:ln>
            <a:noFill/>
          </a:ln>
          <a:effectLst/>
        </p:spPr>
        <p:txBody>
          <a:bodyPr wrap="square" lIns="0" tIns="0" rIns="0" bIns="0" anchor="ctr">
            <a:noAutofit/>
          </a:bodyPr>
          <a:lstStyle/>
          <a:p>
            <a:pPr>
              <a:lnSpc>
                <a:spcPct val="125000"/>
              </a:lnSpc>
              <a:buNone/>
            </a:pPr>
            <a:r>
              <a:rPr lang="fr-FR" sz="1000" b="0" dirty="0">
                <a:solidFill>
                  <a:srgbClr val="4C5C72"/>
                </a:solidFill>
                <a:latin typeface="Segoe UI"/>
                <a:cs typeface="Segoe UI"/>
              </a:rPr>
              <a:t>Logo, couleurs et en-têtes déjà alignés sur le portail</a:t>
            </a:r>
            <a:endParaRPr lang="fr-FR" sz="100"/>
          </a:p>
        </p:txBody>
      </p:sp>
      <p:sp>
        <p:nvSpPr>
          <p:cNvPr id="28" name="forme"/>
          <p:cNvSpPr/>
          <p:nvPr/>
        </p:nvSpPr>
        <p:spPr>
          <a:xfrm>
            <a:off x="7620000" y="1778000"/>
            <a:ext cx="3860800" cy="3708400"/>
          </a:xfrm>
          <a:prstGeom prst="roundRect">
            <a:avLst>
              <a:gd name="adj" fmla="val 8219"/>
            </a:avLst>
          </a:prstGeom>
          <a:solidFill>
            <a:srgbClr val="1C3359"/>
          </a:solidFill>
          <a:ln w="9525" cap="flat">
            <a:solidFill>
              <a:srgbClr val="1C3359"/>
            </a:solidFill>
            <a:prstDash val="solid"/>
            <a:flat/>
          </a:ln>
          <a:effectLst>
            <a:outerShdw blurRad="127000" dist="31750" dir="5400000" rotWithShape="0">
              <a:srgbClr val="0B1A30">
                <a:alpha val="8000"/>
              </a:srgbClr>
            </a:outerShdw>
          </a:effectLst>
        </p:spPr>
        <p:txBody>
          <a:bodyPr/>
          <a:lstStyle/>
          <a:p>
            <a:endParaRPr lang="fr-FR"/>
          </a:p>
        </p:txBody>
      </p:sp>
      <p:sp>
        <p:nvSpPr>
          <p:cNvPr id="29" name="forme"/>
          <p:cNvSpPr/>
          <p:nvPr/>
        </p:nvSpPr>
        <p:spPr>
          <a:xfrm>
            <a:off x="7899400" y="2057400"/>
            <a:ext cx="508000" cy="508000"/>
          </a:xfrm>
          <a:prstGeom prst="roundRect">
            <a:avLst>
              <a:gd name="adj" fmla="val 50000"/>
            </a:avLst>
          </a:prstGeom>
          <a:solidFill>
            <a:srgbClr val="2C4A78"/>
          </a:solidFill>
          <a:ln>
            <a:noFill/>
          </a:ln>
          <a:effectLst/>
        </p:spPr>
        <p:txBody>
          <a:bodyPr/>
          <a:lstStyle/>
          <a:p>
            <a:endParaRPr lang="fr-FR"/>
          </a:p>
        </p:txBody>
      </p:sp>
      <p:sp>
        <p:nvSpPr>
          <p:cNvPr id="30" name="forme"/>
          <p:cNvSpPr/>
          <p:nvPr/>
        </p:nvSpPr>
        <p:spPr>
          <a:xfrm>
            <a:off x="8079435" y="2189886"/>
            <a:ext cx="147930" cy="195478"/>
          </a:xfrm>
          <a:prstGeom prst="upArrow">
            <a:avLst/>
          </a:prstGeom>
          <a:solidFill>
            <a:srgbClr val="FFFFFF"/>
          </a:solidFill>
          <a:ln>
            <a:noFill/>
          </a:ln>
          <a:effectLst/>
        </p:spPr>
        <p:txBody>
          <a:bodyPr/>
          <a:lstStyle/>
          <a:p>
            <a:endParaRPr lang="fr-FR"/>
          </a:p>
        </p:txBody>
      </p:sp>
      <p:sp>
        <p:nvSpPr>
          <p:cNvPr id="31" name="forme"/>
          <p:cNvSpPr/>
          <p:nvPr/>
        </p:nvSpPr>
        <p:spPr>
          <a:xfrm>
            <a:off x="8031886" y="2395931"/>
            <a:ext cx="243027" cy="21133"/>
          </a:xfrm>
          <a:prstGeom prst="roundRect">
            <a:avLst>
              <a:gd name="adj" fmla="val 50000"/>
            </a:avLst>
          </a:prstGeom>
          <a:solidFill>
            <a:srgbClr val="FFFFFF"/>
          </a:solidFill>
          <a:ln>
            <a:noFill/>
          </a:ln>
          <a:effectLst/>
        </p:spPr>
        <p:txBody>
          <a:bodyPr/>
          <a:lstStyle/>
          <a:p>
            <a:endParaRPr lang="fr-FR"/>
          </a:p>
        </p:txBody>
      </p:sp>
      <p:sp>
        <p:nvSpPr>
          <p:cNvPr id="32" name="forme"/>
          <p:cNvSpPr/>
          <p:nvPr/>
        </p:nvSpPr>
        <p:spPr>
          <a:xfrm>
            <a:off x="8610600" y="2057400"/>
            <a:ext cx="2590800" cy="508000"/>
          </a:xfrm>
          <a:prstGeom prst="rect">
            <a:avLst/>
          </a:prstGeom>
          <a:noFill/>
          <a:ln>
            <a:noFill/>
          </a:ln>
          <a:effectLst/>
        </p:spPr>
        <p:txBody>
          <a:bodyPr wrap="square" lIns="0" tIns="0" rIns="0" bIns="0" anchor="ctr">
            <a:noAutofit/>
          </a:bodyPr>
          <a:lstStyle/>
          <a:p>
            <a:pPr>
              <a:buNone/>
            </a:pPr>
            <a:r>
              <a:rPr lang="fr-FR" sz="1300" b="1" dirty="0">
                <a:solidFill>
                  <a:srgbClr val="FFFFFF"/>
                </a:solidFill>
                <a:latin typeface="Segoe UI"/>
                <a:cs typeface="Segoe UI"/>
              </a:rPr>
              <a:t>Prochaines étapes</a:t>
            </a:r>
            <a:endParaRPr lang="fr-FR" sz="100"/>
          </a:p>
          <a:p>
            <a:pPr>
              <a:buNone/>
            </a:pPr>
            <a:r>
              <a:rPr lang="fr-FR" sz="950" b="0" dirty="0">
                <a:solidFill>
                  <a:srgbClr val="A9BAD2"/>
                </a:solidFill>
                <a:latin typeface="Segoe UI"/>
                <a:cs typeface="Segoe UI"/>
              </a:rPr>
              <a:t>sécurisées, sans réécriture métier</a:t>
            </a:r>
            <a:endParaRPr lang="fr-FR" sz="100"/>
          </a:p>
        </p:txBody>
      </p:sp>
      <p:sp>
        <p:nvSpPr>
          <p:cNvPr id="33" name="forme"/>
          <p:cNvSpPr/>
          <p:nvPr/>
        </p:nvSpPr>
        <p:spPr>
          <a:xfrm>
            <a:off x="7924800" y="2921000"/>
            <a:ext cx="330200" cy="330200"/>
          </a:xfrm>
          <a:prstGeom prst="ellipse">
            <a:avLst/>
          </a:prstGeom>
          <a:solidFill>
            <a:srgbClr val="B6AD6E"/>
          </a:solidFill>
          <a:ln>
            <a:noFill/>
          </a:ln>
          <a:effectLst/>
        </p:spPr>
        <p:txBody>
          <a:bodyPr/>
          <a:lstStyle/>
          <a:p>
            <a:endParaRPr lang="fr-FR"/>
          </a:p>
        </p:txBody>
      </p:sp>
      <p:sp>
        <p:nvSpPr>
          <p:cNvPr id="34" name="forme"/>
          <p:cNvSpPr/>
          <p:nvPr/>
        </p:nvSpPr>
        <p:spPr>
          <a:xfrm>
            <a:off x="7924800" y="2921000"/>
            <a:ext cx="330200" cy="330200"/>
          </a:xfrm>
          <a:prstGeom prst="rect">
            <a:avLst/>
          </a:prstGeom>
          <a:noFill/>
          <a:ln>
            <a:noFill/>
          </a:ln>
          <a:effectLst/>
        </p:spPr>
        <p:txBody>
          <a:bodyPr wrap="square" lIns="0" tIns="0" rIns="0" bIns="0" anchor="ctr">
            <a:noAutofit/>
          </a:bodyPr>
          <a:lstStyle/>
          <a:p>
            <a:pPr algn="ctr">
              <a:buNone/>
            </a:pPr>
            <a:r>
              <a:rPr lang="fr-FR" sz="1100" b="1" dirty="0">
                <a:solidFill>
                  <a:srgbClr val="1C3359"/>
                </a:solidFill>
                <a:latin typeface="Segoe UI"/>
                <a:cs typeface="Segoe UI"/>
              </a:rPr>
              <a:t>1</a:t>
            </a:r>
            <a:endParaRPr lang="fr-FR" sz="100"/>
          </a:p>
        </p:txBody>
      </p:sp>
      <p:sp>
        <p:nvSpPr>
          <p:cNvPr id="35" name="forme"/>
          <p:cNvSpPr/>
          <p:nvPr/>
        </p:nvSpPr>
        <p:spPr>
          <a:xfrm>
            <a:off x="8407400" y="2870200"/>
            <a:ext cx="2743200" cy="660400"/>
          </a:xfrm>
          <a:prstGeom prst="rect">
            <a:avLst/>
          </a:prstGeom>
          <a:noFill/>
          <a:ln>
            <a:noFill/>
          </a:ln>
          <a:effectLst/>
        </p:spPr>
        <p:txBody>
          <a:bodyPr wrap="square" lIns="0" tIns="0" rIns="0" bIns="0" anchor="ctr">
            <a:noAutofit/>
          </a:bodyPr>
          <a:lstStyle/>
          <a:p>
            <a:pPr>
              <a:lnSpc>
                <a:spcPct val="125000"/>
              </a:lnSpc>
              <a:buNone/>
            </a:pPr>
            <a:r>
              <a:rPr lang="fr-FR" sz="1000" b="0" dirty="0">
                <a:solidFill>
                  <a:srgbClr val="D5DFEE"/>
                </a:solidFill>
                <a:latin typeface="Segoe UI"/>
                <a:cs typeface="Segoe UI"/>
              </a:rPr>
              <a:t>Recréer le schéma Dataverse depuis le mapping déjà documenté</a:t>
            </a:r>
            <a:endParaRPr lang="fr-FR" sz="100"/>
          </a:p>
        </p:txBody>
      </p:sp>
      <p:sp>
        <p:nvSpPr>
          <p:cNvPr id="36" name="forme"/>
          <p:cNvSpPr/>
          <p:nvPr/>
        </p:nvSpPr>
        <p:spPr>
          <a:xfrm>
            <a:off x="8083550" y="3276600"/>
            <a:ext cx="12700" cy="482600"/>
          </a:xfrm>
          <a:prstGeom prst="rect">
            <a:avLst/>
          </a:prstGeom>
          <a:solidFill>
            <a:srgbClr val="44598A"/>
          </a:solidFill>
          <a:ln>
            <a:noFill/>
          </a:ln>
          <a:effectLst/>
        </p:spPr>
        <p:txBody>
          <a:bodyPr/>
          <a:lstStyle/>
          <a:p>
            <a:endParaRPr lang="fr-FR"/>
          </a:p>
        </p:txBody>
      </p:sp>
      <p:sp>
        <p:nvSpPr>
          <p:cNvPr id="37" name="forme"/>
          <p:cNvSpPr/>
          <p:nvPr/>
        </p:nvSpPr>
        <p:spPr>
          <a:xfrm>
            <a:off x="7924800" y="3759200"/>
            <a:ext cx="330200" cy="330200"/>
          </a:xfrm>
          <a:prstGeom prst="ellipse">
            <a:avLst/>
          </a:prstGeom>
          <a:solidFill>
            <a:srgbClr val="B6AD6E"/>
          </a:solidFill>
          <a:ln>
            <a:noFill/>
          </a:ln>
          <a:effectLst/>
        </p:spPr>
        <p:txBody>
          <a:bodyPr/>
          <a:lstStyle/>
          <a:p>
            <a:endParaRPr lang="fr-FR"/>
          </a:p>
        </p:txBody>
      </p:sp>
      <p:sp>
        <p:nvSpPr>
          <p:cNvPr id="38" name="forme"/>
          <p:cNvSpPr/>
          <p:nvPr/>
        </p:nvSpPr>
        <p:spPr>
          <a:xfrm>
            <a:off x="7924800" y="3759200"/>
            <a:ext cx="330200" cy="330200"/>
          </a:xfrm>
          <a:prstGeom prst="rect">
            <a:avLst/>
          </a:prstGeom>
          <a:noFill/>
          <a:ln>
            <a:noFill/>
          </a:ln>
          <a:effectLst/>
        </p:spPr>
        <p:txBody>
          <a:bodyPr wrap="square" lIns="0" tIns="0" rIns="0" bIns="0" anchor="ctr">
            <a:noAutofit/>
          </a:bodyPr>
          <a:lstStyle/>
          <a:p>
            <a:pPr algn="ctr">
              <a:buNone/>
            </a:pPr>
            <a:r>
              <a:rPr lang="fr-FR" sz="1100" b="1" dirty="0">
                <a:solidFill>
                  <a:srgbClr val="1C3359"/>
                </a:solidFill>
                <a:latin typeface="Segoe UI"/>
                <a:cs typeface="Segoe UI"/>
              </a:rPr>
              <a:t>2</a:t>
            </a:r>
            <a:endParaRPr lang="fr-FR" sz="100"/>
          </a:p>
        </p:txBody>
      </p:sp>
      <p:sp>
        <p:nvSpPr>
          <p:cNvPr id="39" name="forme"/>
          <p:cNvSpPr/>
          <p:nvPr/>
        </p:nvSpPr>
        <p:spPr>
          <a:xfrm>
            <a:off x="8407400" y="3708400"/>
            <a:ext cx="2743200" cy="660400"/>
          </a:xfrm>
          <a:prstGeom prst="rect">
            <a:avLst/>
          </a:prstGeom>
          <a:noFill/>
          <a:ln>
            <a:noFill/>
          </a:ln>
          <a:effectLst/>
        </p:spPr>
        <p:txBody>
          <a:bodyPr wrap="square" lIns="0" tIns="0" rIns="0" bIns="0" anchor="ctr">
            <a:noAutofit/>
          </a:bodyPr>
          <a:lstStyle/>
          <a:p>
            <a:pPr>
              <a:lnSpc>
                <a:spcPct val="125000"/>
              </a:lnSpc>
              <a:buNone/>
            </a:pPr>
            <a:r>
              <a:rPr lang="fr-FR" sz="1000" b="0" dirty="0">
                <a:solidFill>
                  <a:srgbClr val="D5DFEE"/>
                </a:solidFill>
                <a:latin typeface="Segoe UI"/>
                <a:cs typeface="Segoe UI"/>
              </a:rPr>
              <a:t>Brancher l'API sur Dataverse et activer l’auditing natif</a:t>
            </a:r>
            <a:endParaRPr lang="fr-FR" sz="100"/>
          </a:p>
        </p:txBody>
      </p:sp>
      <p:sp>
        <p:nvSpPr>
          <p:cNvPr id="40" name="forme"/>
          <p:cNvSpPr/>
          <p:nvPr/>
        </p:nvSpPr>
        <p:spPr>
          <a:xfrm>
            <a:off x="8083550" y="4114800"/>
            <a:ext cx="12700" cy="482600"/>
          </a:xfrm>
          <a:prstGeom prst="rect">
            <a:avLst/>
          </a:prstGeom>
          <a:solidFill>
            <a:srgbClr val="44598A"/>
          </a:solidFill>
          <a:ln>
            <a:noFill/>
          </a:ln>
          <a:effectLst/>
        </p:spPr>
        <p:txBody>
          <a:bodyPr/>
          <a:lstStyle/>
          <a:p>
            <a:endParaRPr lang="fr-FR"/>
          </a:p>
        </p:txBody>
      </p:sp>
      <p:sp>
        <p:nvSpPr>
          <p:cNvPr id="41" name="forme"/>
          <p:cNvSpPr/>
          <p:nvPr/>
        </p:nvSpPr>
        <p:spPr>
          <a:xfrm>
            <a:off x="7924800" y="4597400"/>
            <a:ext cx="330200" cy="330200"/>
          </a:xfrm>
          <a:prstGeom prst="ellipse">
            <a:avLst/>
          </a:prstGeom>
          <a:solidFill>
            <a:srgbClr val="B6AD6E"/>
          </a:solidFill>
          <a:ln>
            <a:noFill/>
          </a:ln>
          <a:effectLst/>
        </p:spPr>
        <p:txBody>
          <a:bodyPr/>
          <a:lstStyle/>
          <a:p>
            <a:endParaRPr lang="fr-FR"/>
          </a:p>
        </p:txBody>
      </p:sp>
      <p:sp>
        <p:nvSpPr>
          <p:cNvPr id="42" name="forme"/>
          <p:cNvSpPr/>
          <p:nvPr/>
        </p:nvSpPr>
        <p:spPr>
          <a:xfrm>
            <a:off x="7924800" y="4597400"/>
            <a:ext cx="330200" cy="330200"/>
          </a:xfrm>
          <a:prstGeom prst="rect">
            <a:avLst/>
          </a:prstGeom>
          <a:noFill/>
          <a:ln>
            <a:noFill/>
          </a:ln>
          <a:effectLst/>
        </p:spPr>
        <p:txBody>
          <a:bodyPr wrap="square" lIns="0" tIns="0" rIns="0" bIns="0" anchor="ctr">
            <a:noAutofit/>
          </a:bodyPr>
          <a:lstStyle/>
          <a:p>
            <a:pPr algn="ctr">
              <a:buNone/>
            </a:pPr>
            <a:r>
              <a:rPr lang="fr-FR" sz="1100" b="1" dirty="0">
                <a:solidFill>
                  <a:srgbClr val="1C3359"/>
                </a:solidFill>
                <a:latin typeface="Segoe UI"/>
                <a:cs typeface="Segoe UI"/>
              </a:rPr>
              <a:t>3</a:t>
            </a:r>
            <a:endParaRPr lang="fr-FR" sz="100"/>
          </a:p>
        </p:txBody>
      </p:sp>
      <p:sp>
        <p:nvSpPr>
          <p:cNvPr id="43" name="forme"/>
          <p:cNvSpPr/>
          <p:nvPr/>
        </p:nvSpPr>
        <p:spPr>
          <a:xfrm>
            <a:off x="8407400" y="4546600"/>
            <a:ext cx="2743200" cy="660400"/>
          </a:xfrm>
          <a:prstGeom prst="rect">
            <a:avLst/>
          </a:prstGeom>
          <a:noFill/>
          <a:ln>
            <a:noFill/>
          </a:ln>
          <a:effectLst/>
        </p:spPr>
        <p:txBody>
          <a:bodyPr wrap="square" lIns="0" tIns="0" rIns="0" bIns="0" anchor="ctr">
            <a:noAutofit/>
          </a:bodyPr>
          <a:lstStyle/>
          <a:p>
            <a:pPr>
              <a:lnSpc>
                <a:spcPct val="125000"/>
              </a:lnSpc>
              <a:buNone/>
            </a:pPr>
            <a:r>
              <a:rPr lang="fr-FR" sz="1000" b="0" dirty="0">
                <a:solidFill>
                  <a:srgbClr val="D5DFEE"/>
                </a:solidFill>
                <a:latin typeface="Segoe UI"/>
                <a:cs typeface="Segoe UI"/>
              </a:rPr>
              <a:t>Basculer l'identité sur Entra ID avec les directions</a:t>
            </a:r>
            <a:endParaRPr lang="fr-FR" sz="100"/>
          </a:p>
        </p:txBody>
      </p:sp>
      <p:sp>
        <p:nvSpPr>
          <p:cNvPr id="44" name="forme"/>
          <p:cNvSpPr/>
          <p:nvPr/>
        </p:nvSpPr>
        <p:spPr>
          <a:xfrm>
            <a:off x="711200" y="5689600"/>
            <a:ext cx="10769600" cy="558800"/>
          </a:xfrm>
          <a:prstGeom prst="roundRect">
            <a:avLst>
              <a:gd name="adj" fmla="val 45455"/>
            </a:avLst>
          </a:prstGeom>
          <a:solidFill>
            <a:srgbClr val="EEF2F8"/>
          </a:solidFill>
          <a:ln>
            <a:noFill/>
          </a:ln>
          <a:effectLst/>
        </p:spPr>
        <p:txBody>
          <a:bodyPr/>
          <a:lstStyle/>
          <a:p>
            <a:endParaRPr lang="fr-FR"/>
          </a:p>
        </p:txBody>
      </p:sp>
      <p:sp>
        <p:nvSpPr>
          <p:cNvPr id="45" name="forme"/>
          <p:cNvSpPr/>
          <p:nvPr/>
        </p:nvSpPr>
        <p:spPr>
          <a:xfrm>
            <a:off x="711200" y="5689600"/>
            <a:ext cx="57150" cy="558800"/>
          </a:xfrm>
          <a:prstGeom prst="roundRect">
            <a:avLst>
              <a:gd name="adj" fmla="val 50000"/>
            </a:avLst>
          </a:prstGeom>
          <a:solidFill>
            <a:srgbClr val="B6AD6E"/>
          </a:solidFill>
          <a:ln>
            <a:noFill/>
          </a:ln>
          <a:effectLst/>
        </p:spPr>
        <p:txBody>
          <a:bodyPr/>
          <a:lstStyle/>
          <a:p>
            <a:endParaRPr lang="fr-FR"/>
          </a:p>
        </p:txBody>
      </p:sp>
      <p:sp>
        <p:nvSpPr>
          <p:cNvPr id="46" name="forme"/>
          <p:cNvSpPr/>
          <p:nvPr/>
        </p:nvSpPr>
        <p:spPr>
          <a:xfrm>
            <a:off x="990600" y="5689600"/>
            <a:ext cx="6604000" cy="558800"/>
          </a:xfrm>
          <a:prstGeom prst="rect">
            <a:avLst/>
          </a:prstGeom>
          <a:noFill/>
          <a:ln>
            <a:noFill/>
          </a:ln>
          <a:effectLst/>
        </p:spPr>
        <p:txBody>
          <a:bodyPr wrap="square" lIns="0" tIns="0" rIns="0" bIns="0" anchor="ctr">
            <a:noAutofit/>
          </a:bodyPr>
          <a:lstStyle/>
          <a:p>
            <a:pPr>
              <a:buNone/>
            </a:pPr>
            <a:r>
              <a:rPr lang="fr-FR" sz="1100" b="1" dirty="0">
                <a:solidFill>
                  <a:srgbClr val="1C3359"/>
                </a:solidFill>
                <a:latin typeface="Segoe UI"/>
                <a:cs typeface="Segoe UI"/>
              </a:rPr>
              <a:t>Merci  —  </a:t>
            </a:r>
            <a:r>
              <a:rPr lang="fr-FR" sz="1000" b="0" dirty="0">
                <a:solidFill>
                  <a:srgbClr val="4C5C72"/>
                </a:solidFill>
                <a:latin typeface="Segoe UI"/>
                <a:cs typeface="Segoe UI"/>
              </a:rPr>
              <a:t>démo live : Connexion → Assignation → Approbation → Vue immersive → Historique</a:t>
            </a:r>
            <a:endParaRPr lang="fr-FR" sz="100"/>
          </a:p>
        </p:txBody>
      </p:sp>
      <p:sp>
        <p:nvSpPr>
          <p:cNvPr id="47" name="forme"/>
          <p:cNvSpPr/>
          <p:nvPr/>
        </p:nvSpPr>
        <p:spPr>
          <a:xfrm>
            <a:off x="7670800" y="5689600"/>
            <a:ext cx="3530600" cy="558800"/>
          </a:xfrm>
          <a:prstGeom prst="rect">
            <a:avLst/>
          </a:prstGeom>
          <a:noFill/>
          <a:ln>
            <a:noFill/>
          </a:ln>
          <a:effectLst/>
        </p:spPr>
        <p:txBody>
          <a:bodyPr wrap="square" lIns="0" tIns="0" rIns="0" bIns="0" anchor="ctr">
            <a:noAutofit/>
          </a:bodyPr>
          <a:lstStyle/>
          <a:p>
            <a:pPr algn="r">
              <a:buNone/>
            </a:pPr>
            <a:r>
              <a:rPr lang="fr-FR" sz="950" b="0" dirty="0">
                <a:solidFill>
                  <a:srgbClr val="8494AB"/>
                </a:solidFill>
                <a:latin typeface="Segoe UI"/>
                <a:cs typeface="Segoe UI"/>
              </a:rPr>
              <a:t>Code &amp; documentation  </a:t>
            </a:r>
            <a:r>
              <a:rPr lang="fr-FR" sz="950" b="1" dirty="0">
                <a:solidFill>
                  <a:srgbClr val="1C3359"/>
                </a:solidFill>
                <a:latin typeface="Segoe UI"/>
                <a:cs typeface="Segoe UI"/>
                <a:hlinkClick r:id="rId3"/>
              </a:rPr>
              <a:t>github.com/Morlis12/juriscan</a:t>
            </a:r>
            <a:endParaRPr lang="fr-FR" sz="100"/>
          </a:p>
        </p:txBody>
      </p:sp>
      <p:sp>
        <p:nvSpPr>
          <p:cNvPr id="48" name="forme"/>
          <p:cNvSpPr/>
          <p:nvPr/>
        </p:nvSpPr>
        <p:spPr>
          <a:xfrm>
            <a:off x="711200" y="6400800"/>
            <a:ext cx="10769600" cy="9525"/>
          </a:xfrm>
          <a:prstGeom prst="rect">
            <a:avLst/>
          </a:prstGeom>
          <a:solidFill>
            <a:srgbClr val="DCE3EE"/>
          </a:solidFill>
          <a:ln>
            <a:noFill/>
          </a:ln>
          <a:effectLst/>
        </p:spPr>
        <p:txBody>
          <a:bodyPr/>
          <a:lstStyle/>
          <a:p>
            <a:endParaRPr lang="fr-FR"/>
          </a:p>
        </p:txBody>
      </p:sp>
      <p:sp>
        <p:nvSpPr>
          <p:cNvPr id="49" name="forme"/>
          <p:cNvSpPr/>
          <p:nvPr/>
        </p:nvSpPr>
        <p:spPr>
          <a:xfrm>
            <a:off x="711200" y="6489700"/>
            <a:ext cx="7112000" cy="152400"/>
          </a:xfrm>
          <a:prstGeom prst="rect">
            <a:avLst/>
          </a:prstGeom>
          <a:noFill/>
          <a:ln>
            <a:noFill/>
          </a:ln>
          <a:effectLst/>
        </p:spPr>
        <p:txBody>
          <a:bodyPr wrap="square" lIns="0" tIns="0" rIns="0" bIns="0" anchor="t">
            <a:noAutofit/>
          </a:bodyPr>
          <a:lstStyle/>
          <a:p>
            <a:pPr>
              <a:buNone/>
            </a:pPr>
            <a:r>
              <a:rPr lang="fr-FR" sz="850" b="1" dirty="0">
                <a:solidFill>
                  <a:srgbClr val="8494AB"/>
                </a:solidFill>
                <a:latin typeface="Segoe UI"/>
                <a:cs typeface="Segoe UI"/>
              </a:rPr>
              <a:t>AGL JuriCompliance</a:t>
            </a:r>
            <a:r>
              <a:rPr lang="fr-FR" sz="850" b="0" dirty="0">
                <a:solidFill>
                  <a:srgbClr val="8494AB"/>
                </a:solidFill>
                <a:latin typeface="Segoe UI"/>
                <a:cs typeface="Segoe UI"/>
              </a:rPr>
              <a:t>  ·  Veille réglementaire assistée par IA  ·  Prototype</a:t>
            </a:r>
            <a:endParaRPr lang="fr-FR" sz="100"/>
          </a:p>
        </p:txBody>
      </p:sp>
      <p:sp>
        <p:nvSpPr>
          <p:cNvPr id="50" name="forme"/>
          <p:cNvSpPr/>
          <p:nvPr/>
        </p:nvSpPr>
        <p:spPr>
          <a:xfrm>
            <a:off x="9448800" y="6489700"/>
            <a:ext cx="2032000" cy="152400"/>
          </a:xfrm>
          <a:prstGeom prst="rect">
            <a:avLst/>
          </a:prstGeom>
          <a:noFill/>
          <a:ln>
            <a:noFill/>
          </a:ln>
          <a:effectLst/>
        </p:spPr>
        <p:txBody>
          <a:bodyPr wrap="square" lIns="0" tIns="0" rIns="0" bIns="0" anchor="t">
            <a:noAutofit/>
          </a:bodyPr>
          <a:lstStyle/>
          <a:p>
            <a:pPr algn="r">
              <a:buNone/>
            </a:pPr>
            <a:r>
              <a:rPr lang="fr-FR" sz="850" b="1" dirty="0">
                <a:solidFill>
                  <a:srgbClr val="1C3359"/>
                </a:solidFill>
                <a:latin typeface="Segoe UI"/>
                <a:cs typeface="Segoe UI"/>
              </a:rPr>
              <a:t>6 / 6</a:t>
            </a:r>
            <a:endParaRPr lang="fr-FR" sz="100"/>
          </a:p>
        </p:txBody>
      </p:sp>
    </p:spTree>
  </p:cSld>
  <p:clrMapOvr>
    <a:masterClrMapping/>
  </p:clrMapOvr>
  <mc:AlternateContent>
    <mc:Choice Requires="p14 p14">
      <p:transition spd="slow" p14:dur="900">
        <p14:reveal dir="l"/>
      </p:transition>
    </mc:Choice>
    <mc:Fallback>
      <p:transition spd="slow">
        <p:wipe dir="l"/>
      </p:transition>
    </mc:Fallback>
  </mc:AlternateContent>
</p:sld>
</file>

<file path=ppt/theme/theme1.xml><?xml version="1.0" encoding="utf-8"?>
<a:theme xmlns:a="http://schemas.openxmlformats.org/drawingml/2006/main" name="AGL JuriCompliance">
  <a:themeElements>
    <a:clrScheme name="AGL">
      <a:dk1>
        <a:sysClr val="windowText" lastClr="000000"/>
      </a:dk1>
      <a:lt1>
        <a:sysClr val="window" lastClr="FFFFFF"/>
      </a:lt1>
      <a:dk2>
        <a:srgbClr val="1C3359"/>
      </a:dk2>
      <a:lt2>
        <a:srgbClr val="EEF2F8"/>
      </a:lt2>
      <a:accent1>
        <a:srgbClr val="1C3359"/>
      </a:accent1>
      <a:accent2>
        <a:srgbClr val="B6AD6E"/>
      </a:accent2>
      <a:accent3>
        <a:srgbClr val="2C4A78"/>
      </a:accent3>
      <a:accent4>
        <a:srgbClr val="6E8CB8"/>
      </a:accent4>
      <a:accent5>
        <a:srgbClr val="3F7A5C"/>
      </a:accent5>
      <a:accent6>
        <a:srgbClr val="9A9059"/>
      </a:accent6>
      <a:accent7>
        <a:srgbClr val="4C5C72"/>
      </a:accent7>
      <a:accent8>
        <a:srgbClr val="B04A3F"/>
      </a:accent8>
      <a:hlink>
        <a:srgbClr val="1C3359"/>
      </a:hlink>
      <a:folHlink>
        <a:srgbClr val="B6AD6E"/>
      </a:folHlink>
    </a:clrScheme>
    <a:fontScheme name="AGL">
      <a:majorFont>
        <a:latin typeface="Segoe UI"/>
        <a:ea typeface=""/>
        <a:cs typeface=""/>
      </a:majorFont>
      <a:minorFont>
        <a:latin typeface="Segoe UI"/>
        <a:ea typeface=""/>
        <a:cs typeface=""/>
      </a:minorFont>
    </a:fontScheme>
    <a:fmtScheme name="AGL">
      <a:fillStyleLst>
        <a:solidFill>
          <a:schemeClr val="phClr"/>
        </a:solidFill>
        <a:solidFill>
          <a:schemeClr val="phClr">
            <a:tint val="60000"/>
          </a:schemeClr>
        </a:solidFill>
        <a:solidFill>
          <a:schemeClr val="phClr">
            <a:shade val="80000"/>
          </a:scheme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60000"/>
          </a:schemeClr>
        </a:solidFill>
        <a:solidFill>
          <a:schemeClr val="phClr">
            <a:shade val="80000"/>
          </a:scheme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Slides>6</Slides>
  <Paragraphs>24</Paragraphs>
  <PresentationFormat>Widescreen</PresentationFormat>
  <ScaleCrop>false</ScaleCrop>
  <TitlesOfParts>
    <vt:vector size="7" baseType="lpstr">
      <vt:lpstr>AGL JuriCompliance</vt:lpstr>
      <vt:lpstr>AGL JuriCompliance</vt:lpstr>
      <vt:lpstr>01 — Le constat</vt:lpstr>
      <vt:lpstr>02 — Architecture</vt:lpstr>
      <vt:lpstr>03 — Fonctionnement</vt:lpstr>
      <vt:lpstr>04 — Garanties</vt:lpstr>
      <vt:lpstr>05 — Perspectives</vt:lpstr>
    </vt:vector>
  </TitlesOfParts>
  <Company>Africa Global Logistics (AGL)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AGL JuriCompliance — veille réglementaire assistée par IA</dc:title>
  <dc:subject>Veille reglementaire AGL</dc:subject>
  <dc:creator>AGL — Veille réglementaire</dc:creator>
  <cp:keywords>AGL; veille reglementaire; Power Pages; Dataverse</cp:keywords>
  <cp:lastModifiedBy>AGL — Veille réglementaire</cp:lastModifiedBy>
  <dcterms:created xsi:type="dcterms:W3CDTF">2026-09-28T21:50:48Z</dcterms:created>
  <dcterms:modified xsi:type="dcterms:W3CDTF">2026-09-28T21:50:48Z</dcterms:modified>
</cp:coreProperties>
</file>