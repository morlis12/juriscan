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fr-FR"/>
    </a:defPPr>
    <a:lvl1pPr marL="0" indent="0" algn="l" defTabSz="914400" rtl="0" eaLnBrk="1" latinLnBrk="0" hangingPunct="1">
      <a:defRPr sz="1800" kern="1200">
        <a:solidFill>
          <a:schemeClr val="tx1"/>
        </a:solidFill>
        <a:latin typeface="+mn-lt"/>
      </a:defRPr>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6" d="100"/>
          <a:sy n="76" d="100"/>
        </p:scale>
        <p:origin x="-1548" y="-90"/>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indent="0" algn="l" defTabSz="914400" rtl="0" eaLnBrk="1" latinLnBrk="0" hangingPunct="1">
      <a:defRPr sz="1200" kern="1200">
        <a:solidFill>
          <a:schemeClr val="tx1"/>
        </a:solidFill>
        <a:latin typeface="+mn-lt"/>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dirty="0"/>
              <a:t>Bonjour, je vous présente AGL JuriCompliance, notre prototype de veille réglementaire.</a:t>
            </a:r>
          </a:p>
          <a:p>
            <a:r>
              <a:rPr lang="fr-FR" dirty="0"/>
              <a:t>L'idée tient en une phrase : transformer le Journal Officiel en plans d'actions de conformité suivis, par direction.</a:t>
            </a:r>
          </a:p>
          <a:p>
            <a:r>
              <a:rPr lang="fr-FR" dirty="0"/>
              <a:t>Trois idées à retenir aujourd'hui : l'IA fait le dépouillement, la centrale répartit les textes, chaque direction pilote la sienne en vase clos.</a:t>
            </a:r>
          </a:p>
          <a:p>
            <a:r>
              <a:rPr lang="fr-FR" dirty="0"/>
              <a:t>Le prototype est fonctionnel et a été écrit pour ne pas être jeté : il est prêt à migrer vers Power Pages et Dataverse.</a:t>
            </a:r>
          </a:p>
          <a:p>
            <a:r>
              <a:rPr lang="fr-FR" dirty="0"/>
              <a:t>Durée indicative : 6 slides, on garde 5 minutes pour la démo et les questions.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dirty="0"/>
              <a:t>Le problème que l'on adresse n'est pas technique : c'est organisationnel.</a:t>
            </a:r>
          </a:p>
          <a:p>
            <a:r>
              <a:rPr lang="fr-FR" dirty="0"/>
              <a:t>Aujourd'hui la conformité réglementaire se suit dans des fichiers séparés, direction par direction, et le Journal Officiel se dépouille à la main.</a:t>
            </a:r>
          </a:p>
          <a:p>
            <a:r>
              <a:rPr lang="fr-FR" dirty="0"/>
              <a:t>Les conséquences concrètes : des textes qui nous échappent, des assignations approximatives, des preuves introuvables et des retards que personne ne voit.</a:t>
            </a:r>
          </a:p>
          <a:p>
            <a:r>
              <a:rPr lang="fr-FR" dirty="0"/>
              <a:t>La réponse tient dans la ligne du bas : un document, plusieurs actes, une assignation par direction, un suivi, une traçabilité.</a:t>
            </a:r>
          </a:p>
          <a:p>
            <a:r>
              <a:rPr lang="fr-FR" dirty="0"/>
              <a:t>Ne pas entrer dans le détail technique ici : c'est l'objet de la slide suivante.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dirty="0"/>
              <a:t>Voici ce que contient réellement l'application, couche par couche.</a:t>
            </a:r>
          </a:p>
          <a:p>
            <a:r>
              <a:rPr lang="fr-FR" dirty="0"/>
              <a:t>En haut la source : un PDF ou une image, rien de plus. Au centre l'extraction par IA, qui transforme un document en actes distincts — un Journal Officiel contient des dizaines d'actes, on ne les fusionne jamais.</a:t>
            </a:r>
          </a:p>
          <a:p>
            <a:r>
              <a:rPr lang="fr-FR" dirty="0"/>
              <a:t>Le point important est le domaine métier : il est écrit sans Next.js ni Prisma. C'est ce qui rend la migration Dataverse possible sans réécrire la logique.</a:t>
            </a:r>
          </a:p>
          <a:p>
            <a:r>
              <a:rPr lang="fr-FR" dirty="0"/>
              <a:t>La persistance porte déjà le versioning et le journal : la traçabilité n'est pas une option ajoutée après coup.</a:t>
            </a:r>
          </a:p>
          <a:p>
            <a:r>
              <a:rPr lang="fr-FR" dirty="0"/>
              <a:t>Et enfin six écrans, une API qui applique exactement les mêmes règles que l'interface.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dirty="0"/>
              <a:t>Le principe le plus important de la présentation est ici : qui décide quoi.</a:t>
            </a:r>
          </a:p>
          <a:p>
            <a:r>
              <a:rPr lang="fr-FR" dirty="0"/>
              <a:t>Étape 1, l'IA propose. Étape 2, la centrale — la veille réglementaire générale — valide le texte et l'assigne. Étape 3, la direction concernée approuve ou rejette son assignation. Étape 4, elle pilote sa conformité : preuve, action, responsable, délai, taux.</a:t>
            </a:r>
          </a:p>
          <a:p>
            <a:r>
              <a:rPr lang="fr-FR" dirty="0"/>
              <a:t>La double validation existe parce que ni l'IA ni la centrale ne décident à la place du métier.</a:t>
            </a:r>
          </a:p>
          <a:p>
            <a:r>
              <a:rPr lang="fr-FR" dirty="0"/>
              <a:t>Le cloisonnement est strict : une direction ne touche qu'à ses fiches, la Direction Juridique comprise, sans exception. Les autres directions sont en lecture seule, et ce contrôle existe aussi dans l'API, pas seulement dans l'écran.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dirty="0"/>
              <a:t>Une veille réglementaire n'a de valeur que si elle est défendable. Voici les quatre garanties.</a:t>
            </a:r>
          </a:p>
          <a:p>
            <a:r>
              <a:rPr lang="fr-FR" dirty="0"/>
              <a:t>Premièrement l'historique : on ne remplace pas une donnée, on la fige. Une fiche modifiée trois fois reste consultable dans ses trois états, avec l'auteur, la date et le détail des champs modifiés.</a:t>
            </a:r>
          </a:p>
          <a:p>
            <a:r>
              <a:rPr lang="fr-FR" dirty="0"/>
              <a:t>Deuxièmement le cloisonnement : contrôle réel, dans l'interface comme dans l'API.</a:t>
            </a:r>
          </a:p>
          <a:p>
            <a:r>
              <a:rPr lang="fr-FR" dirty="0"/>
              <a:t>Troisièmement la fidélité : l'IA recopie les articles mot à mot et ne construit jamais une référence. Si l'information n'est pas dans le document, la fiche affiche « N/A » et le juridique corrige.</a:t>
            </a:r>
          </a:p>
          <a:p>
            <a:r>
              <a:rPr lang="fr-FR" dirty="0"/>
              <a:t>Quatrièmement la fraîcheur : on sait toujours de quand datent les données et de quand date la version de l'outil affichée.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fr-FR" dirty="0"/>
              <a:t>Dernière slide : pourquoi ce prototype n'est pas un prototype jetable.</a:t>
            </a:r>
          </a:p>
          <a:p>
            <a:r>
              <a:rPr lang="fr-FR" dirty="0"/>
              <a:t>Le schéma Dataverse est déjà écrit dans le code, avec les listes de choix, les relations et les rôles de sécurité. Le seul point à basculer est l'identité : le sélecteur de direction sera remplacé par Entra ID et les Web Roles.</a:t>
            </a:r>
          </a:p>
          <a:p>
            <a:r>
              <a:rPr lang="fr-FR" dirty="0"/>
              <a:t>Concrètement, la suite est cadrée : recréer le schéma, brancher l'API, activer l'auditing natif, puis piloter la recette avec les directions.</a:t>
            </a:r>
          </a:p>
          <a:p>
            <a:r>
              <a:rPr lang="fr-FR" dirty="0"/>
              <a:t>Je propose de terminer par la démo : le même parcours que la présentation, sur des données réelles.</a:t>
            </a:r>
          </a:p>
          <a:p>
            <a:r>
              <a:rPr lang="fr-FR" dirty="0"/>
              <a:t>Le code et la documentation sont sur le dépôt indiqué en bas de slide — je vous invite à les parcourir.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marL="0" indent="0" algn="l" defTabSz="914400" rtl="0" eaLnBrk="1" latinLnBrk="0" hangingPunct="1">
        <a:defRPr sz="2600" b="1" kern="1200">
          <a:solidFill>
            <a:schemeClr val="tx2"/>
          </a:solidFill>
          <a:latin typeface="+mn-lt"/>
        </a:defRPr>
      </a:lvl1pPr>
    </p:titleStyle>
    <p:bodyStyle>
      <a:lvl1pPr marL="0" indent="0" algn="l" defTabSz="914400" rtl="0" eaLnBrk="1" latinLnBrk="0" hangingPunct="1">
        <a:defRPr sz="1400" kern="1200">
          <a:solidFill>
            <a:schemeClr val="tx1"/>
          </a:solidFill>
          <a:latin typeface="+mn-lt"/>
        </a:defRPr>
      </a:lvl1pPr>
    </p:bodyStyle>
    <p:otherStyle>
      <a:lvl1pPr marL="0" indent="0" algn="l" defTabSz="914400" rtl="0" eaLnBrk="1" latinLnBrk="0" hangingPunct="1">
        <a:defRPr sz="1200" kern="12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agl.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agl.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agl.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agl.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agl.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agl.png"/><Relationship Id="rId3" Type="http://schemas.openxmlformats.org/officeDocument/2006/relationships/hyperlink" Target="https://github.com/Morlis12/juriscan" TargetMode="External"/></Relationships>
</file>

<file path=ppt/slides/slide1.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xmlns:p159="http://schemas.microsoft.com/office/powerpoint/2015/09/main">
  <p:cSld>
    <p:bg>
      <p:bgPr>
        <a:solidFill>
          <a:srgbClr val="1C3359"/>
        </a:solidFill>
        <a:effectLst/>
      </p:bgPr>
    </p:bg>
    <p:spTree>
      <p:nvGrpSpPr>
        <p:cNvPr id="1" name=""/>
        <p:cNvGrpSpPr/>
        <p:nvPr/>
      </p:nvGrpSpPr>
      <p:grpSpPr>
        <a:xfrm>
          <a:off x="0" y="0"/>
          <a:ext cx="0" cy="0"/>
          <a:chOff x="0" y="0"/>
          <a:chExt cx="0" cy="0"/>
        </a:xfrm>
      </p:grpSpPr>
      <p:sp>
        <p:nvSpPr>
          <p:cNvPr id="2" name="forme"/>
          <p:cNvSpPr/>
          <p:nvPr/>
        </p:nvSpPr>
        <p:spPr>
          <a:xfrm>
            <a:off x="8890000" y="-1651000"/>
            <a:ext cx="5588000" cy="5588000"/>
          </a:xfrm>
          <a:prstGeom prst="ellipse">
            <a:avLst/>
          </a:prstGeom>
          <a:solidFill>
            <a:srgbClr val="2C4A78">
              <a:alpha val="13000"/>
            </a:srgbClr>
          </a:solidFill>
          <a:ln>
            <a:noFill/>
          </a:ln>
          <a:effectLst/>
        </p:spPr>
        <p:txBody>
          <a:bodyPr/>
          <a:lstStyle/>
          <a:p>
            <a:endParaRPr lang="fr-FR"/>
          </a:p>
        </p:txBody>
      </p:sp>
      <p:sp>
        <p:nvSpPr>
          <p:cNvPr id="3" name="forme"/>
          <p:cNvSpPr/>
          <p:nvPr/>
        </p:nvSpPr>
        <p:spPr>
          <a:xfrm>
            <a:off x="10160000" y="3175000"/>
            <a:ext cx="3810000" cy="3810000"/>
          </a:xfrm>
          <a:prstGeom prst="ellipse">
            <a:avLst/>
          </a:prstGeom>
          <a:solidFill>
            <a:srgbClr val="B6AD6E">
              <a:alpha val="6000"/>
            </a:srgbClr>
          </a:solidFill>
          <a:ln>
            <a:noFill/>
          </a:ln>
          <a:effectLst/>
        </p:spPr>
        <p:txBody>
          <a:bodyPr/>
          <a:lstStyle/>
          <a:p>
            <a:endParaRPr lang="fr-FR"/>
          </a:p>
        </p:txBody>
      </p:sp>
      <p:sp>
        <p:nvSpPr>
          <p:cNvPr id="4" name="forme"/>
          <p:cNvSpPr/>
          <p:nvPr/>
        </p:nvSpPr>
        <p:spPr>
          <a:xfrm>
            <a:off x="7112000" y="508000"/>
            <a:ext cx="2540000" cy="2540000"/>
          </a:xfrm>
          <a:prstGeom prst="ellipse">
            <a:avLst/>
          </a:prstGeom>
          <a:noFill/>
          <a:ln w="12700" cap="flat">
            <a:solidFill>
              <a:srgbClr val="B6AD6E">
                <a:alpha val="26000"/>
              </a:srgbClr>
            </a:solidFill>
            <a:prstDash val="solid"/>
            <a:flat/>
          </a:ln>
          <a:effectLst/>
        </p:spPr>
        <p:txBody>
          <a:bodyPr/>
          <a:lstStyle/>
          <a:p>
            <a:endParaRPr lang="fr-FR"/>
          </a:p>
        </p:txBody>
      </p:sp>
      <p:sp>
        <p:nvSpPr>
          <p:cNvPr id="5" name="forme"/>
          <p:cNvSpPr/>
          <p:nvPr/>
        </p:nvSpPr>
        <p:spPr>
          <a:xfrm>
            <a:off x="711200" y="2235200"/>
            <a:ext cx="50800" cy="990600"/>
          </a:xfrm>
          <a:prstGeom prst="rect">
            <a:avLst/>
          </a:prstGeom>
          <a:solidFill>
            <a:srgbClr val="B6AD6E"/>
          </a:solidFill>
          <a:ln>
            <a:noFill/>
          </a:ln>
          <a:effectLst/>
        </p:spPr>
        <p:txBody>
          <a:bodyPr/>
          <a:lstStyle/>
          <a:p>
            <a:endParaRPr lang="fr-FR"/>
          </a:p>
        </p:txBody>
      </p:sp>
      <p:pic>
        <p:nvPicPr>
          <p:cNvPr id="6" name="image"/>
          <p:cNvPicPr>
            <a:picLocks noChangeAspect="1"/>
          </p:cNvPicPr>
          <p:nvPr/>
        </p:nvPicPr>
        <p:blipFill>
          <a:blip r:embed="rId2"/>
          <a:stretch>
            <a:fillRect/>
          </a:stretch>
        </p:blipFill>
        <p:spPr>
          <a:xfrm>
            <a:off x="711200" y="685800"/>
            <a:ext cx="1752600" cy="838200"/>
          </a:xfrm>
          <a:prstGeom prst="rect">
            <a:avLst/>
          </a:prstGeom>
        </p:spPr>
      </p:pic>
      <p:sp>
        <p:nvSpPr>
          <p:cNvPr id="7" name="forme"/>
          <p:cNvSpPr/>
          <p:nvPr/>
        </p:nvSpPr>
        <p:spPr>
          <a:xfrm>
            <a:off x="1041400" y="2184400"/>
            <a:ext cx="7874000" cy="177800"/>
          </a:xfrm>
          <a:prstGeom prst="rect">
            <a:avLst/>
          </a:prstGeom>
          <a:noFill/>
          <a:ln>
            <a:noFill/>
          </a:ln>
          <a:effectLst/>
        </p:spPr>
        <p:txBody>
          <a:bodyPr wrap="square" lIns="0" tIns="0" rIns="0" bIns="0" anchor="t">
            <a:noAutofit/>
          </a:bodyPr>
          <a:lstStyle/>
          <a:p>
            <a:pPr>
              <a:buNone/>
            </a:pPr>
            <a:r>
              <a:rPr lang="fr-FR" sz="950" b="1" cap="all" spc="160" dirty="0">
                <a:solidFill>
                  <a:srgbClr val="B6AD6E"/>
                </a:solidFill>
                <a:latin typeface="Segoe UI"/>
                <a:cs typeface="Segoe UI"/>
              </a:rPr>
              <a:t>AGL  ·  Veille réglementaire  ·  Africa Global Logistics</a:t>
            </a:r>
            <a:endParaRPr lang="fr-FR" sz="100"/>
          </a:p>
        </p:txBody>
      </p:sp>
      <p:sp>
        <p:nvSpPr>
          <p:cNvPr id="8" name="forme"/>
          <p:cNvSpPr/>
          <p:nvPr/>
        </p:nvSpPr>
        <p:spPr>
          <a:xfrm>
            <a:off x="1041400" y="2463800"/>
            <a:ext cx="9652000" cy="939800"/>
          </a:xfrm>
          <a:prstGeom prst="rect">
            <a:avLst/>
          </a:prstGeom>
          <a:noFill/>
          <a:ln>
            <a:noFill/>
          </a:ln>
          <a:effectLst/>
        </p:spPr>
        <p:txBody>
          <a:bodyPr wrap="square" lIns="0" tIns="0" rIns="0" bIns="0" anchor="t">
            <a:noAutofit/>
          </a:bodyPr>
          <a:lstStyle/>
          <a:p>
            <a:pPr>
              <a:buNone/>
            </a:pPr>
            <a:r>
              <a:rPr lang="fr-FR" sz="5200" b="1" dirty="0">
                <a:solidFill>
                  <a:srgbClr val="FFFFFF"/>
                </a:solidFill>
                <a:latin typeface="Segoe UI"/>
                <a:cs typeface="Segoe UI"/>
              </a:rPr>
              <a:t>AGL </a:t>
            </a:r>
            <a:r>
              <a:rPr lang="fr-FR" sz="5200" b="1" dirty="0">
                <a:solidFill>
                  <a:srgbClr val="B6AD6E"/>
                </a:solidFill>
                <a:latin typeface="Segoe UI"/>
                <a:cs typeface="Segoe UI"/>
              </a:rPr>
              <a:t>JuriCompliance</a:t>
            </a:r>
            <a:endParaRPr lang="fr-FR" sz="100"/>
          </a:p>
        </p:txBody>
      </p:sp>
      <p:sp>
        <p:nvSpPr>
          <p:cNvPr id="9" name="forme"/>
          <p:cNvSpPr/>
          <p:nvPr/>
        </p:nvSpPr>
        <p:spPr>
          <a:xfrm>
            <a:off x="1041400" y="3530600"/>
            <a:ext cx="8890000" cy="330200"/>
          </a:xfrm>
          <a:prstGeom prst="rect">
            <a:avLst/>
          </a:prstGeom>
          <a:noFill/>
          <a:ln>
            <a:noFill/>
          </a:ln>
          <a:effectLst/>
        </p:spPr>
        <p:txBody>
          <a:bodyPr wrap="square" lIns="0" tIns="0" rIns="0" bIns="0" anchor="t">
            <a:noAutofit/>
          </a:bodyPr>
          <a:lstStyle/>
          <a:p>
            <a:pPr>
              <a:buNone/>
            </a:pPr>
            <a:r>
              <a:rPr lang="fr-FR" sz="1900" b="0" dirty="0">
                <a:solidFill>
                  <a:srgbClr val="DCE5F2"/>
                </a:solidFill>
                <a:latin typeface="Segoe UI"/>
                <a:cs typeface="Segoe UI"/>
              </a:rPr>
              <a:t>Veille réglementaire assistée par IA</a:t>
            </a:r>
            <a:endParaRPr lang="fr-FR" sz="100"/>
          </a:p>
        </p:txBody>
      </p:sp>
      <p:sp>
        <p:nvSpPr>
          <p:cNvPr id="10" name="forme"/>
          <p:cNvSpPr/>
          <p:nvPr/>
        </p:nvSpPr>
        <p:spPr>
          <a:xfrm>
            <a:off x="1041400" y="3962400"/>
            <a:ext cx="9144000" cy="254000"/>
          </a:xfrm>
          <a:prstGeom prst="rect">
            <a:avLst/>
          </a:prstGeom>
          <a:noFill/>
          <a:ln>
            <a:noFill/>
          </a:ln>
          <a:effectLst/>
        </p:spPr>
        <p:txBody>
          <a:bodyPr wrap="square" lIns="0" tIns="0" rIns="0" bIns="0" anchor="t">
            <a:noAutofit/>
          </a:bodyPr>
          <a:lstStyle/>
          <a:p>
            <a:pPr>
              <a:buNone/>
            </a:pPr>
            <a:r>
              <a:rPr lang="fr-FR" sz="1200" b="0" dirty="0">
                <a:solidFill>
                  <a:srgbClr val="A9BAD2"/>
                </a:solidFill>
                <a:latin typeface="Segoe UI"/>
                <a:cs typeface="Segoe UI"/>
              </a:rPr>
              <a:t>Du Journal Officiel à la conformité terrain : capter, extraire, assigner, piloter.</a:t>
            </a:r>
            <a:endParaRPr lang="fr-FR" sz="100"/>
          </a:p>
        </p:txBody>
      </p:sp>
      <p:sp>
        <p:nvSpPr>
          <p:cNvPr id="11" name="forme"/>
          <p:cNvSpPr/>
          <p:nvPr/>
        </p:nvSpPr>
        <p:spPr>
          <a:xfrm>
            <a:off x="711200" y="4724400"/>
            <a:ext cx="1749044" cy="381000"/>
          </a:xfrm>
          <a:prstGeom prst="roundRect">
            <a:avLst>
              <a:gd name="adj" fmla="val 50000"/>
            </a:avLst>
          </a:prstGeom>
          <a:solidFill>
            <a:srgbClr val="FFFFFF">
              <a:alpha val="10000"/>
            </a:srgbClr>
          </a:solidFill>
          <a:ln w="9525" cap="flat">
            <a:solidFill>
              <a:srgbClr val="FFFFFF">
                <a:alpha val="26000"/>
              </a:srgbClr>
            </a:solidFill>
            <a:prstDash val="solid"/>
            <a:flat/>
          </a:ln>
          <a:effectLst/>
        </p:spPr>
        <p:txBody>
          <a:bodyPr/>
          <a:lstStyle/>
          <a:p>
            <a:endParaRPr lang="fr-FR"/>
          </a:p>
        </p:txBody>
      </p:sp>
      <p:sp>
        <p:nvSpPr>
          <p:cNvPr id="12" name="forme"/>
          <p:cNvSpPr/>
          <p:nvPr/>
        </p:nvSpPr>
        <p:spPr>
          <a:xfrm>
            <a:off x="711200" y="4724400"/>
            <a:ext cx="1749044" cy="381000"/>
          </a:xfrm>
          <a:prstGeom prst="rect">
            <a:avLst/>
          </a:prstGeom>
          <a:noFill/>
          <a:ln>
            <a:noFill/>
          </a:ln>
          <a:effectLst/>
        </p:spPr>
        <p:txBody>
          <a:bodyPr wrap="square" lIns="0" tIns="0" rIns="0" bIns="0" anchor="ctr">
            <a:noAutofit/>
          </a:bodyPr>
          <a:lstStyle/>
          <a:p>
            <a:pPr algn="ctr">
              <a:buNone/>
            </a:pPr>
            <a:r>
              <a:rPr lang="fr-FR" sz="950" b="1" dirty="0">
                <a:solidFill>
                  <a:srgbClr val="E8EEF7"/>
                </a:solidFill>
                <a:latin typeface="Segoe UI"/>
                <a:cs typeface="Segoe UI"/>
              </a:rPr>
              <a:t>Prototype fonctionnel</a:t>
            </a:r>
            <a:endParaRPr lang="fr-FR" sz="100"/>
          </a:p>
        </p:txBody>
      </p:sp>
      <p:sp>
        <p:nvSpPr>
          <p:cNvPr id="13" name="forme"/>
          <p:cNvSpPr/>
          <p:nvPr/>
        </p:nvSpPr>
        <p:spPr>
          <a:xfrm>
            <a:off x="2612644" y="4724400"/>
            <a:ext cx="1140968" cy="381000"/>
          </a:xfrm>
          <a:prstGeom prst="roundRect">
            <a:avLst>
              <a:gd name="adj" fmla="val 50000"/>
            </a:avLst>
          </a:prstGeom>
          <a:solidFill>
            <a:srgbClr val="FFFFFF">
              <a:alpha val="10000"/>
            </a:srgbClr>
          </a:solidFill>
          <a:ln w="9525" cap="flat">
            <a:solidFill>
              <a:srgbClr val="FFFFFF">
                <a:alpha val="26000"/>
              </a:srgbClr>
            </a:solidFill>
            <a:prstDash val="solid"/>
            <a:flat/>
          </a:ln>
          <a:effectLst/>
        </p:spPr>
        <p:txBody>
          <a:bodyPr/>
          <a:lstStyle/>
          <a:p>
            <a:endParaRPr lang="fr-FR"/>
          </a:p>
        </p:txBody>
      </p:sp>
      <p:sp>
        <p:nvSpPr>
          <p:cNvPr id="14" name="forme"/>
          <p:cNvSpPr/>
          <p:nvPr/>
        </p:nvSpPr>
        <p:spPr>
          <a:xfrm>
            <a:off x="2612644" y="4724400"/>
            <a:ext cx="1140968" cy="381000"/>
          </a:xfrm>
          <a:prstGeom prst="rect">
            <a:avLst/>
          </a:prstGeom>
          <a:noFill/>
          <a:ln>
            <a:noFill/>
          </a:ln>
          <a:effectLst/>
        </p:spPr>
        <p:txBody>
          <a:bodyPr wrap="square" lIns="0" tIns="0" rIns="0" bIns="0" anchor="ctr">
            <a:noAutofit/>
          </a:bodyPr>
          <a:lstStyle/>
          <a:p>
            <a:pPr algn="ctr">
              <a:buNone/>
            </a:pPr>
            <a:r>
              <a:rPr lang="fr-FR" sz="950" b="1" dirty="0">
                <a:solidFill>
                  <a:srgbClr val="E8EEF7"/>
                </a:solidFill>
                <a:latin typeface="Segoe UI"/>
                <a:cs typeface="Segoe UI"/>
              </a:rPr>
              <a:t>8 directions</a:t>
            </a:r>
            <a:endParaRPr lang="fr-FR" sz="100"/>
          </a:p>
        </p:txBody>
      </p:sp>
      <p:sp>
        <p:nvSpPr>
          <p:cNvPr id="15" name="forme"/>
          <p:cNvSpPr/>
          <p:nvPr/>
        </p:nvSpPr>
        <p:spPr>
          <a:xfrm>
            <a:off x="3906012" y="4724400"/>
            <a:ext cx="1749044" cy="381000"/>
          </a:xfrm>
          <a:prstGeom prst="roundRect">
            <a:avLst>
              <a:gd name="adj" fmla="val 50000"/>
            </a:avLst>
          </a:prstGeom>
          <a:solidFill>
            <a:srgbClr val="FFFFFF">
              <a:alpha val="10000"/>
            </a:srgbClr>
          </a:solidFill>
          <a:ln w="9525" cap="flat">
            <a:solidFill>
              <a:srgbClr val="FFFFFF">
                <a:alpha val="26000"/>
              </a:srgbClr>
            </a:solidFill>
            <a:prstDash val="solid"/>
            <a:flat/>
          </a:ln>
          <a:effectLst/>
        </p:spPr>
        <p:txBody>
          <a:bodyPr/>
          <a:lstStyle/>
          <a:p>
            <a:endParaRPr lang="fr-FR"/>
          </a:p>
        </p:txBody>
      </p:sp>
      <p:sp>
        <p:nvSpPr>
          <p:cNvPr id="16" name="forme"/>
          <p:cNvSpPr/>
          <p:nvPr/>
        </p:nvSpPr>
        <p:spPr>
          <a:xfrm>
            <a:off x="3906012" y="4724400"/>
            <a:ext cx="1749044" cy="381000"/>
          </a:xfrm>
          <a:prstGeom prst="rect">
            <a:avLst/>
          </a:prstGeom>
          <a:noFill/>
          <a:ln>
            <a:noFill/>
          </a:ln>
          <a:effectLst/>
        </p:spPr>
        <p:txBody>
          <a:bodyPr wrap="square" lIns="0" tIns="0" rIns="0" bIns="0" anchor="ctr">
            <a:noAutofit/>
          </a:bodyPr>
          <a:lstStyle/>
          <a:p>
            <a:pPr algn="ctr">
              <a:buNone/>
            </a:pPr>
            <a:r>
              <a:rPr lang="fr-FR" sz="950" b="1" dirty="0">
                <a:solidFill>
                  <a:srgbClr val="E8EEF7"/>
                </a:solidFill>
                <a:latin typeface="Segoe UI"/>
                <a:cs typeface="Segoe UI"/>
              </a:rPr>
              <a:t>Traçabilité intégrale</a:t>
            </a:r>
            <a:endParaRPr lang="fr-FR" sz="100"/>
          </a:p>
        </p:txBody>
      </p:sp>
      <p:sp>
        <p:nvSpPr>
          <p:cNvPr id="17" name="forme"/>
          <p:cNvSpPr/>
          <p:nvPr/>
        </p:nvSpPr>
        <p:spPr>
          <a:xfrm>
            <a:off x="5807456" y="4724400"/>
            <a:ext cx="2289556" cy="381000"/>
          </a:xfrm>
          <a:prstGeom prst="roundRect">
            <a:avLst>
              <a:gd name="adj" fmla="val 50000"/>
            </a:avLst>
          </a:prstGeom>
          <a:solidFill>
            <a:srgbClr val="FFFFFF">
              <a:alpha val="10000"/>
            </a:srgbClr>
          </a:solidFill>
          <a:ln w="9525" cap="flat">
            <a:solidFill>
              <a:srgbClr val="FFFFFF">
                <a:alpha val="26000"/>
              </a:srgbClr>
            </a:solidFill>
            <a:prstDash val="solid"/>
            <a:flat/>
          </a:ln>
          <a:effectLst/>
        </p:spPr>
        <p:txBody>
          <a:bodyPr/>
          <a:lstStyle/>
          <a:p>
            <a:endParaRPr lang="fr-FR"/>
          </a:p>
        </p:txBody>
      </p:sp>
      <p:sp>
        <p:nvSpPr>
          <p:cNvPr id="18" name="forme"/>
          <p:cNvSpPr/>
          <p:nvPr/>
        </p:nvSpPr>
        <p:spPr>
          <a:xfrm>
            <a:off x="5807456" y="4724400"/>
            <a:ext cx="2289556" cy="381000"/>
          </a:xfrm>
          <a:prstGeom prst="rect">
            <a:avLst/>
          </a:prstGeom>
          <a:noFill/>
          <a:ln>
            <a:noFill/>
          </a:ln>
          <a:effectLst/>
        </p:spPr>
        <p:txBody>
          <a:bodyPr wrap="square" lIns="0" tIns="0" rIns="0" bIns="0" anchor="ctr">
            <a:noAutofit/>
          </a:bodyPr>
          <a:lstStyle/>
          <a:p>
            <a:pPr algn="ctr">
              <a:buNone/>
            </a:pPr>
            <a:r>
              <a:rPr lang="fr-FR" sz="950" b="1" dirty="0">
                <a:solidFill>
                  <a:srgbClr val="E8EEF7"/>
                </a:solidFill>
                <a:latin typeface="Segoe UI"/>
                <a:cs typeface="Segoe UI"/>
              </a:rPr>
              <a:t>Power Pages / Dataverse ready</a:t>
            </a:r>
            <a:endParaRPr lang="fr-FR" sz="100"/>
          </a:p>
        </p:txBody>
      </p:sp>
      <p:sp>
        <p:nvSpPr>
          <p:cNvPr id="19" name="forme"/>
          <p:cNvSpPr/>
          <p:nvPr/>
        </p:nvSpPr>
        <p:spPr>
          <a:xfrm>
            <a:off x="711200" y="5740400"/>
            <a:ext cx="10769600" cy="12700"/>
          </a:xfrm>
          <a:prstGeom prst="rect">
            <a:avLst/>
          </a:prstGeom>
          <a:solidFill>
            <a:srgbClr val="5D7093"/>
          </a:solidFill>
          <a:ln>
            <a:noFill/>
          </a:ln>
          <a:effectLst/>
        </p:spPr>
        <p:txBody>
          <a:bodyPr/>
          <a:lstStyle/>
          <a:p>
            <a:endParaRPr lang="fr-FR"/>
          </a:p>
        </p:txBody>
      </p:sp>
      <p:sp>
        <p:nvSpPr>
          <p:cNvPr id="20" name="forme"/>
          <p:cNvSpPr/>
          <p:nvPr/>
        </p:nvSpPr>
        <p:spPr>
          <a:xfrm>
            <a:off x="711200" y="5943600"/>
            <a:ext cx="7874000" cy="203200"/>
          </a:xfrm>
          <a:prstGeom prst="rect">
            <a:avLst/>
          </a:prstGeom>
          <a:noFill/>
          <a:ln>
            <a:noFill/>
          </a:ln>
          <a:effectLst/>
        </p:spPr>
        <p:txBody>
          <a:bodyPr wrap="square" lIns="0" tIns="0" rIns="0" bIns="0" anchor="t">
            <a:noAutofit/>
          </a:bodyPr>
          <a:lstStyle/>
          <a:p>
            <a:pPr>
              <a:buNone/>
            </a:pPr>
            <a:r>
              <a:rPr lang="fr-FR" sz="1000" b="0" dirty="0">
                <a:solidFill>
                  <a:srgbClr val="A9BAD2"/>
                </a:solidFill>
                <a:latin typeface="Segoe UI"/>
                <a:cs typeface="Segoe UI"/>
              </a:rPr>
              <a:t>Présentation de projet  ·  </a:t>
            </a:r>
            <a:r>
              <a:rPr lang="fr-FR" sz="1000" b="1" dirty="0">
                <a:solidFill>
                  <a:srgbClr val="B6AD6E"/>
                </a:solidFill>
                <a:latin typeface="Segoe UI"/>
                <a:cs typeface="Segoe UI"/>
              </a:rPr>
              <a:t>github.com/Morlis12/juriscan</a:t>
            </a:r>
            <a:endParaRPr lang="fr-FR" sz="100"/>
          </a:p>
        </p:txBody>
      </p:sp>
      <p:sp>
        <p:nvSpPr>
          <p:cNvPr id="21" name="forme"/>
          <p:cNvSpPr/>
          <p:nvPr/>
        </p:nvSpPr>
        <p:spPr>
          <a:xfrm>
            <a:off x="7416800" y="5943600"/>
            <a:ext cx="4064000" cy="203200"/>
          </a:xfrm>
          <a:prstGeom prst="rect">
            <a:avLst/>
          </a:prstGeom>
          <a:noFill/>
          <a:ln>
            <a:noFill/>
          </a:ln>
          <a:effectLst/>
        </p:spPr>
        <p:txBody>
          <a:bodyPr wrap="square" lIns="0" tIns="0" rIns="0" bIns="0" anchor="t">
            <a:noAutofit/>
          </a:bodyPr>
          <a:lstStyle/>
          <a:p>
            <a:pPr algn="r">
              <a:buNone/>
            </a:pPr>
            <a:r>
              <a:rPr lang="fr-FR" sz="1000" b="0" dirty="0">
                <a:solidFill>
                  <a:srgbClr val="A9BAD2"/>
                </a:solidFill>
                <a:latin typeface="Segoe UI"/>
                <a:cs typeface="Segoe UI"/>
              </a:rPr>
              <a:t>Next.js 16 · Prisma / PostgreSQL · Entra ID ready</a:t>
            </a:r>
            <a:endParaRPr lang="fr-FR" sz="100"/>
          </a:p>
        </p:txBody>
      </p:sp>
    </p:spTree>
  </p:cSld>
  <p:clrMapOvr>
    <a:masterClrMapping/>
  </p:clrMapOvr>
  <mc:AlternateContent>
    <mc:Choice Requires="p14">
      <p:transition spd="slow" p14:dur="9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xmlns:p159="http://schemas.microsoft.com/office/powerpoint/2015/09/main">
  <p:cSld>
    <p:bg>
      <p:bgPr>
        <a:solidFill>
          <a:srgbClr val="FFFFFF"/>
        </a:solidFill>
        <a:effectLst/>
      </p:bgPr>
    </p:bg>
    <p:spTree>
      <p:nvGrpSpPr>
        <p:cNvPr id="1" name=""/>
        <p:cNvGrpSpPr/>
        <p:nvPr/>
      </p:nvGrpSpPr>
      <p:grpSpPr>
        <a:xfrm>
          <a:off x="0" y="0"/>
          <a:ext cx="0" cy="0"/>
          <a:chOff x="0" y="0"/>
          <a:chExt cx="0" cy="0"/>
        </a:xfrm>
      </p:grpSpPr>
      <p:sp>
        <p:nvSpPr>
          <p:cNvPr id="2" name="forme"/>
          <p:cNvSpPr/>
          <p:nvPr/>
        </p:nvSpPr>
        <p:spPr>
          <a:xfrm>
            <a:off x="0" y="0"/>
            <a:ext cx="12192000" cy="1168400"/>
          </a:xfrm>
          <a:prstGeom prst="rect">
            <a:avLst/>
          </a:prstGeom>
          <a:solidFill>
            <a:srgbClr val="1C3359"/>
          </a:solidFill>
          <a:ln>
            <a:noFill/>
          </a:ln>
          <a:effectLst/>
        </p:spPr>
        <p:txBody>
          <a:bodyPr/>
          <a:lstStyle/>
          <a:p>
            <a:endParaRPr lang="fr-FR"/>
          </a:p>
        </p:txBody>
      </p:sp>
      <p:sp>
        <p:nvSpPr>
          <p:cNvPr id="3" name="forme"/>
          <p:cNvSpPr/>
          <p:nvPr/>
        </p:nvSpPr>
        <p:spPr>
          <a:xfrm>
            <a:off x="0" y="1168400"/>
            <a:ext cx="12192000" cy="38100"/>
          </a:xfrm>
          <a:prstGeom prst="rect">
            <a:avLst/>
          </a:prstGeom>
          <a:solidFill>
            <a:srgbClr val="B6AD6E"/>
          </a:solidFill>
          <a:ln>
            <a:noFill/>
          </a:ln>
          <a:effectLst/>
        </p:spPr>
        <p:txBody>
          <a:bodyPr/>
          <a:lstStyle/>
          <a:p>
            <a:endParaRPr lang="fr-FR"/>
          </a:p>
        </p:txBody>
      </p:sp>
      <p:sp>
        <p:nvSpPr>
          <p:cNvPr id="4" name="forme"/>
          <p:cNvSpPr/>
          <p:nvPr/>
        </p:nvSpPr>
        <p:spPr>
          <a:xfrm>
            <a:off x="330200" y="342900"/>
            <a:ext cx="482600" cy="482600"/>
          </a:xfrm>
          <a:prstGeom prst="ellipse">
            <a:avLst/>
          </a:prstGeom>
          <a:noFill/>
          <a:ln w="15875" cap="flat">
            <a:solidFill>
              <a:srgbClr val="B6AD6E"/>
            </a:solidFill>
            <a:prstDash val="solid"/>
            <a:flat/>
          </a:ln>
          <a:effectLst/>
        </p:spPr>
        <p:txBody>
          <a:bodyPr/>
          <a:lstStyle/>
          <a:p>
            <a:endParaRPr lang="fr-FR"/>
          </a:p>
        </p:txBody>
      </p:sp>
      <p:sp>
        <p:nvSpPr>
          <p:cNvPr id="5" name="forme"/>
          <p:cNvSpPr/>
          <p:nvPr/>
        </p:nvSpPr>
        <p:spPr>
          <a:xfrm>
            <a:off x="330200" y="342900"/>
            <a:ext cx="482600" cy="482600"/>
          </a:xfrm>
          <a:prstGeom prst="rect">
            <a:avLst/>
          </a:prstGeom>
          <a:noFill/>
          <a:ln>
            <a:noFill/>
          </a:ln>
          <a:effectLst/>
        </p:spPr>
        <p:txBody>
          <a:bodyPr wrap="square" lIns="0" tIns="0" rIns="0" bIns="0" anchor="ctr">
            <a:noAutofit/>
          </a:bodyPr>
          <a:lstStyle/>
          <a:p>
            <a:pPr algn="ctr">
              <a:buNone/>
            </a:pPr>
            <a:r>
              <a:rPr lang="fr-FR" sz="1500" b="1" dirty="0">
                <a:solidFill>
                  <a:srgbClr val="B6AD6E"/>
                </a:solidFill>
                <a:latin typeface="Segoe UI"/>
                <a:cs typeface="Segoe UI"/>
              </a:rPr>
              <a:t>01</a:t>
            </a:r>
            <a:endParaRPr lang="fr-FR" sz="100"/>
          </a:p>
        </p:txBody>
      </p:sp>
      <p:sp>
        <p:nvSpPr>
          <p:cNvPr id="6" name="forme"/>
          <p:cNvSpPr/>
          <p:nvPr/>
        </p:nvSpPr>
        <p:spPr>
          <a:xfrm>
            <a:off x="1066800" y="228600"/>
            <a:ext cx="8128000" cy="177800"/>
          </a:xfrm>
          <a:prstGeom prst="rect">
            <a:avLst/>
          </a:prstGeom>
          <a:noFill/>
          <a:ln>
            <a:noFill/>
          </a:ln>
          <a:effectLst/>
        </p:spPr>
        <p:txBody>
          <a:bodyPr wrap="square" lIns="0" tIns="0" rIns="0" bIns="0" anchor="t">
            <a:noAutofit/>
          </a:bodyPr>
          <a:lstStyle/>
          <a:p>
            <a:pPr>
              <a:buNone/>
            </a:pPr>
            <a:r>
              <a:rPr lang="fr-FR" sz="900" b="1" cap="all" spc="140" dirty="0">
                <a:solidFill>
                  <a:srgbClr val="B6AD6E"/>
                </a:solidFill>
                <a:latin typeface="Segoe UI"/>
                <a:cs typeface="Segoe UI"/>
              </a:rPr>
              <a:t>Le constat</a:t>
            </a:r>
            <a:endParaRPr lang="fr-FR" sz="100"/>
          </a:p>
        </p:txBody>
      </p:sp>
      <p:sp>
        <p:nvSpPr>
          <p:cNvPr id="7" name="forme"/>
          <p:cNvSpPr/>
          <p:nvPr/>
        </p:nvSpPr>
        <p:spPr>
          <a:xfrm>
            <a:off x="1066800" y="457200"/>
            <a:ext cx="8890000" cy="508000"/>
          </a:xfrm>
          <a:prstGeom prst="rect">
            <a:avLst/>
          </a:prstGeom>
          <a:noFill/>
          <a:ln>
            <a:noFill/>
          </a:ln>
          <a:effectLst/>
        </p:spPr>
        <p:txBody>
          <a:bodyPr wrap="square" lIns="0" tIns="0" rIns="0" bIns="0" anchor="t">
            <a:noAutofit/>
          </a:bodyPr>
          <a:lstStyle/>
          <a:p>
            <a:pPr>
              <a:buNone/>
            </a:pPr>
            <a:r>
              <a:rPr lang="fr-FR" sz="2400" b="1" dirty="0">
                <a:solidFill>
                  <a:srgbClr val="FFFFFF"/>
                </a:solidFill>
                <a:latin typeface="Segoe UI"/>
                <a:cs typeface="Segoe UI"/>
              </a:rPr>
              <a:t>Un flux manuel, dispersé et peu tracé</a:t>
            </a:r>
            <a:endParaRPr lang="fr-FR" sz="100"/>
          </a:p>
        </p:txBody>
      </p:sp>
      <p:pic>
        <p:nvPicPr>
          <p:cNvPr id="8" name="image"/>
          <p:cNvPicPr>
            <a:picLocks noChangeAspect="1"/>
          </p:cNvPicPr>
          <p:nvPr/>
        </p:nvPicPr>
        <p:blipFill>
          <a:blip r:embed="rId2"/>
          <a:stretch>
            <a:fillRect/>
          </a:stretch>
        </p:blipFill>
        <p:spPr>
          <a:xfrm>
            <a:off x="10629900" y="381000"/>
            <a:ext cx="850900" cy="406400"/>
          </a:xfrm>
          <a:prstGeom prst="rect">
            <a:avLst/>
          </a:prstGeom>
        </p:spPr>
      </p:pic>
      <p:sp>
        <p:nvSpPr>
          <p:cNvPr id="9" name="forme"/>
          <p:cNvSpPr/>
          <p:nvPr/>
        </p:nvSpPr>
        <p:spPr>
          <a:xfrm>
            <a:off x="711200" y="1778000"/>
            <a:ext cx="2501900" cy="2489200"/>
          </a:xfrm>
          <a:prstGeom prst="roundRect">
            <a:avLst>
              <a:gd name="adj" fmla="val 12245"/>
            </a:avLst>
          </a:prstGeom>
          <a:solidFill>
            <a:srgbClr val="FFFFFF"/>
          </a:solidFill>
          <a:ln w="9525" cap="flat">
            <a:solidFill>
              <a:srgbClr val="DCE3EE"/>
            </a:solidFill>
            <a:prstDash val="solid"/>
            <a:flat/>
          </a:ln>
          <a:effectLst>
            <a:outerShdw blurRad="127000" dist="31750" dir="5400000" rotWithShape="0">
              <a:srgbClr val="0B1A30">
                <a:alpha val="8000"/>
              </a:srgbClr>
            </a:outerShdw>
          </a:effectLst>
        </p:spPr>
        <p:txBody>
          <a:bodyPr/>
          <a:lstStyle/>
          <a:p>
            <a:endParaRPr lang="fr-FR"/>
          </a:p>
        </p:txBody>
      </p:sp>
      <p:sp>
        <p:nvSpPr>
          <p:cNvPr id="10" name="forme"/>
          <p:cNvSpPr/>
          <p:nvPr/>
        </p:nvSpPr>
        <p:spPr>
          <a:xfrm>
            <a:off x="711200" y="1778000"/>
            <a:ext cx="50800" cy="2489200"/>
          </a:xfrm>
          <a:prstGeom prst="roundRect">
            <a:avLst>
              <a:gd name="adj" fmla="val 50000"/>
            </a:avLst>
          </a:prstGeom>
          <a:solidFill>
            <a:srgbClr val="B6AD6E"/>
          </a:solidFill>
          <a:ln>
            <a:noFill/>
          </a:ln>
          <a:effectLst/>
        </p:spPr>
        <p:txBody>
          <a:bodyPr/>
          <a:lstStyle/>
          <a:p>
            <a:endParaRPr lang="fr-FR"/>
          </a:p>
        </p:txBody>
      </p:sp>
      <p:sp>
        <p:nvSpPr>
          <p:cNvPr id="11" name="forme"/>
          <p:cNvSpPr/>
          <p:nvPr/>
        </p:nvSpPr>
        <p:spPr>
          <a:xfrm>
            <a:off x="965200" y="2032000"/>
            <a:ext cx="482600" cy="482600"/>
          </a:xfrm>
          <a:prstGeom prst="roundRect">
            <a:avLst>
              <a:gd name="adj" fmla="val 50000"/>
            </a:avLst>
          </a:prstGeom>
          <a:solidFill>
            <a:srgbClr val="1C3359"/>
          </a:solidFill>
          <a:ln>
            <a:noFill/>
          </a:ln>
          <a:effectLst/>
        </p:spPr>
        <p:txBody>
          <a:bodyPr/>
          <a:lstStyle/>
          <a:p>
            <a:endParaRPr lang="fr-FR"/>
          </a:p>
        </p:txBody>
      </p:sp>
      <p:sp>
        <p:nvSpPr>
          <p:cNvPr id="12" name="forme"/>
          <p:cNvSpPr/>
          <p:nvPr/>
        </p:nvSpPr>
        <p:spPr>
          <a:xfrm>
            <a:off x="1096081" y="2213072"/>
            <a:ext cx="220838" cy="165628"/>
          </a:xfrm>
          <a:prstGeom prst="rect">
            <a:avLst/>
          </a:prstGeom>
          <a:solidFill>
            <a:srgbClr val="FFFFFF"/>
          </a:solidFill>
          <a:ln>
            <a:noFill/>
          </a:ln>
          <a:effectLst/>
        </p:spPr>
        <p:txBody>
          <a:bodyPr/>
          <a:lstStyle/>
          <a:p>
            <a:endParaRPr lang="fr-FR"/>
          </a:p>
        </p:txBody>
      </p:sp>
      <p:sp>
        <p:nvSpPr>
          <p:cNvPr id="13" name="forme"/>
          <p:cNvSpPr/>
          <p:nvPr/>
        </p:nvSpPr>
        <p:spPr>
          <a:xfrm>
            <a:off x="1131214" y="2248205"/>
            <a:ext cx="37643" cy="27605"/>
          </a:xfrm>
          <a:prstGeom prst="rect">
            <a:avLst/>
          </a:prstGeom>
          <a:solidFill>
            <a:srgbClr val="1C3359"/>
          </a:solidFill>
          <a:ln>
            <a:noFill/>
          </a:ln>
          <a:effectLst/>
        </p:spPr>
        <p:txBody>
          <a:bodyPr/>
          <a:lstStyle/>
          <a:p>
            <a:endParaRPr lang="fr-FR"/>
          </a:p>
        </p:txBody>
      </p:sp>
      <p:sp>
        <p:nvSpPr>
          <p:cNvPr id="14" name="forme"/>
          <p:cNvSpPr/>
          <p:nvPr/>
        </p:nvSpPr>
        <p:spPr>
          <a:xfrm>
            <a:off x="1188933" y="2248205"/>
            <a:ext cx="37643" cy="27605"/>
          </a:xfrm>
          <a:prstGeom prst="rect">
            <a:avLst/>
          </a:prstGeom>
          <a:solidFill>
            <a:srgbClr val="1C3359"/>
          </a:solidFill>
          <a:ln>
            <a:noFill/>
          </a:ln>
          <a:effectLst/>
        </p:spPr>
        <p:txBody>
          <a:bodyPr/>
          <a:lstStyle/>
          <a:p>
            <a:endParaRPr lang="fr-FR"/>
          </a:p>
        </p:txBody>
      </p:sp>
      <p:sp>
        <p:nvSpPr>
          <p:cNvPr id="15" name="forme"/>
          <p:cNvSpPr/>
          <p:nvPr/>
        </p:nvSpPr>
        <p:spPr>
          <a:xfrm>
            <a:off x="1246652" y="2248205"/>
            <a:ext cx="37643" cy="27605"/>
          </a:xfrm>
          <a:prstGeom prst="rect">
            <a:avLst/>
          </a:prstGeom>
          <a:solidFill>
            <a:srgbClr val="1C3359"/>
          </a:solidFill>
          <a:ln>
            <a:noFill/>
          </a:ln>
          <a:effectLst/>
        </p:spPr>
        <p:txBody>
          <a:bodyPr/>
          <a:lstStyle/>
          <a:p>
            <a:endParaRPr lang="fr-FR"/>
          </a:p>
        </p:txBody>
      </p:sp>
      <p:sp>
        <p:nvSpPr>
          <p:cNvPr id="16" name="forme"/>
          <p:cNvSpPr/>
          <p:nvPr/>
        </p:nvSpPr>
        <p:spPr>
          <a:xfrm>
            <a:off x="1131214" y="2295886"/>
            <a:ext cx="37643" cy="27605"/>
          </a:xfrm>
          <a:prstGeom prst="rect">
            <a:avLst/>
          </a:prstGeom>
          <a:solidFill>
            <a:srgbClr val="1C3359"/>
          </a:solidFill>
          <a:ln>
            <a:noFill/>
          </a:ln>
          <a:effectLst/>
        </p:spPr>
        <p:txBody>
          <a:bodyPr/>
          <a:lstStyle/>
          <a:p>
            <a:endParaRPr lang="fr-FR"/>
          </a:p>
        </p:txBody>
      </p:sp>
      <p:sp>
        <p:nvSpPr>
          <p:cNvPr id="17" name="forme"/>
          <p:cNvSpPr/>
          <p:nvPr/>
        </p:nvSpPr>
        <p:spPr>
          <a:xfrm>
            <a:off x="1188933" y="2295886"/>
            <a:ext cx="37643" cy="27605"/>
          </a:xfrm>
          <a:prstGeom prst="rect">
            <a:avLst/>
          </a:prstGeom>
          <a:solidFill>
            <a:srgbClr val="1C3359"/>
          </a:solidFill>
          <a:ln>
            <a:noFill/>
          </a:ln>
          <a:effectLst/>
        </p:spPr>
        <p:txBody>
          <a:bodyPr/>
          <a:lstStyle/>
          <a:p>
            <a:endParaRPr lang="fr-FR"/>
          </a:p>
        </p:txBody>
      </p:sp>
      <p:sp>
        <p:nvSpPr>
          <p:cNvPr id="18" name="forme"/>
          <p:cNvSpPr/>
          <p:nvPr/>
        </p:nvSpPr>
        <p:spPr>
          <a:xfrm>
            <a:off x="1246652" y="2295886"/>
            <a:ext cx="37643" cy="27605"/>
          </a:xfrm>
          <a:prstGeom prst="rect">
            <a:avLst/>
          </a:prstGeom>
          <a:solidFill>
            <a:srgbClr val="1C3359"/>
          </a:solidFill>
          <a:ln>
            <a:noFill/>
          </a:ln>
          <a:effectLst/>
        </p:spPr>
        <p:txBody>
          <a:bodyPr/>
          <a:lstStyle/>
          <a:p>
            <a:endParaRPr lang="fr-FR"/>
          </a:p>
        </p:txBody>
      </p:sp>
      <p:sp>
        <p:nvSpPr>
          <p:cNvPr id="19" name="forme"/>
          <p:cNvSpPr/>
          <p:nvPr/>
        </p:nvSpPr>
        <p:spPr>
          <a:xfrm>
            <a:off x="1181405" y="2343567"/>
            <a:ext cx="50190" cy="35133"/>
          </a:xfrm>
          <a:prstGeom prst="rect">
            <a:avLst/>
          </a:prstGeom>
          <a:solidFill>
            <a:srgbClr val="1C3359"/>
          </a:solidFill>
          <a:ln>
            <a:noFill/>
          </a:ln>
          <a:effectLst/>
        </p:spPr>
        <p:txBody>
          <a:bodyPr/>
          <a:lstStyle/>
          <a:p>
            <a:endParaRPr lang="fr-FR"/>
          </a:p>
        </p:txBody>
      </p:sp>
      <p:sp>
        <p:nvSpPr>
          <p:cNvPr id="20" name="forme"/>
          <p:cNvSpPr/>
          <p:nvPr/>
        </p:nvSpPr>
        <p:spPr>
          <a:xfrm>
            <a:off x="965200" y="2641600"/>
            <a:ext cx="1993900" cy="431800"/>
          </a:xfrm>
          <a:prstGeom prst="rect">
            <a:avLst/>
          </a:prstGeom>
          <a:noFill/>
          <a:ln>
            <a:noFill/>
          </a:ln>
          <a:effectLst/>
        </p:spPr>
        <p:txBody>
          <a:bodyPr wrap="square" lIns="0" tIns="0" rIns="0" bIns="0" anchor="t">
            <a:noAutofit/>
          </a:bodyPr>
          <a:lstStyle/>
          <a:p>
            <a:pPr>
              <a:lnSpc>
                <a:spcPct val="106000"/>
              </a:lnSpc>
              <a:buNone/>
            </a:pPr>
            <a:r>
              <a:rPr lang="fr-FR" sz="1250" b="1" dirty="0">
                <a:solidFill>
                  <a:srgbClr val="1C3359"/>
                </a:solidFill>
                <a:latin typeface="Segoe UI"/>
                <a:cs typeface="Segoe UI"/>
              </a:rPr>
              <a:t>8 directions concernées</a:t>
            </a:r>
            <a:endParaRPr lang="fr-FR" sz="100"/>
          </a:p>
        </p:txBody>
      </p:sp>
      <p:sp>
        <p:nvSpPr>
          <p:cNvPr id="21" name="forme"/>
          <p:cNvSpPr/>
          <p:nvPr/>
        </p:nvSpPr>
        <p:spPr>
          <a:xfrm>
            <a:off x="965200" y="3098800"/>
            <a:ext cx="1993900" cy="990600"/>
          </a:xfrm>
          <a:prstGeom prst="rect">
            <a:avLst/>
          </a:prstGeom>
          <a:noFill/>
          <a:ln>
            <a:noFill/>
          </a:ln>
          <a:effectLst/>
        </p:spPr>
        <p:txBody>
          <a:bodyPr wrap="square" lIns="0" tIns="0" rIns="0" bIns="0" anchor="t">
            <a:noAutofit/>
          </a:bodyPr>
          <a:lstStyle/>
          <a:p>
            <a:pPr>
              <a:lnSpc>
                <a:spcPct val="125000"/>
              </a:lnSpc>
              <a:buNone/>
            </a:pPr>
            <a:r>
              <a:rPr lang="fr-FR" sz="950" b="0" dirty="0">
                <a:solidFill>
                  <a:srgbClr val="4C5C72"/>
                </a:solidFill>
                <a:latin typeface="Segoe UI"/>
                <a:cs typeface="Segoe UI"/>
              </a:rPr>
              <a:t>Veille générale, Direction Juridique, DAF, DRH, Patrimoine Immobilier, DQHSE, Commerciale &amp; Marketing, DILS.</a:t>
            </a:r>
            <a:endParaRPr lang="fr-FR" sz="100"/>
          </a:p>
        </p:txBody>
      </p:sp>
      <p:sp>
        <p:nvSpPr>
          <p:cNvPr id="22" name="forme"/>
          <p:cNvSpPr/>
          <p:nvPr/>
        </p:nvSpPr>
        <p:spPr>
          <a:xfrm>
            <a:off x="3467100" y="1778000"/>
            <a:ext cx="2501900" cy="2489200"/>
          </a:xfrm>
          <a:prstGeom prst="roundRect">
            <a:avLst>
              <a:gd name="adj" fmla="val 12245"/>
            </a:avLst>
          </a:prstGeom>
          <a:solidFill>
            <a:srgbClr val="FFFFFF"/>
          </a:solidFill>
          <a:ln w="9525" cap="flat">
            <a:solidFill>
              <a:srgbClr val="DCE3EE"/>
            </a:solidFill>
            <a:prstDash val="solid"/>
            <a:flat/>
          </a:ln>
          <a:effectLst>
            <a:outerShdw blurRad="127000" dist="31750" dir="5400000" rotWithShape="0">
              <a:srgbClr val="0B1A30">
                <a:alpha val="8000"/>
              </a:srgbClr>
            </a:outerShdw>
          </a:effectLst>
        </p:spPr>
        <p:txBody>
          <a:bodyPr/>
          <a:lstStyle/>
          <a:p>
            <a:endParaRPr lang="fr-FR"/>
          </a:p>
        </p:txBody>
      </p:sp>
      <p:sp>
        <p:nvSpPr>
          <p:cNvPr id="23" name="forme"/>
          <p:cNvSpPr/>
          <p:nvPr/>
        </p:nvSpPr>
        <p:spPr>
          <a:xfrm>
            <a:off x="3467100" y="1778000"/>
            <a:ext cx="50800" cy="2489200"/>
          </a:xfrm>
          <a:prstGeom prst="roundRect">
            <a:avLst>
              <a:gd name="adj" fmla="val 50000"/>
            </a:avLst>
          </a:prstGeom>
          <a:solidFill>
            <a:srgbClr val="B6AD6E"/>
          </a:solidFill>
          <a:ln>
            <a:noFill/>
          </a:ln>
          <a:effectLst/>
        </p:spPr>
        <p:txBody>
          <a:bodyPr/>
          <a:lstStyle/>
          <a:p>
            <a:endParaRPr lang="fr-FR"/>
          </a:p>
        </p:txBody>
      </p:sp>
      <p:sp>
        <p:nvSpPr>
          <p:cNvPr id="24" name="forme"/>
          <p:cNvSpPr/>
          <p:nvPr/>
        </p:nvSpPr>
        <p:spPr>
          <a:xfrm>
            <a:off x="3721100" y="2032000"/>
            <a:ext cx="482600" cy="482600"/>
          </a:xfrm>
          <a:prstGeom prst="roundRect">
            <a:avLst>
              <a:gd name="adj" fmla="val 50000"/>
            </a:avLst>
          </a:prstGeom>
          <a:solidFill>
            <a:srgbClr val="1C3359"/>
          </a:solidFill>
          <a:ln>
            <a:noFill/>
          </a:ln>
          <a:effectLst/>
        </p:spPr>
        <p:txBody>
          <a:bodyPr/>
          <a:lstStyle/>
          <a:p>
            <a:endParaRPr lang="fr-FR"/>
          </a:p>
        </p:txBody>
      </p:sp>
      <p:sp>
        <p:nvSpPr>
          <p:cNvPr id="25" name="forme"/>
          <p:cNvSpPr/>
          <p:nvPr/>
        </p:nvSpPr>
        <p:spPr>
          <a:xfrm>
            <a:off x="3857000" y="2172919"/>
            <a:ext cx="210800" cy="200762"/>
          </a:xfrm>
          <a:prstGeom prst="roundRect">
            <a:avLst>
              <a:gd name="adj" fmla="val 50000"/>
            </a:avLst>
          </a:prstGeom>
          <a:solidFill>
            <a:srgbClr val="FFFFFF"/>
          </a:solidFill>
          <a:ln>
            <a:noFill/>
          </a:ln>
          <a:effectLst/>
        </p:spPr>
        <p:txBody>
          <a:bodyPr/>
          <a:lstStyle/>
          <a:p>
            <a:endParaRPr lang="fr-FR"/>
          </a:p>
        </p:txBody>
      </p:sp>
      <p:sp>
        <p:nvSpPr>
          <p:cNvPr id="26" name="forme"/>
          <p:cNvSpPr/>
          <p:nvPr/>
        </p:nvSpPr>
        <p:spPr>
          <a:xfrm>
            <a:off x="3889624" y="2223110"/>
            <a:ext cx="30114" cy="20076"/>
          </a:xfrm>
          <a:prstGeom prst="rect">
            <a:avLst/>
          </a:prstGeom>
          <a:solidFill>
            <a:srgbClr val="1C3359"/>
          </a:solidFill>
          <a:ln>
            <a:noFill/>
          </a:ln>
          <a:effectLst/>
        </p:spPr>
        <p:txBody>
          <a:bodyPr/>
          <a:lstStyle/>
          <a:p>
            <a:endParaRPr lang="fr-FR"/>
          </a:p>
        </p:txBody>
      </p:sp>
      <p:sp>
        <p:nvSpPr>
          <p:cNvPr id="27" name="forme"/>
          <p:cNvSpPr/>
          <p:nvPr/>
        </p:nvSpPr>
        <p:spPr>
          <a:xfrm>
            <a:off x="3889624" y="2268281"/>
            <a:ext cx="30114" cy="20076"/>
          </a:xfrm>
          <a:prstGeom prst="rect">
            <a:avLst/>
          </a:prstGeom>
          <a:solidFill>
            <a:srgbClr val="1C3359"/>
          </a:solidFill>
          <a:ln>
            <a:noFill/>
          </a:ln>
          <a:effectLst/>
        </p:spPr>
        <p:txBody>
          <a:bodyPr/>
          <a:lstStyle/>
          <a:p>
            <a:endParaRPr lang="fr-FR"/>
          </a:p>
        </p:txBody>
      </p:sp>
      <p:sp>
        <p:nvSpPr>
          <p:cNvPr id="28" name="forme"/>
          <p:cNvSpPr/>
          <p:nvPr/>
        </p:nvSpPr>
        <p:spPr>
          <a:xfrm>
            <a:off x="3889624" y="2313452"/>
            <a:ext cx="30114" cy="20076"/>
          </a:xfrm>
          <a:prstGeom prst="rect">
            <a:avLst/>
          </a:prstGeom>
          <a:solidFill>
            <a:srgbClr val="1C3359"/>
          </a:solidFill>
          <a:ln>
            <a:noFill/>
          </a:ln>
          <a:effectLst/>
        </p:spPr>
        <p:txBody>
          <a:bodyPr/>
          <a:lstStyle/>
          <a:p>
            <a:endParaRPr lang="fr-FR"/>
          </a:p>
        </p:txBody>
      </p:sp>
      <p:sp>
        <p:nvSpPr>
          <p:cNvPr id="29" name="forme"/>
          <p:cNvSpPr/>
          <p:nvPr/>
        </p:nvSpPr>
        <p:spPr>
          <a:xfrm>
            <a:off x="3942324" y="2220600"/>
            <a:ext cx="90343" cy="22586"/>
          </a:xfrm>
          <a:prstGeom prst="rect">
            <a:avLst/>
          </a:prstGeom>
          <a:solidFill>
            <a:srgbClr val="1C3359"/>
          </a:solidFill>
          <a:ln>
            <a:noFill/>
          </a:ln>
          <a:effectLst/>
        </p:spPr>
        <p:txBody>
          <a:bodyPr/>
          <a:lstStyle/>
          <a:p>
            <a:endParaRPr lang="fr-FR"/>
          </a:p>
        </p:txBody>
      </p:sp>
      <p:sp>
        <p:nvSpPr>
          <p:cNvPr id="30" name="forme"/>
          <p:cNvSpPr/>
          <p:nvPr/>
        </p:nvSpPr>
        <p:spPr>
          <a:xfrm>
            <a:off x="3942324" y="2265771"/>
            <a:ext cx="70267" cy="22586"/>
          </a:xfrm>
          <a:prstGeom prst="rect">
            <a:avLst/>
          </a:prstGeom>
          <a:solidFill>
            <a:srgbClr val="1C3359"/>
          </a:solidFill>
          <a:ln>
            <a:noFill/>
          </a:ln>
          <a:effectLst/>
        </p:spPr>
        <p:txBody>
          <a:bodyPr/>
          <a:lstStyle/>
          <a:p>
            <a:endParaRPr lang="fr-FR"/>
          </a:p>
        </p:txBody>
      </p:sp>
      <p:sp>
        <p:nvSpPr>
          <p:cNvPr id="31" name="forme"/>
          <p:cNvSpPr/>
          <p:nvPr/>
        </p:nvSpPr>
        <p:spPr>
          <a:xfrm>
            <a:off x="3942324" y="2310943"/>
            <a:ext cx="82814" cy="22586"/>
          </a:xfrm>
          <a:prstGeom prst="rect">
            <a:avLst/>
          </a:prstGeom>
          <a:solidFill>
            <a:srgbClr val="1C3359"/>
          </a:solidFill>
          <a:ln>
            <a:noFill/>
          </a:ln>
          <a:effectLst/>
        </p:spPr>
        <p:txBody>
          <a:bodyPr/>
          <a:lstStyle/>
          <a:p>
            <a:endParaRPr lang="fr-FR"/>
          </a:p>
        </p:txBody>
      </p:sp>
      <p:sp>
        <p:nvSpPr>
          <p:cNvPr id="32" name="forme"/>
          <p:cNvSpPr/>
          <p:nvPr/>
        </p:nvSpPr>
        <p:spPr>
          <a:xfrm>
            <a:off x="3721100" y="2641600"/>
            <a:ext cx="1993900" cy="431800"/>
          </a:xfrm>
          <a:prstGeom prst="rect">
            <a:avLst/>
          </a:prstGeom>
          <a:noFill/>
          <a:ln>
            <a:noFill/>
          </a:ln>
          <a:effectLst/>
        </p:spPr>
        <p:txBody>
          <a:bodyPr wrap="square" lIns="0" tIns="0" rIns="0" bIns="0" anchor="t">
            <a:noAutofit/>
          </a:bodyPr>
          <a:lstStyle/>
          <a:p>
            <a:pPr>
              <a:lnSpc>
                <a:spcPct val="106000"/>
              </a:lnSpc>
              <a:buNone/>
            </a:pPr>
            <a:r>
              <a:rPr lang="fr-FR" sz="1250" b="1" dirty="0">
                <a:solidFill>
                  <a:srgbClr val="1C3359"/>
                </a:solidFill>
                <a:latin typeface="Segoe UI"/>
                <a:cs typeface="Segoe UI"/>
              </a:rPr>
              <a:t>Un suivi dispersé</a:t>
            </a:r>
            <a:endParaRPr lang="fr-FR" sz="100"/>
          </a:p>
        </p:txBody>
      </p:sp>
      <p:sp>
        <p:nvSpPr>
          <p:cNvPr id="33" name="forme"/>
          <p:cNvSpPr/>
          <p:nvPr/>
        </p:nvSpPr>
        <p:spPr>
          <a:xfrm>
            <a:off x="3721100" y="3098800"/>
            <a:ext cx="1993900" cy="990600"/>
          </a:xfrm>
          <a:prstGeom prst="rect">
            <a:avLst/>
          </a:prstGeom>
          <a:noFill/>
          <a:ln>
            <a:noFill/>
          </a:ln>
          <a:effectLst/>
        </p:spPr>
        <p:txBody>
          <a:bodyPr wrap="square" lIns="0" tIns="0" rIns="0" bIns="0" anchor="t">
            <a:noAutofit/>
          </a:bodyPr>
          <a:lstStyle/>
          <a:p>
            <a:pPr>
              <a:lnSpc>
                <a:spcPct val="125000"/>
              </a:lnSpc>
              <a:buNone/>
            </a:pPr>
            <a:r>
              <a:rPr lang="fr-FR" sz="950" b="0" dirty="0">
                <a:solidFill>
                  <a:srgbClr val="4C5C72"/>
                </a:solidFill>
                <a:latin typeface="Segoe UI"/>
                <a:cs typeface="Segoe UI"/>
              </a:rPr>
              <a:t>Un fichier par direction, aucun tableau de bord commun, pas d'historique : le pilotage repose sur des échanges hors outil.</a:t>
            </a:r>
            <a:endParaRPr lang="fr-FR" sz="100"/>
          </a:p>
        </p:txBody>
      </p:sp>
      <p:sp>
        <p:nvSpPr>
          <p:cNvPr id="34" name="forme"/>
          <p:cNvSpPr/>
          <p:nvPr/>
        </p:nvSpPr>
        <p:spPr>
          <a:xfrm>
            <a:off x="6223000" y="1778000"/>
            <a:ext cx="2501900" cy="2489200"/>
          </a:xfrm>
          <a:prstGeom prst="roundRect">
            <a:avLst>
              <a:gd name="adj" fmla="val 12245"/>
            </a:avLst>
          </a:prstGeom>
          <a:solidFill>
            <a:srgbClr val="FFFFFF"/>
          </a:solidFill>
          <a:ln w="9525" cap="flat">
            <a:solidFill>
              <a:srgbClr val="DCE3EE"/>
            </a:solidFill>
            <a:prstDash val="solid"/>
            <a:flat/>
          </a:ln>
          <a:effectLst>
            <a:outerShdw blurRad="127000" dist="31750" dir="5400000" rotWithShape="0">
              <a:srgbClr val="0B1A30">
                <a:alpha val="8000"/>
              </a:srgbClr>
            </a:outerShdw>
          </a:effectLst>
        </p:spPr>
        <p:txBody>
          <a:bodyPr/>
          <a:lstStyle/>
          <a:p>
            <a:endParaRPr lang="fr-FR"/>
          </a:p>
        </p:txBody>
      </p:sp>
      <p:sp>
        <p:nvSpPr>
          <p:cNvPr id="35" name="forme"/>
          <p:cNvSpPr/>
          <p:nvPr/>
        </p:nvSpPr>
        <p:spPr>
          <a:xfrm>
            <a:off x="6223000" y="1778000"/>
            <a:ext cx="50800" cy="2489200"/>
          </a:xfrm>
          <a:prstGeom prst="roundRect">
            <a:avLst>
              <a:gd name="adj" fmla="val 50000"/>
            </a:avLst>
          </a:prstGeom>
          <a:solidFill>
            <a:srgbClr val="B6AD6E"/>
          </a:solidFill>
          <a:ln>
            <a:noFill/>
          </a:ln>
          <a:effectLst/>
        </p:spPr>
        <p:txBody>
          <a:bodyPr/>
          <a:lstStyle/>
          <a:p>
            <a:endParaRPr lang="fr-FR"/>
          </a:p>
        </p:txBody>
      </p:sp>
      <p:sp>
        <p:nvSpPr>
          <p:cNvPr id="36" name="forme"/>
          <p:cNvSpPr/>
          <p:nvPr/>
        </p:nvSpPr>
        <p:spPr>
          <a:xfrm>
            <a:off x="6477000" y="2032000"/>
            <a:ext cx="482600" cy="482600"/>
          </a:xfrm>
          <a:prstGeom prst="roundRect">
            <a:avLst>
              <a:gd name="adj" fmla="val 50000"/>
            </a:avLst>
          </a:prstGeom>
          <a:solidFill>
            <a:srgbClr val="1C3359"/>
          </a:solidFill>
          <a:ln>
            <a:noFill/>
          </a:ln>
          <a:effectLst/>
        </p:spPr>
        <p:txBody>
          <a:bodyPr/>
          <a:lstStyle/>
          <a:p>
            <a:endParaRPr lang="fr-FR"/>
          </a:p>
        </p:txBody>
      </p:sp>
      <p:sp>
        <p:nvSpPr>
          <p:cNvPr id="37" name="forme"/>
          <p:cNvSpPr/>
          <p:nvPr/>
        </p:nvSpPr>
        <p:spPr>
          <a:xfrm>
            <a:off x="6637995" y="2167900"/>
            <a:ext cx="160609" cy="210800"/>
          </a:xfrm>
          <a:prstGeom prst="flowChartDocument">
            <a:avLst/>
          </a:prstGeom>
          <a:solidFill>
            <a:srgbClr val="FFFFFF"/>
          </a:solidFill>
          <a:ln>
            <a:noFill/>
          </a:ln>
          <a:effectLst/>
        </p:spPr>
        <p:txBody>
          <a:bodyPr/>
          <a:lstStyle/>
          <a:p>
            <a:endParaRPr lang="fr-FR"/>
          </a:p>
        </p:txBody>
      </p:sp>
      <p:sp>
        <p:nvSpPr>
          <p:cNvPr id="38" name="forme"/>
          <p:cNvSpPr/>
          <p:nvPr/>
        </p:nvSpPr>
        <p:spPr>
          <a:xfrm>
            <a:off x="6670619" y="2228129"/>
            <a:ext cx="95362" cy="17567"/>
          </a:xfrm>
          <a:prstGeom prst="rect">
            <a:avLst/>
          </a:prstGeom>
          <a:solidFill>
            <a:srgbClr val="1C3359"/>
          </a:solidFill>
          <a:ln>
            <a:noFill/>
          </a:ln>
          <a:effectLst/>
        </p:spPr>
        <p:txBody>
          <a:bodyPr/>
          <a:lstStyle/>
          <a:p>
            <a:endParaRPr lang="fr-FR"/>
          </a:p>
        </p:txBody>
      </p:sp>
      <p:sp>
        <p:nvSpPr>
          <p:cNvPr id="39" name="forme"/>
          <p:cNvSpPr/>
          <p:nvPr/>
        </p:nvSpPr>
        <p:spPr>
          <a:xfrm>
            <a:off x="6670619" y="2268281"/>
            <a:ext cx="95362" cy="17567"/>
          </a:xfrm>
          <a:prstGeom prst="rect">
            <a:avLst/>
          </a:prstGeom>
          <a:solidFill>
            <a:srgbClr val="1C3359"/>
          </a:solidFill>
          <a:ln>
            <a:noFill/>
          </a:ln>
          <a:effectLst/>
        </p:spPr>
        <p:txBody>
          <a:bodyPr/>
          <a:lstStyle/>
          <a:p>
            <a:endParaRPr lang="fr-FR"/>
          </a:p>
        </p:txBody>
      </p:sp>
      <p:sp>
        <p:nvSpPr>
          <p:cNvPr id="40" name="forme"/>
          <p:cNvSpPr/>
          <p:nvPr/>
        </p:nvSpPr>
        <p:spPr>
          <a:xfrm>
            <a:off x="6670619" y="2308433"/>
            <a:ext cx="60228" cy="17567"/>
          </a:xfrm>
          <a:prstGeom prst="rect">
            <a:avLst/>
          </a:prstGeom>
          <a:solidFill>
            <a:srgbClr val="1C3359"/>
          </a:solidFill>
          <a:ln>
            <a:noFill/>
          </a:ln>
          <a:effectLst/>
        </p:spPr>
        <p:txBody>
          <a:bodyPr/>
          <a:lstStyle/>
          <a:p>
            <a:endParaRPr lang="fr-FR"/>
          </a:p>
        </p:txBody>
      </p:sp>
      <p:sp>
        <p:nvSpPr>
          <p:cNvPr id="41" name="forme"/>
          <p:cNvSpPr/>
          <p:nvPr/>
        </p:nvSpPr>
        <p:spPr>
          <a:xfrm>
            <a:off x="6477000" y="2641600"/>
            <a:ext cx="1993900" cy="431800"/>
          </a:xfrm>
          <a:prstGeom prst="rect">
            <a:avLst/>
          </a:prstGeom>
          <a:noFill/>
          <a:ln>
            <a:noFill/>
          </a:ln>
          <a:effectLst/>
        </p:spPr>
        <p:txBody>
          <a:bodyPr wrap="square" lIns="0" tIns="0" rIns="0" bIns="0" anchor="t">
            <a:noAutofit/>
          </a:bodyPr>
          <a:lstStyle/>
          <a:p>
            <a:pPr>
              <a:lnSpc>
                <a:spcPct val="106000"/>
              </a:lnSpc>
              <a:buNone/>
            </a:pPr>
            <a:r>
              <a:rPr lang="fr-FR" sz="1250" b="1" dirty="0">
                <a:solidFill>
                  <a:srgbClr val="1C3359"/>
                </a:solidFill>
                <a:latin typeface="Segoe UI"/>
                <a:cs typeface="Segoe UI"/>
              </a:rPr>
              <a:t>Un dépouillement manuel</a:t>
            </a:r>
            <a:endParaRPr lang="fr-FR" sz="100"/>
          </a:p>
        </p:txBody>
      </p:sp>
      <p:sp>
        <p:nvSpPr>
          <p:cNvPr id="42" name="forme"/>
          <p:cNvSpPr/>
          <p:nvPr/>
        </p:nvSpPr>
        <p:spPr>
          <a:xfrm>
            <a:off x="6477000" y="3098800"/>
            <a:ext cx="1993900" cy="990600"/>
          </a:xfrm>
          <a:prstGeom prst="rect">
            <a:avLst/>
          </a:prstGeom>
          <a:noFill/>
          <a:ln>
            <a:noFill/>
          </a:ln>
          <a:effectLst/>
        </p:spPr>
        <p:txBody>
          <a:bodyPr wrap="square" lIns="0" tIns="0" rIns="0" bIns="0" anchor="t">
            <a:noAutofit/>
          </a:bodyPr>
          <a:lstStyle/>
          <a:p>
            <a:pPr>
              <a:lnSpc>
                <a:spcPct val="125000"/>
              </a:lnSpc>
              <a:buNone/>
            </a:pPr>
            <a:r>
              <a:rPr lang="fr-FR" sz="950" b="0" dirty="0">
                <a:solidFill>
                  <a:srgbClr val="4C5C72"/>
                </a:solidFill>
                <a:latin typeface="Segoe UI"/>
                <a:cs typeface="Segoe UI"/>
              </a:rPr>
              <a:t>Chaque numéro du Journal Officiel est lu, recopié et affecté à la main — plusieurs jours de travail, avec un risque d'oubli.</a:t>
            </a:r>
            <a:endParaRPr lang="fr-FR" sz="100"/>
          </a:p>
        </p:txBody>
      </p:sp>
      <p:sp>
        <p:nvSpPr>
          <p:cNvPr id="43" name="forme"/>
          <p:cNvSpPr/>
          <p:nvPr/>
        </p:nvSpPr>
        <p:spPr>
          <a:xfrm>
            <a:off x="8978900" y="1778000"/>
            <a:ext cx="2501900" cy="2489200"/>
          </a:xfrm>
          <a:prstGeom prst="roundRect">
            <a:avLst>
              <a:gd name="adj" fmla="val 12245"/>
            </a:avLst>
          </a:prstGeom>
          <a:solidFill>
            <a:srgbClr val="FFFFFF"/>
          </a:solidFill>
          <a:ln w="9525" cap="flat">
            <a:solidFill>
              <a:srgbClr val="DCE3EE"/>
            </a:solidFill>
            <a:prstDash val="solid"/>
            <a:flat/>
          </a:ln>
          <a:effectLst>
            <a:outerShdw blurRad="127000" dist="31750" dir="5400000" rotWithShape="0">
              <a:srgbClr val="0B1A30">
                <a:alpha val="8000"/>
              </a:srgbClr>
            </a:outerShdw>
          </a:effectLst>
        </p:spPr>
        <p:txBody>
          <a:bodyPr/>
          <a:lstStyle/>
          <a:p>
            <a:endParaRPr lang="fr-FR"/>
          </a:p>
        </p:txBody>
      </p:sp>
      <p:sp>
        <p:nvSpPr>
          <p:cNvPr id="44" name="forme"/>
          <p:cNvSpPr/>
          <p:nvPr/>
        </p:nvSpPr>
        <p:spPr>
          <a:xfrm>
            <a:off x="8978900" y="1778000"/>
            <a:ext cx="50800" cy="2489200"/>
          </a:xfrm>
          <a:prstGeom prst="roundRect">
            <a:avLst>
              <a:gd name="adj" fmla="val 50000"/>
            </a:avLst>
          </a:prstGeom>
          <a:solidFill>
            <a:srgbClr val="B6AD6E"/>
          </a:solidFill>
          <a:ln>
            <a:noFill/>
          </a:ln>
          <a:effectLst/>
        </p:spPr>
        <p:txBody>
          <a:bodyPr/>
          <a:lstStyle/>
          <a:p>
            <a:endParaRPr lang="fr-FR"/>
          </a:p>
        </p:txBody>
      </p:sp>
      <p:sp>
        <p:nvSpPr>
          <p:cNvPr id="45" name="forme"/>
          <p:cNvSpPr/>
          <p:nvPr/>
        </p:nvSpPr>
        <p:spPr>
          <a:xfrm>
            <a:off x="9232900" y="2032000"/>
            <a:ext cx="482600" cy="482600"/>
          </a:xfrm>
          <a:prstGeom prst="roundRect">
            <a:avLst>
              <a:gd name="adj" fmla="val 50000"/>
            </a:avLst>
          </a:prstGeom>
          <a:solidFill>
            <a:srgbClr val="1C3359"/>
          </a:solidFill>
          <a:ln>
            <a:noFill/>
          </a:ln>
          <a:effectLst/>
        </p:spPr>
        <p:txBody>
          <a:bodyPr/>
          <a:lstStyle/>
          <a:p>
            <a:endParaRPr lang="fr-FR"/>
          </a:p>
        </p:txBody>
      </p:sp>
      <p:sp>
        <p:nvSpPr>
          <p:cNvPr id="46" name="forme"/>
          <p:cNvSpPr/>
          <p:nvPr/>
        </p:nvSpPr>
        <p:spPr>
          <a:xfrm>
            <a:off x="9356253" y="2167900"/>
            <a:ext cx="235895" cy="215819"/>
          </a:xfrm>
          <a:prstGeom prst="triangle">
            <a:avLst/>
          </a:prstGeom>
          <a:solidFill>
            <a:srgbClr val="FFFFFF"/>
          </a:solidFill>
          <a:ln>
            <a:noFill/>
          </a:ln>
          <a:effectLst/>
        </p:spPr>
        <p:txBody>
          <a:bodyPr/>
          <a:lstStyle/>
          <a:p>
            <a:endParaRPr lang="fr-FR"/>
          </a:p>
        </p:txBody>
      </p:sp>
      <p:sp>
        <p:nvSpPr>
          <p:cNvPr id="47" name="forme"/>
          <p:cNvSpPr/>
          <p:nvPr/>
        </p:nvSpPr>
        <p:spPr>
          <a:xfrm>
            <a:off x="9461652" y="2248205"/>
            <a:ext cx="22586" cy="60228"/>
          </a:xfrm>
          <a:prstGeom prst="roundRect">
            <a:avLst>
              <a:gd name="adj" fmla="val 50000"/>
            </a:avLst>
          </a:prstGeom>
          <a:solidFill>
            <a:srgbClr val="1C3359"/>
          </a:solidFill>
          <a:ln>
            <a:noFill/>
          </a:ln>
          <a:effectLst/>
        </p:spPr>
        <p:txBody>
          <a:bodyPr/>
          <a:lstStyle/>
          <a:p>
            <a:endParaRPr lang="fr-FR"/>
          </a:p>
        </p:txBody>
      </p:sp>
      <p:sp>
        <p:nvSpPr>
          <p:cNvPr id="48" name="forme"/>
          <p:cNvSpPr/>
          <p:nvPr/>
        </p:nvSpPr>
        <p:spPr>
          <a:xfrm>
            <a:off x="9459143" y="2320981"/>
            <a:ext cx="27605" cy="27605"/>
          </a:xfrm>
          <a:prstGeom prst="ellipse">
            <a:avLst/>
          </a:prstGeom>
          <a:solidFill>
            <a:srgbClr val="1C3359"/>
          </a:solidFill>
          <a:ln>
            <a:noFill/>
          </a:ln>
          <a:effectLst/>
        </p:spPr>
        <p:txBody>
          <a:bodyPr/>
          <a:lstStyle/>
          <a:p>
            <a:endParaRPr lang="fr-FR"/>
          </a:p>
        </p:txBody>
      </p:sp>
      <p:sp>
        <p:nvSpPr>
          <p:cNvPr id="49" name="forme"/>
          <p:cNvSpPr/>
          <p:nvPr/>
        </p:nvSpPr>
        <p:spPr>
          <a:xfrm>
            <a:off x="9232900" y="2641600"/>
            <a:ext cx="1993900" cy="431800"/>
          </a:xfrm>
          <a:prstGeom prst="rect">
            <a:avLst/>
          </a:prstGeom>
          <a:noFill/>
          <a:ln>
            <a:noFill/>
          </a:ln>
          <a:effectLst/>
        </p:spPr>
        <p:txBody>
          <a:bodyPr wrap="square" lIns="0" tIns="0" rIns="0" bIns="0" anchor="t">
            <a:noAutofit/>
          </a:bodyPr>
          <a:lstStyle/>
          <a:p>
            <a:pPr>
              <a:lnSpc>
                <a:spcPct val="106000"/>
              </a:lnSpc>
              <a:buNone/>
            </a:pPr>
            <a:r>
              <a:rPr lang="fr-FR" sz="1250" b="1" dirty="0">
                <a:solidFill>
                  <a:srgbClr val="1C3359"/>
                </a:solidFill>
                <a:latin typeface="Segoe UI"/>
                <a:cs typeface="Segoe UI"/>
              </a:rPr>
              <a:t>Des risques qui se paient</a:t>
            </a:r>
            <a:endParaRPr lang="fr-FR" sz="100"/>
          </a:p>
        </p:txBody>
      </p:sp>
      <p:sp>
        <p:nvSpPr>
          <p:cNvPr id="50" name="forme"/>
          <p:cNvSpPr/>
          <p:nvPr/>
        </p:nvSpPr>
        <p:spPr>
          <a:xfrm>
            <a:off x="9232900" y="3098800"/>
            <a:ext cx="1993900" cy="990600"/>
          </a:xfrm>
          <a:prstGeom prst="rect">
            <a:avLst/>
          </a:prstGeom>
          <a:noFill/>
          <a:ln>
            <a:noFill/>
          </a:ln>
          <a:effectLst/>
        </p:spPr>
        <p:txBody>
          <a:bodyPr wrap="square" lIns="0" tIns="0" rIns="0" bIns="0" anchor="t">
            <a:noAutofit/>
          </a:bodyPr>
          <a:lstStyle/>
          <a:p>
            <a:pPr>
              <a:lnSpc>
                <a:spcPct val="125000"/>
              </a:lnSpc>
              <a:buNone/>
            </a:pPr>
            <a:r>
              <a:rPr lang="fr-FR" sz="950" b="0" dirty="0">
                <a:solidFill>
                  <a:srgbClr val="4C5C72"/>
                </a:solidFill>
                <a:latin typeface="Segoe UI"/>
                <a:cs typeface="Segoe UI"/>
              </a:rPr>
              <a:t>Texte manqué, assignation floue, preuves éparpillées, actions en retard invisibles, aucune piste d'audit.</a:t>
            </a:r>
            <a:endParaRPr lang="fr-FR" sz="100"/>
          </a:p>
        </p:txBody>
      </p:sp>
      <p:sp>
        <p:nvSpPr>
          <p:cNvPr id="51" name="forme"/>
          <p:cNvSpPr/>
          <p:nvPr/>
        </p:nvSpPr>
        <p:spPr>
          <a:xfrm>
            <a:off x="711200" y="4597400"/>
            <a:ext cx="10769600" cy="1422400"/>
          </a:xfrm>
          <a:prstGeom prst="roundRect">
            <a:avLst>
              <a:gd name="adj" fmla="val 21429"/>
            </a:avLst>
          </a:prstGeom>
          <a:solidFill>
            <a:srgbClr val="EEF2F8"/>
          </a:solidFill>
          <a:ln>
            <a:noFill/>
          </a:ln>
          <a:effectLst/>
        </p:spPr>
        <p:txBody>
          <a:bodyPr/>
          <a:lstStyle/>
          <a:p>
            <a:endParaRPr lang="fr-FR"/>
          </a:p>
        </p:txBody>
      </p:sp>
      <p:sp>
        <p:nvSpPr>
          <p:cNvPr id="52" name="forme"/>
          <p:cNvSpPr/>
          <p:nvPr/>
        </p:nvSpPr>
        <p:spPr>
          <a:xfrm>
            <a:off x="711200" y="4597400"/>
            <a:ext cx="57150" cy="1422400"/>
          </a:xfrm>
          <a:prstGeom prst="roundRect">
            <a:avLst>
              <a:gd name="adj" fmla="val 50000"/>
            </a:avLst>
          </a:prstGeom>
          <a:solidFill>
            <a:srgbClr val="B6AD6E"/>
          </a:solidFill>
          <a:ln>
            <a:noFill/>
          </a:ln>
          <a:effectLst/>
        </p:spPr>
        <p:txBody>
          <a:bodyPr/>
          <a:lstStyle/>
          <a:p>
            <a:endParaRPr lang="fr-FR"/>
          </a:p>
        </p:txBody>
      </p:sp>
      <p:sp>
        <p:nvSpPr>
          <p:cNvPr id="53" name="forme"/>
          <p:cNvSpPr/>
          <p:nvPr/>
        </p:nvSpPr>
        <p:spPr>
          <a:xfrm>
            <a:off x="965200" y="5054600"/>
            <a:ext cx="508000" cy="508000"/>
          </a:xfrm>
          <a:prstGeom prst="roundRect">
            <a:avLst>
              <a:gd name="adj" fmla="val 50000"/>
            </a:avLst>
          </a:prstGeom>
          <a:solidFill>
            <a:srgbClr val="1C3359"/>
          </a:solidFill>
          <a:ln>
            <a:noFill/>
          </a:ln>
          <a:effectLst/>
        </p:spPr>
        <p:txBody>
          <a:bodyPr/>
          <a:lstStyle/>
          <a:p>
            <a:endParaRPr lang="fr-FR"/>
          </a:p>
        </p:txBody>
      </p:sp>
      <p:sp>
        <p:nvSpPr>
          <p:cNvPr id="54" name="forme"/>
          <p:cNvSpPr/>
          <p:nvPr/>
        </p:nvSpPr>
        <p:spPr>
          <a:xfrm>
            <a:off x="1097686" y="5187086"/>
            <a:ext cx="243027" cy="243027"/>
          </a:xfrm>
          <a:prstGeom prst="circularArrow">
            <a:avLst/>
          </a:prstGeom>
          <a:solidFill>
            <a:srgbClr val="FFFFFF"/>
          </a:solidFill>
          <a:ln>
            <a:noFill/>
          </a:ln>
          <a:effectLst/>
        </p:spPr>
        <p:txBody>
          <a:bodyPr/>
          <a:lstStyle/>
          <a:p>
            <a:endParaRPr lang="fr-FR"/>
          </a:p>
        </p:txBody>
      </p:sp>
      <p:sp>
        <p:nvSpPr>
          <p:cNvPr id="55" name="forme"/>
          <p:cNvSpPr/>
          <p:nvPr/>
        </p:nvSpPr>
        <p:spPr>
          <a:xfrm>
            <a:off x="1676400" y="4826000"/>
            <a:ext cx="9499600" cy="965200"/>
          </a:xfrm>
          <a:prstGeom prst="rect">
            <a:avLst/>
          </a:prstGeom>
          <a:noFill/>
          <a:ln>
            <a:noFill/>
          </a:ln>
          <a:effectLst/>
        </p:spPr>
        <p:txBody>
          <a:bodyPr wrap="square" lIns="0" tIns="0" rIns="0" bIns="0" anchor="ctr">
            <a:noAutofit/>
          </a:bodyPr>
          <a:lstStyle/>
          <a:p>
            <a:pPr>
              <a:lnSpc>
                <a:spcPct val="120000"/>
              </a:lnSpc>
              <a:buNone/>
            </a:pPr>
            <a:r>
              <a:rPr lang="fr-FR" sz="1150" b="1" dirty="0">
                <a:solidFill>
                  <a:srgbClr val="1C3359"/>
                </a:solidFill>
                <a:latin typeface="Segoe UI"/>
                <a:cs typeface="Segoe UI"/>
              </a:rPr>
              <a:t>Notre réponse :  </a:t>
            </a:r>
            <a:r>
              <a:rPr lang="fr-FR" sz="1000" b="0" dirty="0">
                <a:solidFill>
                  <a:srgbClr val="4C5C72"/>
                </a:solidFill>
                <a:latin typeface="Segoe UI"/>
                <a:cs typeface="Segoe UI"/>
              </a:rPr>
              <a:t>un document = N actes. L'IA extrait, la centrale assigne chaque acte à la bonne direction, chaque direction traite et suit ses fiches, et chaque modification est tracée.</a:t>
            </a:r>
            <a:endParaRPr lang="fr-FR" sz="100"/>
          </a:p>
        </p:txBody>
      </p:sp>
      <p:sp>
        <p:nvSpPr>
          <p:cNvPr id="56" name="forme"/>
          <p:cNvSpPr/>
          <p:nvPr/>
        </p:nvSpPr>
        <p:spPr>
          <a:xfrm>
            <a:off x="711200" y="6400800"/>
            <a:ext cx="10769600" cy="9525"/>
          </a:xfrm>
          <a:prstGeom prst="rect">
            <a:avLst/>
          </a:prstGeom>
          <a:solidFill>
            <a:srgbClr val="DCE3EE"/>
          </a:solidFill>
          <a:ln>
            <a:noFill/>
          </a:ln>
          <a:effectLst/>
        </p:spPr>
        <p:txBody>
          <a:bodyPr/>
          <a:lstStyle/>
          <a:p>
            <a:endParaRPr lang="fr-FR"/>
          </a:p>
        </p:txBody>
      </p:sp>
      <p:sp>
        <p:nvSpPr>
          <p:cNvPr id="57" name="forme"/>
          <p:cNvSpPr/>
          <p:nvPr/>
        </p:nvSpPr>
        <p:spPr>
          <a:xfrm>
            <a:off x="711200" y="6489700"/>
            <a:ext cx="7112000" cy="152400"/>
          </a:xfrm>
          <a:prstGeom prst="rect">
            <a:avLst/>
          </a:prstGeom>
          <a:noFill/>
          <a:ln>
            <a:noFill/>
          </a:ln>
          <a:effectLst/>
        </p:spPr>
        <p:txBody>
          <a:bodyPr wrap="square" lIns="0" tIns="0" rIns="0" bIns="0" anchor="t">
            <a:noAutofit/>
          </a:bodyPr>
          <a:lstStyle/>
          <a:p>
            <a:pPr>
              <a:buNone/>
            </a:pPr>
            <a:r>
              <a:rPr lang="fr-FR" sz="850" b="1" dirty="0">
                <a:solidFill>
                  <a:srgbClr val="8494AB"/>
                </a:solidFill>
                <a:latin typeface="Segoe UI"/>
                <a:cs typeface="Segoe UI"/>
              </a:rPr>
              <a:t>AGL JuriCompliance</a:t>
            </a:r>
            <a:r>
              <a:rPr lang="fr-FR" sz="850" b="0" dirty="0">
                <a:solidFill>
                  <a:srgbClr val="8494AB"/>
                </a:solidFill>
                <a:latin typeface="Segoe UI"/>
                <a:cs typeface="Segoe UI"/>
              </a:rPr>
              <a:t>  ·  Veille réglementaire assistée par IA  ·  Prototype</a:t>
            </a:r>
            <a:endParaRPr lang="fr-FR" sz="100"/>
          </a:p>
        </p:txBody>
      </p:sp>
      <p:sp>
        <p:nvSpPr>
          <p:cNvPr id="58" name="forme"/>
          <p:cNvSpPr/>
          <p:nvPr/>
        </p:nvSpPr>
        <p:spPr>
          <a:xfrm>
            <a:off x="9448800" y="6489700"/>
            <a:ext cx="2032000" cy="152400"/>
          </a:xfrm>
          <a:prstGeom prst="rect">
            <a:avLst/>
          </a:prstGeom>
          <a:noFill/>
          <a:ln>
            <a:noFill/>
          </a:ln>
          <a:effectLst/>
        </p:spPr>
        <p:txBody>
          <a:bodyPr wrap="square" lIns="0" tIns="0" rIns="0" bIns="0" anchor="t">
            <a:noAutofit/>
          </a:bodyPr>
          <a:lstStyle/>
          <a:p>
            <a:pPr algn="r">
              <a:buNone/>
            </a:pPr>
            <a:r>
              <a:rPr lang="fr-FR" sz="850" b="1" dirty="0">
                <a:solidFill>
                  <a:srgbClr val="1C3359"/>
                </a:solidFill>
                <a:latin typeface="Segoe UI"/>
                <a:cs typeface="Segoe UI"/>
              </a:rPr>
              <a:t>2 / 6</a:t>
            </a:r>
            <a:endParaRPr lang="fr-FR" sz="100"/>
          </a:p>
        </p:txBody>
      </p:sp>
    </p:spTree>
  </p:cSld>
  <p:clrMapOvr>
    <a:masterClrMapping/>
  </p:clrMapOvr>
  <mc:AlternateContent>
    <mc:Choice Requires="p14">
      <p:transition spd="slow" p14:dur="900">
        <p:push dir="u"/>
      </p:transition>
    </mc:Choice>
    <mc:Fallback>
      <p:transition spd="slow">
        <p:push dir="u"/>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xmlns:p159="http://schemas.microsoft.com/office/powerpoint/2015/09/main">
  <p:cSld>
    <p:bg>
      <p:bgPr>
        <a:solidFill>
          <a:srgbClr val="FFFFFF"/>
        </a:solidFill>
        <a:effectLst/>
      </p:bgPr>
    </p:bg>
    <p:spTree>
      <p:nvGrpSpPr>
        <p:cNvPr id="1" name=""/>
        <p:cNvGrpSpPr/>
        <p:nvPr/>
      </p:nvGrpSpPr>
      <p:grpSpPr>
        <a:xfrm>
          <a:off x="0" y="0"/>
          <a:ext cx="0" cy="0"/>
          <a:chOff x="0" y="0"/>
          <a:chExt cx="0" cy="0"/>
        </a:xfrm>
      </p:grpSpPr>
      <p:sp>
        <p:nvSpPr>
          <p:cNvPr id="2" name="forme"/>
          <p:cNvSpPr/>
          <p:nvPr/>
        </p:nvSpPr>
        <p:spPr>
          <a:xfrm>
            <a:off x="0" y="0"/>
            <a:ext cx="12192000" cy="1168400"/>
          </a:xfrm>
          <a:prstGeom prst="rect">
            <a:avLst/>
          </a:prstGeom>
          <a:solidFill>
            <a:srgbClr val="1C3359"/>
          </a:solidFill>
          <a:ln>
            <a:noFill/>
          </a:ln>
          <a:effectLst/>
        </p:spPr>
        <p:txBody>
          <a:bodyPr/>
          <a:lstStyle/>
          <a:p>
            <a:endParaRPr lang="fr-FR"/>
          </a:p>
        </p:txBody>
      </p:sp>
      <p:sp>
        <p:nvSpPr>
          <p:cNvPr id="3" name="forme"/>
          <p:cNvSpPr/>
          <p:nvPr/>
        </p:nvSpPr>
        <p:spPr>
          <a:xfrm>
            <a:off x="0" y="1168400"/>
            <a:ext cx="12192000" cy="38100"/>
          </a:xfrm>
          <a:prstGeom prst="rect">
            <a:avLst/>
          </a:prstGeom>
          <a:solidFill>
            <a:srgbClr val="B6AD6E"/>
          </a:solidFill>
          <a:ln>
            <a:noFill/>
          </a:ln>
          <a:effectLst/>
        </p:spPr>
        <p:txBody>
          <a:bodyPr/>
          <a:lstStyle/>
          <a:p>
            <a:endParaRPr lang="fr-FR"/>
          </a:p>
        </p:txBody>
      </p:sp>
      <p:sp>
        <p:nvSpPr>
          <p:cNvPr id="4" name="forme"/>
          <p:cNvSpPr/>
          <p:nvPr/>
        </p:nvSpPr>
        <p:spPr>
          <a:xfrm>
            <a:off x="330200" y="342900"/>
            <a:ext cx="482600" cy="482600"/>
          </a:xfrm>
          <a:prstGeom prst="ellipse">
            <a:avLst/>
          </a:prstGeom>
          <a:noFill/>
          <a:ln w="15875" cap="flat">
            <a:solidFill>
              <a:srgbClr val="B6AD6E"/>
            </a:solidFill>
            <a:prstDash val="solid"/>
            <a:flat/>
          </a:ln>
          <a:effectLst/>
        </p:spPr>
        <p:txBody>
          <a:bodyPr/>
          <a:lstStyle/>
          <a:p>
            <a:endParaRPr lang="fr-FR"/>
          </a:p>
        </p:txBody>
      </p:sp>
      <p:sp>
        <p:nvSpPr>
          <p:cNvPr id="5" name="forme"/>
          <p:cNvSpPr/>
          <p:nvPr/>
        </p:nvSpPr>
        <p:spPr>
          <a:xfrm>
            <a:off x="330200" y="342900"/>
            <a:ext cx="482600" cy="482600"/>
          </a:xfrm>
          <a:prstGeom prst="rect">
            <a:avLst/>
          </a:prstGeom>
          <a:noFill/>
          <a:ln>
            <a:noFill/>
          </a:ln>
          <a:effectLst/>
        </p:spPr>
        <p:txBody>
          <a:bodyPr wrap="square" lIns="0" tIns="0" rIns="0" bIns="0" anchor="ctr">
            <a:noAutofit/>
          </a:bodyPr>
          <a:lstStyle/>
          <a:p>
            <a:pPr algn="ctr">
              <a:buNone/>
            </a:pPr>
            <a:r>
              <a:rPr lang="fr-FR" sz="1500" b="1" dirty="0">
                <a:solidFill>
                  <a:srgbClr val="B6AD6E"/>
                </a:solidFill>
                <a:latin typeface="Segoe UI"/>
                <a:cs typeface="Segoe UI"/>
              </a:rPr>
              <a:t>02</a:t>
            </a:r>
            <a:endParaRPr lang="fr-FR" sz="100"/>
          </a:p>
        </p:txBody>
      </p:sp>
      <p:sp>
        <p:nvSpPr>
          <p:cNvPr id="6" name="forme"/>
          <p:cNvSpPr/>
          <p:nvPr/>
        </p:nvSpPr>
        <p:spPr>
          <a:xfrm>
            <a:off x="1066800" y="228600"/>
            <a:ext cx="8128000" cy="177800"/>
          </a:xfrm>
          <a:prstGeom prst="rect">
            <a:avLst/>
          </a:prstGeom>
          <a:noFill/>
          <a:ln>
            <a:noFill/>
          </a:ln>
          <a:effectLst/>
        </p:spPr>
        <p:txBody>
          <a:bodyPr wrap="square" lIns="0" tIns="0" rIns="0" bIns="0" anchor="t">
            <a:noAutofit/>
          </a:bodyPr>
          <a:lstStyle/>
          <a:p>
            <a:pPr>
              <a:buNone/>
            </a:pPr>
            <a:r>
              <a:rPr lang="fr-FR" sz="900" b="1" cap="all" spc="140" dirty="0">
                <a:solidFill>
                  <a:srgbClr val="B6AD6E"/>
                </a:solidFill>
                <a:latin typeface="Segoe UI"/>
                <a:cs typeface="Segoe UI"/>
              </a:rPr>
              <a:t>Architecture</a:t>
            </a:r>
            <a:endParaRPr lang="fr-FR" sz="100"/>
          </a:p>
        </p:txBody>
      </p:sp>
      <p:sp>
        <p:nvSpPr>
          <p:cNvPr id="7" name="forme"/>
          <p:cNvSpPr/>
          <p:nvPr/>
        </p:nvSpPr>
        <p:spPr>
          <a:xfrm>
            <a:off x="1066800" y="457200"/>
            <a:ext cx="8890000" cy="508000"/>
          </a:xfrm>
          <a:prstGeom prst="rect">
            <a:avLst/>
          </a:prstGeom>
          <a:noFill/>
          <a:ln>
            <a:noFill/>
          </a:ln>
          <a:effectLst/>
        </p:spPr>
        <p:txBody>
          <a:bodyPr wrap="square" lIns="0" tIns="0" rIns="0" bIns="0" anchor="t">
            <a:noAutofit/>
          </a:bodyPr>
          <a:lstStyle/>
          <a:p>
            <a:pPr>
              <a:buNone/>
            </a:pPr>
            <a:r>
              <a:rPr lang="fr-FR" sz="2400" b="1" dirty="0">
                <a:solidFill>
                  <a:srgbClr val="FFFFFF"/>
                </a:solidFill>
                <a:latin typeface="Segoe UI"/>
                <a:cs typeface="Segoe UI"/>
              </a:rPr>
              <a:t>Du PDF à la preuve : 5 couches, 6 écrans</a:t>
            </a:r>
            <a:endParaRPr lang="fr-FR" sz="100"/>
          </a:p>
        </p:txBody>
      </p:sp>
      <p:pic>
        <p:nvPicPr>
          <p:cNvPr id="8" name="image"/>
          <p:cNvPicPr>
            <a:picLocks noChangeAspect="1"/>
          </p:cNvPicPr>
          <p:nvPr/>
        </p:nvPicPr>
        <p:blipFill>
          <a:blip r:embed="rId2"/>
          <a:stretch>
            <a:fillRect/>
          </a:stretch>
        </p:blipFill>
        <p:spPr>
          <a:xfrm>
            <a:off x="10629900" y="381000"/>
            <a:ext cx="850900" cy="406400"/>
          </a:xfrm>
          <a:prstGeom prst="rect">
            <a:avLst/>
          </a:prstGeom>
        </p:spPr>
      </p:pic>
      <p:sp>
        <p:nvSpPr>
          <p:cNvPr id="9" name="forme"/>
          <p:cNvSpPr/>
          <p:nvPr/>
        </p:nvSpPr>
        <p:spPr>
          <a:xfrm>
            <a:off x="711200" y="1778000"/>
            <a:ext cx="10769600" cy="635000"/>
          </a:xfrm>
          <a:prstGeom prst="roundRect">
            <a:avLst>
              <a:gd name="adj" fmla="val 40000"/>
            </a:avLst>
          </a:prstGeom>
          <a:solidFill>
            <a:srgbClr val="FFFFFF"/>
          </a:solidFill>
          <a:ln w="9525" cap="flat">
            <a:solidFill>
              <a:srgbClr val="DCE3EE"/>
            </a:solidFill>
            <a:prstDash val="solid"/>
            <a:flat/>
          </a:ln>
          <a:effectLst>
            <a:outerShdw blurRad="127000" dist="31750" dir="5400000" rotWithShape="0">
              <a:srgbClr val="0B1A30">
                <a:alpha val="8000"/>
              </a:srgbClr>
            </a:outerShdw>
          </a:effectLst>
        </p:spPr>
        <p:txBody>
          <a:bodyPr/>
          <a:lstStyle/>
          <a:p>
            <a:endParaRPr lang="fr-FR"/>
          </a:p>
        </p:txBody>
      </p:sp>
      <p:sp>
        <p:nvSpPr>
          <p:cNvPr id="10" name="forme"/>
          <p:cNvSpPr/>
          <p:nvPr/>
        </p:nvSpPr>
        <p:spPr>
          <a:xfrm>
            <a:off x="889000" y="1892300"/>
            <a:ext cx="406400" cy="406400"/>
          </a:xfrm>
          <a:prstGeom prst="roundRect">
            <a:avLst>
              <a:gd name="adj" fmla="val 50000"/>
            </a:avLst>
          </a:prstGeom>
          <a:solidFill>
            <a:srgbClr val="2C4A78"/>
          </a:solidFill>
          <a:ln>
            <a:noFill/>
          </a:ln>
          <a:effectLst/>
        </p:spPr>
        <p:txBody>
          <a:bodyPr/>
          <a:lstStyle/>
          <a:p>
            <a:endParaRPr lang="fr-FR"/>
          </a:p>
        </p:txBody>
      </p:sp>
      <p:sp>
        <p:nvSpPr>
          <p:cNvPr id="11" name="forme"/>
          <p:cNvSpPr/>
          <p:nvPr/>
        </p:nvSpPr>
        <p:spPr>
          <a:xfrm>
            <a:off x="1003442" y="2027875"/>
            <a:ext cx="177516" cy="135250"/>
          </a:xfrm>
          <a:prstGeom prst="roundRect">
            <a:avLst>
              <a:gd name="adj" fmla="val 50000"/>
            </a:avLst>
          </a:prstGeom>
          <a:solidFill>
            <a:srgbClr val="FFFFFF"/>
          </a:solidFill>
          <a:ln>
            <a:noFill/>
          </a:ln>
          <a:effectLst/>
        </p:spPr>
        <p:txBody>
          <a:bodyPr/>
          <a:lstStyle/>
          <a:p>
            <a:endParaRPr lang="fr-FR"/>
          </a:p>
        </p:txBody>
      </p:sp>
      <p:sp>
        <p:nvSpPr>
          <p:cNvPr id="12" name="forme"/>
          <p:cNvSpPr/>
          <p:nvPr/>
        </p:nvSpPr>
        <p:spPr>
          <a:xfrm>
            <a:off x="1003442" y="2078594"/>
            <a:ext cx="177516" cy="23246"/>
          </a:xfrm>
          <a:prstGeom prst="rect">
            <a:avLst/>
          </a:prstGeom>
          <a:solidFill>
            <a:srgbClr val="2C4A78"/>
          </a:solidFill>
          <a:ln>
            <a:noFill/>
          </a:ln>
          <a:effectLst/>
        </p:spPr>
        <p:txBody>
          <a:bodyPr/>
          <a:lstStyle/>
          <a:p>
            <a:endParaRPr lang="fr-FR"/>
          </a:p>
        </p:txBody>
      </p:sp>
      <p:sp>
        <p:nvSpPr>
          <p:cNvPr id="13" name="forme"/>
          <p:cNvSpPr/>
          <p:nvPr/>
        </p:nvSpPr>
        <p:spPr>
          <a:xfrm>
            <a:off x="1041481" y="2120859"/>
            <a:ext cx="101437" cy="16906"/>
          </a:xfrm>
          <a:prstGeom prst="rect">
            <a:avLst/>
          </a:prstGeom>
          <a:solidFill>
            <a:srgbClr val="2C4A78"/>
          </a:solidFill>
          <a:ln>
            <a:noFill/>
          </a:ln>
          <a:effectLst/>
        </p:spPr>
        <p:txBody>
          <a:bodyPr/>
          <a:lstStyle/>
          <a:p>
            <a:endParaRPr lang="fr-FR"/>
          </a:p>
        </p:txBody>
      </p:sp>
      <p:sp>
        <p:nvSpPr>
          <p:cNvPr id="14" name="forme"/>
          <p:cNvSpPr/>
          <p:nvPr/>
        </p:nvSpPr>
        <p:spPr>
          <a:xfrm>
            <a:off x="1447800" y="1879600"/>
            <a:ext cx="2133600" cy="431800"/>
          </a:xfrm>
          <a:prstGeom prst="rect">
            <a:avLst/>
          </a:prstGeom>
          <a:noFill/>
          <a:ln>
            <a:noFill/>
          </a:ln>
          <a:effectLst/>
        </p:spPr>
        <p:txBody>
          <a:bodyPr wrap="square" lIns="0" tIns="0" rIns="0" bIns="0" anchor="ctr">
            <a:noAutofit/>
          </a:bodyPr>
          <a:lstStyle/>
          <a:p>
            <a:pPr>
              <a:buNone/>
            </a:pPr>
            <a:r>
              <a:rPr lang="fr-FR" sz="1150" b="1" dirty="0">
                <a:solidFill>
                  <a:srgbClr val="1C3359"/>
                </a:solidFill>
                <a:latin typeface="Segoe UI"/>
                <a:cs typeface="Segoe UI"/>
              </a:rPr>
              <a:t>Sources</a:t>
            </a:r>
            <a:endParaRPr lang="fr-FR" sz="100"/>
          </a:p>
        </p:txBody>
      </p:sp>
      <p:sp>
        <p:nvSpPr>
          <p:cNvPr id="15" name="forme"/>
          <p:cNvSpPr/>
          <p:nvPr/>
        </p:nvSpPr>
        <p:spPr>
          <a:xfrm>
            <a:off x="3657600" y="1879600"/>
            <a:ext cx="5892800" cy="431800"/>
          </a:xfrm>
          <a:prstGeom prst="rect">
            <a:avLst/>
          </a:prstGeom>
          <a:noFill/>
          <a:ln>
            <a:noFill/>
          </a:ln>
          <a:effectLst/>
        </p:spPr>
        <p:txBody>
          <a:bodyPr wrap="square" lIns="0" tIns="0" rIns="0" bIns="0" anchor="ctr">
            <a:noAutofit/>
          </a:bodyPr>
          <a:lstStyle/>
          <a:p>
            <a:pPr>
              <a:lnSpc>
                <a:spcPct val="125000"/>
              </a:lnSpc>
              <a:buNone/>
            </a:pPr>
            <a:r>
              <a:rPr lang="fr-FR" sz="950" b="0" dirty="0">
                <a:solidFill>
                  <a:srgbClr val="4C5C72"/>
                </a:solidFill>
                <a:latin typeface="Segoe UI"/>
                <a:cs typeface="Segoe UI"/>
              </a:rPr>
              <a:t>PDF ou image du Journal Officiel. Des fichiers de test sont fournis dans l'application pour la démonstration.</a:t>
            </a:r>
            <a:endParaRPr lang="fr-FR" sz="100"/>
          </a:p>
        </p:txBody>
      </p:sp>
      <p:sp>
        <p:nvSpPr>
          <p:cNvPr id="16" name="forme"/>
          <p:cNvSpPr/>
          <p:nvPr/>
        </p:nvSpPr>
        <p:spPr>
          <a:xfrm>
            <a:off x="9753600" y="1955800"/>
            <a:ext cx="1549400" cy="279400"/>
          </a:xfrm>
          <a:prstGeom prst="roundRect">
            <a:avLst>
              <a:gd name="adj" fmla="val 50000"/>
            </a:avLst>
          </a:prstGeom>
          <a:solidFill>
            <a:srgbClr val="F5F2E6"/>
          </a:solidFill>
          <a:ln>
            <a:noFill/>
          </a:ln>
          <a:effectLst/>
        </p:spPr>
        <p:txBody>
          <a:bodyPr/>
          <a:lstStyle/>
          <a:p>
            <a:endParaRPr lang="fr-FR"/>
          </a:p>
        </p:txBody>
      </p:sp>
      <p:sp>
        <p:nvSpPr>
          <p:cNvPr id="17" name="forme"/>
          <p:cNvSpPr/>
          <p:nvPr/>
        </p:nvSpPr>
        <p:spPr>
          <a:xfrm>
            <a:off x="9753600" y="1955800"/>
            <a:ext cx="1549400" cy="279400"/>
          </a:xfrm>
          <a:prstGeom prst="rect">
            <a:avLst/>
          </a:prstGeom>
          <a:noFill/>
          <a:ln>
            <a:noFill/>
          </a:ln>
          <a:effectLst/>
        </p:spPr>
        <p:txBody>
          <a:bodyPr wrap="square" lIns="0" tIns="0" rIns="0" bIns="0" anchor="ctr">
            <a:noAutofit/>
          </a:bodyPr>
          <a:lstStyle/>
          <a:p>
            <a:pPr algn="ctr">
              <a:buNone/>
            </a:pPr>
            <a:r>
              <a:rPr lang="fr-FR" sz="950" b="1" dirty="0">
                <a:solidFill>
                  <a:srgbClr val="9A9059"/>
                </a:solidFill>
                <a:latin typeface="Segoe UI"/>
                <a:cs typeface="Segoe UI"/>
              </a:rPr>
              <a:t>PDF · image</a:t>
            </a:r>
            <a:endParaRPr lang="fr-FR" sz="100"/>
          </a:p>
        </p:txBody>
      </p:sp>
      <p:sp>
        <p:nvSpPr>
          <p:cNvPr id="18" name="forme"/>
          <p:cNvSpPr/>
          <p:nvPr/>
        </p:nvSpPr>
        <p:spPr>
          <a:xfrm>
            <a:off x="711200" y="2514600"/>
            <a:ext cx="10769600" cy="635000"/>
          </a:xfrm>
          <a:prstGeom prst="roundRect">
            <a:avLst>
              <a:gd name="adj" fmla="val 40000"/>
            </a:avLst>
          </a:prstGeom>
          <a:solidFill>
            <a:srgbClr val="FFFFFF"/>
          </a:solidFill>
          <a:ln w="9525" cap="flat">
            <a:solidFill>
              <a:srgbClr val="DCE3EE"/>
            </a:solidFill>
            <a:prstDash val="solid"/>
            <a:flat/>
          </a:ln>
          <a:effectLst>
            <a:outerShdw blurRad="127000" dist="31750" dir="5400000" rotWithShape="0">
              <a:srgbClr val="0B1A30">
                <a:alpha val="8000"/>
              </a:srgbClr>
            </a:outerShdw>
          </a:effectLst>
        </p:spPr>
        <p:txBody>
          <a:bodyPr/>
          <a:lstStyle/>
          <a:p>
            <a:endParaRPr lang="fr-FR"/>
          </a:p>
        </p:txBody>
      </p:sp>
      <p:sp>
        <p:nvSpPr>
          <p:cNvPr id="19" name="forme"/>
          <p:cNvSpPr/>
          <p:nvPr/>
        </p:nvSpPr>
        <p:spPr>
          <a:xfrm>
            <a:off x="889000" y="2628900"/>
            <a:ext cx="406400" cy="406400"/>
          </a:xfrm>
          <a:prstGeom prst="roundRect">
            <a:avLst>
              <a:gd name="adj" fmla="val 50000"/>
            </a:avLst>
          </a:prstGeom>
          <a:solidFill>
            <a:srgbClr val="2C4A78"/>
          </a:solidFill>
          <a:ln>
            <a:noFill/>
          </a:ln>
          <a:effectLst/>
        </p:spPr>
        <p:txBody>
          <a:bodyPr/>
          <a:lstStyle/>
          <a:p>
            <a:endParaRPr lang="fr-FR"/>
          </a:p>
        </p:txBody>
      </p:sp>
      <p:sp>
        <p:nvSpPr>
          <p:cNvPr id="20" name="forme"/>
          <p:cNvSpPr/>
          <p:nvPr/>
        </p:nvSpPr>
        <p:spPr>
          <a:xfrm>
            <a:off x="994989" y="2734889"/>
            <a:ext cx="131023" cy="131023"/>
          </a:xfrm>
          <a:prstGeom prst="star4">
            <a:avLst/>
          </a:prstGeom>
          <a:solidFill>
            <a:srgbClr val="FFFFFF"/>
          </a:solidFill>
          <a:ln>
            <a:noFill/>
          </a:ln>
          <a:effectLst/>
        </p:spPr>
        <p:txBody>
          <a:bodyPr/>
          <a:lstStyle/>
          <a:p>
            <a:endParaRPr lang="fr-FR"/>
          </a:p>
        </p:txBody>
      </p:sp>
      <p:sp>
        <p:nvSpPr>
          <p:cNvPr id="21" name="forme"/>
          <p:cNvSpPr/>
          <p:nvPr/>
        </p:nvSpPr>
        <p:spPr>
          <a:xfrm>
            <a:off x="1104880" y="2832100"/>
            <a:ext cx="84531" cy="84531"/>
          </a:xfrm>
          <a:prstGeom prst="star4">
            <a:avLst/>
          </a:prstGeom>
          <a:solidFill>
            <a:srgbClr val="FFFFFF"/>
          </a:solidFill>
          <a:ln>
            <a:noFill/>
          </a:ln>
          <a:effectLst/>
        </p:spPr>
        <p:txBody>
          <a:bodyPr/>
          <a:lstStyle/>
          <a:p>
            <a:endParaRPr lang="fr-FR"/>
          </a:p>
        </p:txBody>
      </p:sp>
      <p:sp>
        <p:nvSpPr>
          <p:cNvPr id="22" name="forme"/>
          <p:cNvSpPr/>
          <p:nvPr/>
        </p:nvSpPr>
        <p:spPr>
          <a:xfrm>
            <a:off x="1447800" y="2616200"/>
            <a:ext cx="2133600" cy="431800"/>
          </a:xfrm>
          <a:prstGeom prst="rect">
            <a:avLst/>
          </a:prstGeom>
          <a:noFill/>
          <a:ln>
            <a:noFill/>
          </a:ln>
          <a:effectLst/>
        </p:spPr>
        <p:txBody>
          <a:bodyPr wrap="square" lIns="0" tIns="0" rIns="0" bIns="0" anchor="ctr">
            <a:noAutofit/>
          </a:bodyPr>
          <a:lstStyle/>
          <a:p>
            <a:pPr>
              <a:buNone/>
            </a:pPr>
            <a:r>
              <a:rPr lang="fr-FR" sz="1150" b="1" dirty="0">
                <a:solidFill>
                  <a:srgbClr val="1C3359"/>
                </a:solidFill>
                <a:latin typeface="Segoe UI"/>
                <a:cs typeface="Segoe UI"/>
              </a:rPr>
              <a:t>Analyse IA</a:t>
            </a:r>
            <a:endParaRPr lang="fr-FR" sz="100"/>
          </a:p>
        </p:txBody>
      </p:sp>
      <p:sp>
        <p:nvSpPr>
          <p:cNvPr id="23" name="forme"/>
          <p:cNvSpPr/>
          <p:nvPr/>
        </p:nvSpPr>
        <p:spPr>
          <a:xfrm>
            <a:off x="3657600" y="2616200"/>
            <a:ext cx="5892800" cy="431800"/>
          </a:xfrm>
          <a:prstGeom prst="rect">
            <a:avLst/>
          </a:prstGeom>
          <a:noFill/>
          <a:ln>
            <a:noFill/>
          </a:ln>
          <a:effectLst/>
        </p:spPr>
        <p:txBody>
          <a:bodyPr wrap="square" lIns="0" tIns="0" rIns="0" bIns="0" anchor="ctr">
            <a:noAutofit/>
          </a:bodyPr>
          <a:lstStyle/>
          <a:p>
            <a:pPr>
              <a:lnSpc>
                <a:spcPct val="125000"/>
              </a:lnSpc>
              <a:buNone/>
            </a:pPr>
            <a:r>
              <a:rPr lang="fr-FR" sz="950" b="0" dirty="0">
                <a:solidFill>
                  <a:srgbClr val="4C5C72"/>
                </a:solidFill>
                <a:latin typeface="Segoe UI"/>
                <a:cs typeface="Segoe UI"/>
              </a:rPr>
              <a:t>1 document = N actes, 21 champs par acte (article, libellé, entrée en vigueur, lien), pertinence transit et contrôle de fidélité.</a:t>
            </a:r>
            <a:endParaRPr lang="fr-FR" sz="100"/>
          </a:p>
        </p:txBody>
      </p:sp>
      <p:sp>
        <p:nvSpPr>
          <p:cNvPr id="24" name="forme"/>
          <p:cNvSpPr/>
          <p:nvPr/>
        </p:nvSpPr>
        <p:spPr>
          <a:xfrm>
            <a:off x="9753600" y="2692400"/>
            <a:ext cx="1549400" cy="279400"/>
          </a:xfrm>
          <a:prstGeom prst="roundRect">
            <a:avLst>
              <a:gd name="adj" fmla="val 50000"/>
            </a:avLst>
          </a:prstGeom>
          <a:solidFill>
            <a:srgbClr val="F5F2E6"/>
          </a:solidFill>
          <a:ln>
            <a:noFill/>
          </a:ln>
          <a:effectLst/>
        </p:spPr>
        <p:txBody>
          <a:bodyPr/>
          <a:lstStyle/>
          <a:p>
            <a:endParaRPr lang="fr-FR"/>
          </a:p>
        </p:txBody>
      </p:sp>
      <p:sp>
        <p:nvSpPr>
          <p:cNvPr id="25" name="forme"/>
          <p:cNvSpPr/>
          <p:nvPr/>
        </p:nvSpPr>
        <p:spPr>
          <a:xfrm>
            <a:off x="9753600" y="2692400"/>
            <a:ext cx="1549400" cy="279400"/>
          </a:xfrm>
          <a:prstGeom prst="rect">
            <a:avLst/>
          </a:prstGeom>
          <a:noFill/>
          <a:ln>
            <a:noFill/>
          </a:ln>
          <a:effectLst/>
        </p:spPr>
        <p:txBody>
          <a:bodyPr wrap="square" lIns="0" tIns="0" rIns="0" bIns="0" anchor="ctr">
            <a:noAutofit/>
          </a:bodyPr>
          <a:lstStyle/>
          <a:p>
            <a:pPr algn="ctr">
              <a:buNone/>
            </a:pPr>
            <a:r>
              <a:rPr lang="fr-FR" sz="950" b="1" dirty="0">
                <a:solidFill>
                  <a:srgbClr val="9A9059"/>
                </a:solidFill>
                <a:latin typeface="Segoe UI"/>
                <a:cs typeface="Segoe UI"/>
              </a:rPr>
              <a:t>IA</a:t>
            </a:r>
            <a:endParaRPr lang="fr-FR" sz="100"/>
          </a:p>
        </p:txBody>
      </p:sp>
      <p:sp>
        <p:nvSpPr>
          <p:cNvPr id="26" name="forme"/>
          <p:cNvSpPr/>
          <p:nvPr/>
        </p:nvSpPr>
        <p:spPr>
          <a:xfrm>
            <a:off x="711200" y="3251200"/>
            <a:ext cx="10769600" cy="635000"/>
          </a:xfrm>
          <a:prstGeom prst="roundRect">
            <a:avLst>
              <a:gd name="adj" fmla="val 40000"/>
            </a:avLst>
          </a:prstGeom>
          <a:solidFill>
            <a:srgbClr val="FFFFFF"/>
          </a:solidFill>
          <a:ln w="9525" cap="flat">
            <a:solidFill>
              <a:srgbClr val="DCE3EE"/>
            </a:solidFill>
            <a:prstDash val="solid"/>
            <a:flat/>
          </a:ln>
          <a:effectLst>
            <a:outerShdw blurRad="127000" dist="31750" dir="5400000" rotWithShape="0">
              <a:srgbClr val="0B1A30">
                <a:alpha val="8000"/>
              </a:srgbClr>
            </a:outerShdw>
          </a:effectLst>
        </p:spPr>
        <p:txBody>
          <a:bodyPr/>
          <a:lstStyle/>
          <a:p>
            <a:endParaRPr lang="fr-FR"/>
          </a:p>
        </p:txBody>
      </p:sp>
      <p:sp>
        <p:nvSpPr>
          <p:cNvPr id="27" name="forme"/>
          <p:cNvSpPr/>
          <p:nvPr/>
        </p:nvSpPr>
        <p:spPr>
          <a:xfrm>
            <a:off x="889000" y="3365500"/>
            <a:ext cx="406400" cy="406400"/>
          </a:xfrm>
          <a:prstGeom prst="roundRect">
            <a:avLst>
              <a:gd name="adj" fmla="val 50000"/>
            </a:avLst>
          </a:prstGeom>
          <a:solidFill>
            <a:srgbClr val="2C4A78"/>
          </a:solidFill>
          <a:ln>
            <a:noFill/>
          </a:ln>
          <a:effectLst/>
        </p:spPr>
        <p:txBody>
          <a:bodyPr/>
          <a:lstStyle/>
          <a:p>
            <a:endParaRPr lang="fr-FR"/>
          </a:p>
        </p:txBody>
      </p:sp>
      <p:sp>
        <p:nvSpPr>
          <p:cNvPr id="28" name="forme"/>
          <p:cNvSpPr/>
          <p:nvPr/>
        </p:nvSpPr>
        <p:spPr>
          <a:xfrm>
            <a:off x="990763" y="3488395"/>
            <a:ext cx="202875" cy="54945"/>
          </a:xfrm>
          <a:prstGeom prst="parallelogram">
            <a:avLst>
              <a:gd name="adj" fmla="val 22000"/>
            </a:avLst>
          </a:prstGeom>
          <a:solidFill>
            <a:srgbClr val="FFFFFF"/>
          </a:solidFill>
          <a:ln>
            <a:noFill/>
          </a:ln>
          <a:effectLst/>
        </p:spPr>
        <p:txBody>
          <a:bodyPr/>
          <a:lstStyle/>
          <a:p>
            <a:endParaRPr lang="fr-FR"/>
          </a:p>
        </p:txBody>
      </p:sp>
      <p:sp>
        <p:nvSpPr>
          <p:cNvPr id="29" name="forme"/>
          <p:cNvSpPr/>
          <p:nvPr/>
        </p:nvSpPr>
        <p:spPr>
          <a:xfrm>
            <a:off x="990763" y="3543341"/>
            <a:ext cx="202875" cy="54945"/>
          </a:xfrm>
          <a:prstGeom prst="parallelogram">
            <a:avLst>
              <a:gd name="adj" fmla="val 22000"/>
            </a:avLst>
          </a:prstGeom>
          <a:solidFill>
            <a:srgbClr val="FFFFFF"/>
          </a:solidFill>
          <a:ln>
            <a:noFill/>
          </a:ln>
          <a:effectLst/>
        </p:spPr>
        <p:txBody>
          <a:bodyPr/>
          <a:lstStyle/>
          <a:p>
            <a:endParaRPr lang="fr-FR"/>
          </a:p>
        </p:txBody>
      </p:sp>
      <p:sp>
        <p:nvSpPr>
          <p:cNvPr id="30" name="forme"/>
          <p:cNvSpPr/>
          <p:nvPr/>
        </p:nvSpPr>
        <p:spPr>
          <a:xfrm>
            <a:off x="990763" y="3598286"/>
            <a:ext cx="202875" cy="54945"/>
          </a:xfrm>
          <a:prstGeom prst="parallelogram">
            <a:avLst>
              <a:gd name="adj" fmla="val 22000"/>
            </a:avLst>
          </a:prstGeom>
          <a:solidFill>
            <a:srgbClr val="FFFFFF"/>
          </a:solidFill>
          <a:ln>
            <a:noFill/>
          </a:ln>
          <a:effectLst/>
        </p:spPr>
        <p:txBody>
          <a:bodyPr/>
          <a:lstStyle/>
          <a:p>
            <a:endParaRPr lang="fr-FR"/>
          </a:p>
        </p:txBody>
      </p:sp>
      <p:sp>
        <p:nvSpPr>
          <p:cNvPr id="31" name="forme"/>
          <p:cNvSpPr/>
          <p:nvPr/>
        </p:nvSpPr>
        <p:spPr>
          <a:xfrm>
            <a:off x="1447800" y="3352800"/>
            <a:ext cx="2133600" cy="431800"/>
          </a:xfrm>
          <a:prstGeom prst="rect">
            <a:avLst/>
          </a:prstGeom>
          <a:noFill/>
          <a:ln>
            <a:noFill/>
          </a:ln>
          <a:effectLst/>
        </p:spPr>
        <p:txBody>
          <a:bodyPr wrap="square" lIns="0" tIns="0" rIns="0" bIns="0" anchor="ctr">
            <a:noAutofit/>
          </a:bodyPr>
          <a:lstStyle/>
          <a:p>
            <a:pPr>
              <a:buNone/>
            </a:pPr>
            <a:r>
              <a:rPr lang="fr-FR" sz="1150" b="1" dirty="0">
                <a:solidFill>
                  <a:srgbClr val="1C3359"/>
                </a:solidFill>
                <a:latin typeface="Segoe UI"/>
                <a:cs typeface="Segoe UI"/>
              </a:rPr>
              <a:t>Domaine métier pur</a:t>
            </a:r>
            <a:endParaRPr lang="fr-FR" sz="100"/>
          </a:p>
        </p:txBody>
      </p:sp>
      <p:sp>
        <p:nvSpPr>
          <p:cNvPr id="32" name="forme"/>
          <p:cNvSpPr/>
          <p:nvPr/>
        </p:nvSpPr>
        <p:spPr>
          <a:xfrm>
            <a:off x="3657600" y="3352800"/>
            <a:ext cx="5892800" cy="431800"/>
          </a:xfrm>
          <a:prstGeom prst="rect">
            <a:avLst/>
          </a:prstGeom>
          <a:noFill/>
          <a:ln>
            <a:noFill/>
          </a:ln>
          <a:effectLst/>
        </p:spPr>
        <p:txBody>
          <a:bodyPr wrap="square" lIns="0" tIns="0" rIns="0" bIns="0" anchor="ctr">
            <a:noAutofit/>
          </a:bodyPr>
          <a:lstStyle/>
          <a:p>
            <a:pPr>
              <a:lnSpc>
                <a:spcPct val="125000"/>
              </a:lnSpc>
              <a:buNone/>
            </a:pPr>
            <a:r>
              <a:rPr lang="fr-FR" sz="950" b="0" dirty="0">
                <a:solidFill>
                  <a:srgbClr val="4C5C72"/>
                </a:solidFill>
                <a:latin typeface="Segoe UI"/>
                <a:cs typeface="Segoe UI"/>
              </a:rPr>
              <a:t>Types, workflow, matrice d'accès, jalons et formulaire vivent hors de Next.js et de Prisma : le noyau est portable.</a:t>
            </a:r>
            <a:endParaRPr lang="fr-FR" sz="100"/>
          </a:p>
        </p:txBody>
      </p:sp>
      <p:sp>
        <p:nvSpPr>
          <p:cNvPr id="33" name="forme"/>
          <p:cNvSpPr/>
          <p:nvPr/>
        </p:nvSpPr>
        <p:spPr>
          <a:xfrm>
            <a:off x="9753600" y="3429000"/>
            <a:ext cx="1549400" cy="279400"/>
          </a:xfrm>
          <a:prstGeom prst="roundRect">
            <a:avLst>
              <a:gd name="adj" fmla="val 50000"/>
            </a:avLst>
          </a:prstGeom>
          <a:solidFill>
            <a:srgbClr val="F5F2E6"/>
          </a:solidFill>
          <a:ln>
            <a:noFill/>
          </a:ln>
          <a:effectLst/>
        </p:spPr>
        <p:txBody>
          <a:bodyPr/>
          <a:lstStyle/>
          <a:p>
            <a:endParaRPr lang="fr-FR"/>
          </a:p>
        </p:txBody>
      </p:sp>
      <p:sp>
        <p:nvSpPr>
          <p:cNvPr id="34" name="forme"/>
          <p:cNvSpPr/>
          <p:nvPr/>
        </p:nvSpPr>
        <p:spPr>
          <a:xfrm>
            <a:off x="9753600" y="3429000"/>
            <a:ext cx="1549400" cy="279400"/>
          </a:xfrm>
          <a:prstGeom prst="rect">
            <a:avLst/>
          </a:prstGeom>
          <a:noFill/>
          <a:ln>
            <a:noFill/>
          </a:ln>
          <a:effectLst/>
        </p:spPr>
        <p:txBody>
          <a:bodyPr wrap="square" lIns="0" tIns="0" rIns="0" bIns="0" anchor="ctr">
            <a:noAutofit/>
          </a:bodyPr>
          <a:lstStyle/>
          <a:p>
            <a:pPr algn="ctr">
              <a:buNone/>
            </a:pPr>
            <a:r>
              <a:rPr lang="fr-FR" sz="950" b="1" dirty="0">
                <a:solidFill>
                  <a:srgbClr val="9A9059"/>
                </a:solidFill>
                <a:latin typeface="Segoe UI"/>
                <a:cs typeface="Segoe UI"/>
              </a:rPr>
              <a:t>5 modules</a:t>
            </a:r>
            <a:endParaRPr lang="fr-FR" sz="100"/>
          </a:p>
        </p:txBody>
      </p:sp>
      <p:sp>
        <p:nvSpPr>
          <p:cNvPr id="35" name="forme"/>
          <p:cNvSpPr/>
          <p:nvPr/>
        </p:nvSpPr>
        <p:spPr>
          <a:xfrm>
            <a:off x="711200" y="3987800"/>
            <a:ext cx="10769600" cy="635000"/>
          </a:xfrm>
          <a:prstGeom prst="roundRect">
            <a:avLst>
              <a:gd name="adj" fmla="val 40000"/>
            </a:avLst>
          </a:prstGeom>
          <a:solidFill>
            <a:srgbClr val="FFFFFF"/>
          </a:solidFill>
          <a:ln w="9525" cap="flat">
            <a:solidFill>
              <a:srgbClr val="DCE3EE"/>
            </a:solidFill>
            <a:prstDash val="solid"/>
            <a:flat/>
          </a:ln>
          <a:effectLst>
            <a:outerShdw blurRad="127000" dist="31750" dir="5400000" rotWithShape="0">
              <a:srgbClr val="0B1A30">
                <a:alpha val="8000"/>
              </a:srgbClr>
            </a:outerShdw>
          </a:effectLst>
        </p:spPr>
        <p:txBody>
          <a:bodyPr/>
          <a:lstStyle/>
          <a:p>
            <a:endParaRPr lang="fr-FR"/>
          </a:p>
        </p:txBody>
      </p:sp>
      <p:sp>
        <p:nvSpPr>
          <p:cNvPr id="36" name="forme"/>
          <p:cNvSpPr/>
          <p:nvPr/>
        </p:nvSpPr>
        <p:spPr>
          <a:xfrm>
            <a:off x="889000" y="4102100"/>
            <a:ext cx="406400" cy="406400"/>
          </a:xfrm>
          <a:prstGeom prst="roundRect">
            <a:avLst>
              <a:gd name="adj" fmla="val 50000"/>
            </a:avLst>
          </a:prstGeom>
          <a:solidFill>
            <a:srgbClr val="2C4A78"/>
          </a:solidFill>
          <a:ln>
            <a:noFill/>
          </a:ln>
          <a:effectLst/>
        </p:spPr>
        <p:txBody>
          <a:bodyPr/>
          <a:lstStyle/>
          <a:p>
            <a:endParaRPr lang="fr-FR"/>
          </a:p>
        </p:txBody>
      </p:sp>
      <p:sp>
        <p:nvSpPr>
          <p:cNvPr id="37" name="forme"/>
          <p:cNvSpPr/>
          <p:nvPr/>
        </p:nvSpPr>
        <p:spPr>
          <a:xfrm>
            <a:off x="1014009" y="4220769"/>
            <a:ext cx="156383" cy="169062"/>
          </a:xfrm>
          <a:prstGeom prst="can">
            <a:avLst/>
          </a:prstGeom>
          <a:solidFill>
            <a:srgbClr val="FFFFFF"/>
          </a:solidFill>
          <a:ln>
            <a:noFill/>
          </a:ln>
          <a:effectLst/>
        </p:spPr>
        <p:txBody>
          <a:bodyPr/>
          <a:lstStyle/>
          <a:p>
            <a:endParaRPr lang="fr-FR"/>
          </a:p>
        </p:txBody>
      </p:sp>
      <p:sp>
        <p:nvSpPr>
          <p:cNvPr id="38" name="forme"/>
          <p:cNvSpPr/>
          <p:nvPr/>
        </p:nvSpPr>
        <p:spPr>
          <a:xfrm>
            <a:off x="1014009" y="4286280"/>
            <a:ext cx="156383" cy="14793"/>
          </a:xfrm>
          <a:prstGeom prst="rect">
            <a:avLst/>
          </a:prstGeom>
          <a:solidFill>
            <a:srgbClr val="2C4A78"/>
          </a:solidFill>
          <a:ln>
            <a:noFill/>
          </a:ln>
          <a:effectLst/>
        </p:spPr>
        <p:txBody>
          <a:bodyPr/>
          <a:lstStyle/>
          <a:p>
            <a:endParaRPr lang="fr-FR"/>
          </a:p>
        </p:txBody>
      </p:sp>
      <p:sp>
        <p:nvSpPr>
          <p:cNvPr id="39" name="forme"/>
          <p:cNvSpPr/>
          <p:nvPr/>
        </p:nvSpPr>
        <p:spPr>
          <a:xfrm>
            <a:off x="1014009" y="4328546"/>
            <a:ext cx="156383" cy="14793"/>
          </a:xfrm>
          <a:prstGeom prst="rect">
            <a:avLst/>
          </a:prstGeom>
          <a:solidFill>
            <a:srgbClr val="2C4A78"/>
          </a:solidFill>
          <a:ln>
            <a:noFill/>
          </a:ln>
          <a:effectLst/>
        </p:spPr>
        <p:txBody>
          <a:bodyPr/>
          <a:lstStyle/>
          <a:p>
            <a:endParaRPr lang="fr-FR"/>
          </a:p>
        </p:txBody>
      </p:sp>
      <p:sp>
        <p:nvSpPr>
          <p:cNvPr id="40" name="forme"/>
          <p:cNvSpPr/>
          <p:nvPr/>
        </p:nvSpPr>
        <p:spPr>
          <a:xfrm>
            <a:off x="1447800" y="4089400"/>
            <a:ext cx="2133600" cy="431800"/>
          </a:xfrm>
          <a:prstGeom prst="rect">
            <a:avLst/>
          </a:prstGeom>
          <a:noFill/>
          <a:ln>
            <a:noFill/>
          </a:ln>
          <a:effectLst/>
        </p:spPr>
        <p:txBody>
          <a:bodyPr wrap="square" lIns="0" tIns="0" rIns="0" bIns="0" anchor="ctr">
            <a:noAutofit/>
          </a:bodyPr>
          <a:lstStyle/>
          <a:p>
            <a:pPr>
              <a:buNone/>
            </a:pPr>
            <a:r>
              <a:rPr lang="fr-FR" sz="1150" b="1" dirty="0">
                <a:solidFill>
                  <a:srgbClr val="1C3359"/>
                </a:solidFill>
                <a:latin typeface="Segoe UI"/>
                <a:cs typeface="Segoe UI"/>
              </a:rPr>
              <a:t>Persistance</a:t>
            </a:r>
            <a:endParaRPr lang="fr-FR" sz="100"/>
          </a:p>
        </p:txBody>
      </p:sp>
      <p:sp>
        <p:nvSpPr>
          <p:cNvPr id="41" name="forme"/>
          <p:cNvSpPr/>
          <p:nvPr/>
        </p:nvSpPr>
        <p:spPr>
          <a:xfrm>
            <a:off x="3657600" y="4089400"/>
            <a:ext cx="5892800" cy="431800"/>
          </a:xfrm>
          <a:prstGeom prst="rect">
            <a:avLst/>
          </a:prstGeom>
          <a:noFill/>
          <a:ln>
            <a:noFill/>
          </a:ln>
          <a:effectLst/>
        </p:spPr>
        <p:txBody>
          <a:bodyPr wrap="square" lIns="0" tIns="0" rIns="0" bIns="0" anchor="ctr">
            <a:noAutofit/>
          </a:bodyPr>
          <a:lstStyle/>
          <a:p>
            <a:pPr>
              <a:lnSpc>
                <a:spcPct val="125000"/>
              </a:lnSpc>
              <a:buNone/>
            </a:pPr>
            <a:r>
              <a:rPr lang="fr-FR" sz="950" b="0" dirty="0">
                <a:solidFill>
                  <a:srgbClr val="4C5C72"/>
                </a:solidFill>
                <a:latin typeface="Segoe UI"/>
                <a:cs typeface="Segoe UI"/>
              </a:rPr>
              <a:t>Prisma 6 / PostgreSQL : 7 tables, versions figées et journal — la traçabilité est dans le modèle, pas dans un rapport.</a:t>
            </a:r>
            <a:endParaRPr lang="fr-FR" sz="100"/>
          </a:p>
        </p:txBody>
      </p:sp>
      <p:sp>
        <p:nvSpPr>
          <p:cNvPr id="42" name="forme"/>
          <p:cNvSpPr/>
          <p:nvPr/>
        </p:nvSpPr>
        <p:spPr>
          <a:xfrm>
            <a:off x="9753600" y="4165600"/>
            <a:ext cx="1549400" cy="279400"/>
          </a:xfrm>
          <a:prstGeom prst="roundRect">
            <a:avLst>
              <a:gd name="adj" fmla="val 50000"/>
            </a:avLst>
          </a:prstGeom>
          <a:solidFill>
            <a:srgbClr val="F5F2E6"/>
          </a:solidFill>
          <a:ln>
            <a:noFill/>
          </a:ln>
          <a:effectLst/>
        </p:spPr>
        <p:txBody>
          <a:bodyPr/>
          <a:lstStyle/>
          <a:p>
            <a:endParaRPr lang="fr-FR"/>
          </a:p>
        </p:txBody>
      </p:sp>
      <p:sp>
        <p:nvSpPr>
          <p:cNvPr id="43" name="forme"/>
          <p:cNvSpPr/>
          <p:nvPr/>
        </p:nvSpPr>
        <p:spPr>
          <a:xfrm>
            <a:off x="9753600" y="4165600"/>
            <a:ext cx="1549400" cy="279400"/>
          </a:xfrm>
          <a:prstGeom prst="rect">
            <a:avLst/>
          </a:prstGeom>
          <a:noFill/>
          <a:ln>
            <a:noFill/>
          </a:ln>
          <a:effectLst/>
        </p:spPr>
        <p:txBody>
          <a:bodyPr wrap="square" lIns="0" tIns="0" rIns="0" bIns="0" anchor="ctr">
            <a:noAutofit/>
          </a:bodyPr>
          <a:lstStyle/>
          <a:p>
            <a:pPr algn="ctr">
              <a:buNone/>
            </a:pPr>
            <a:r>
              <a:rPr lang="fr-FR" sz="950" b="1" dirty="0">
                <a:solidFill>
                  <a:srgbClr val="9A9059"/>
                </a:solidFill>
                <a:latin typeface="Segoe UI"/>
                <a:cs typeface="Segoe UI"/>
              </a:rPr>
              <a:t>7 tables</a:t>
            </a:r>
            <a:endParaRPr lang="fr-FR" sz="100"/>
          </a:p>
        </p:txBody>
      </p:sp>
      <p:sp>
        <p:nvSpPr>
          <p:cNvPr id="44" name="forme"/>
          <p:cNvSpPr/>
          <p:nvPr/>
        </p:nvSpPr>
        <p:spPr>
          <a:xfrm>
            <a:off x="711200" y="4724400"/>
            <a:ext cx="10769600" cy="635000"/>
          </a:xfrm>
          <a:prstGeom prst="roundRect">
            <a:avLst>
              <a:gd name="adj" fmla="val 40000"/>
            </a:avLst>
          </a:prstGeom>
          <a:solidFill>
            <a:srgbClr val="FFFFFF"/>
          </a:solidFill>
          <a:ln w="9525" cap="flat">
            <a:solidFill>
              <a:srgbClr val="DCE3EE"/>
            </a:solidFill>
            <a:prstDash val="solid"/>
            <a:flat/>
          </a:ln>
          <a:effectLst>
            <a:outerShdw blurRad="127000" dist="31750" dir="5400000" rotWithShape="0">
              <a:srgbClr val="0B1A30">
                <a:alpha val="8000"/>
              </a:srgbClr>
            </a:outerShdw>
          </a:effectLst>
        </p:spPr>
        <p:txBody>
          <a:bodyPr/>
          <a:lstStyle/>
          <a:p>
            <a:endParaRPr lang="fr-FR"/>
          </a:p>
        </p:txBody>
      </p:sp>
      <p:sp>
        <p:nvSpPr>
          <p:cNvPr id="45" name="forme"/>
          <p:cNvSpPr/>
          <p:nvPr/>
        </p:nvSpPr>
        <p:spPr>
          <a:xfrm>
            <a:off x="889000" y="4838700"/>
            <a:ext cx="406400" cy="406400"/>
          </a:xfrm>
          <a:prstGeom prst="roundRect">
            <a:avLst>
              <a:gd name="adj" fmla="val 50000"/>
            </a:avLst>
          </a:prstGeom>
          <a:solidFill>
            <a:srgbClr val="2C4A78"/>
          </a:solidFill>
          <a:ln>
            <a:noFill/>
          </a:ln>
          <a:effectLst/>
        </p:spPr>
        <p:txBody>
          <a:bodyPr/>
          <a:lstStyle/>
          <a:p>
            <a:endParaRPr lang="fr-FR"/>
          </a:p>
        </p:txBody>
      </p:sp>
      <p:sp>
        <p:nvSpPr>
          <p:cNvPr id="46" name="forme"/>
          <p:cNvSpPr/>
          <p:nvPr/>
        </p:nvSpPr>
        <p:spPr>
          <a:xfrm>
            <a:off x="997102" y="4961595"/>
            <a:ext cx="88758" cy="76078"/>
          </a:xfrm>
          <a:prstGeom prst="roundRect">
            <a:avLst>
              <a:gd name="adj" fmla="val 50000"/>
            </a:avLst>
          </a:prstGeom>
          <a:solidFill>
            <a:srgbClr val="FFFFFF"/>
          </a:solidFill>
          <a:ln>
            <a:noFill/>
          </a:ln>
          <a:effectLst/>
        </p:spPr>
        <p:txBody>
          <a:bodyPr/>
          <a:lstStyle/>
          <a:p>
            <a:endParaRPr lang="fr-FR"/>
          </a:p>
        </p:txBody>
      </p:sp>
      <p:sp>
        <p:nvSpPr>
          <p:cNvPr id="47" name="forme"/>
          <p:cNvSpPr/>
          <p:nvPr/>
        </p:nvSpPr>
        <p:spPr>
          <a:xfrm>
            <a:off x="1098540" y="4961595"/>
            <a:ext cx="88758" cy="76078"/>
          </a:xfrm>
          <a:prstGeom prst="roundRect">
            <a:avLst>
              <a:gd name="adj" fmla="val 50000"/>
            </a:avLst>
          </a:prstGeom>
          <a:solidFill>
            <a:srgbClr val="FFFFFF"/>
          </a:solidFill>
          <a:ln>
            <a:noFill/>
          </a:ln>
          <a:effectLst/>
        </p:spPr>
        <p:txBody>
          <a:bodyPr/>
          <a:lstStyle/>
          <a:p>
            <a:endParaRPr lang="fr-FR"/>
          </a:p>
        </p:txBody>
      </p:sp>
      <p:sp>
        <p:nvSpPr>
          <p:cNvPr id="48" name="forme"/>
          <p:cNvSpPr/>
          <p:nvPr/>
        </p:nvSpPr>
        <p:spPr>
          <a:xfrm>
            <a:off x="997102" y="5050353"/>
            <a:ext cx="88758" cy="71852"/>
          </a:xfrm>
          <a:prstGeom prst="roundRect">
            <a:avLst>
              <a:gd name="adj" fmla="val 50000"/>
            </a:avLst>
          </a:prstGeom>
          <a:solidFill>
            <a:srgbClr val="FFFFFF"/>
          </a:solidFill>
          <a:ln>
            <a:noFill/>
          </a:ln>
          <a:effectLst/>
        </p:spPr>
        <p:txBody>
          <a:bodyPr/>
          <a:lstStyle/>
          <a:p>
            <a:endParaRPr lang="fr-FR"/>
          </a:p>
        </p:txBody>
      </p:sp>
      <p:sp>
        <p:nvSpPr>
          <p:cNvPr id="49" name="forme"/>
          <p:cNvSpPr/>
          <p:nvPr/>
        </p:nvSpPr>
        <p:spPr>
          <a:xfrm>
            <a:off x="1098540" y="5050353"/>
            <a:ext cx="88758" cy="71852"/>
          </a:xfrm>
          <a:prstGeom prst="roundRect">
            <a:avLst>
              <a:gd name="adj" fmla="val 50000"/>
            </a:avLst>
          </a:prstGeom>
          <a:solidFill>
            <a:srgbClr val="FFFFFF"/>
          </a:solidFill>
          <a:ln>
            <a:noFill/>
          </a:ln>
          <a:effectLst/>
        </p:spPr>
        <p:txBody>
          <a:bodyPr/>
          <a:lstStyle/>
          <a:p>
            <a:endParaRPr lang="fr-FR"/>
          </a:p>
        </p:txBody>
      </p:sp>
      <p:sp>
        <p:nvSpPr>
          <p:cNvPr id="50" name="forme"/>
          <p:cNvSpPr/>
          <p:nvPr/>
        </p:nvSpPr>
        <p:spPr>
          <a:xfrm>
            <a:off x="1447800" y="4826000"/>
            <a:ext cx="2133600" cy="431800"/>
          </a:xfrm>
          <a:prstGeom prst="rect">
            <a:avLst/>
          </a:prstGeom>
          <a:noFill/>
          <a:ln>
            <a:noFill/>
          </a:ln>
          <a:effectLst/>
        </p:spPr>
        <p:txBody>
          <a:bodyPr wrap="square" lIns="0" tIns="0" rIns="0" bIns="0" anchor="ctr">
            <a:noAutofit/>
          </a:bodyPr>
          <a:lstStyle/>
          <a:p>
            <a:pPr>
              <a:buNone/>
            </a:pPr>
            <a:r>
              <a:rPr lang="fr-FR" sz="1150" b="1" dirty="0">
                <a:solidFill>
                  <a:srgbClr val="1C3359"/>
                </a:solidFill>
                <a:latin typeface="Segoe UI"/>
                <a:cs typeface="Segoe UI"/>
              </a:rPr>
              <a:t>Écrans &amp; API</a:t>
            </a:r>
            <a:endParaRPr lang="fr-FR" sz="100"/>
          </a:p>
        </p:txBody>
      </p:sp>
      <p:sp>
        <p:nvSpPr>
          <p:cNvPr id="51" name="forme"/>
          <p:cNvSpPr/>
          <p:nvPr/>
        </p:nvSpPr>
        <p:spPr>
          <a:xfrm>
            <a:off x="3657600" y="4826000"/>
            <a:ext cx="5892800" cy="431800"/>
          </a:xfrm>
          <a:prstGeom prst="rect">
            <a:avLst/>
          </a:prstGeom>
          <a:noFill/>
          <a:ln>
            <a:noFill/>
          </a:ln>
          <a:effectLst/>
        </p:spPr>
        <p:txBody>
          <a:bodyPr wrap="square" lIns="0" tIns="0" rIns="0" bIns="0" anchor="ctr">
            <a:noAutofit/>
          </a:bodyPr>
          <a:lstStyle/>
          <a:p>
            <a:pPr>
              <a:lnSpc>
                <a:spcPct val="125000"/>
              </a:lnSpc>
              <a:buNone/>
            </a:pPr>
            <a:r>
              <a:rPr lang="fr-FR" sz="950" b="0" dirty="0">
                <a:solidFill>
                  <a:srgbClr val="4C5C72"/>
                </a:solidFill>
                <a:latin typeface="Segoe UI"/>
                <a:cs typeface="Segoe UI"/>
              </a:rPr>
              <a:t>6 écrans (pilotage, nouvelle alerte, approbations, rejets, historique, mémo) et 6 routes API, les mêmes règles des deux côtés.</a:t>
            </a:r>
            <a:endParaRPr lang="fr-FR" sz="100"/>
          </a:p>
        </p:txBody>
      </p:sp>
      <p:sp>
        <p:nvSpPr>
          <p:cNvPr id="52" name="forme"/>
          <p:cNvSpPr/>
          <p:nvPr/>
        </p:nvSpPr>
        <p:spPr>
          <a:xfrm>
            <a:off x="9753600" y="4902200"/>
            <a:ext cx="1549400" cy="279400"/>
          </a:xfrm>
          <a:prstGeom prst="roundRect">
            <a:avLst>
              <a:gd name="adj" fmla="val 50000"/>
            </a:avLst>
          </a:prstGeom>
          <a:solidFill>
            <a:srgbClr val="F5F2E6"/>
          </a:solidFill>
          <a:ln>
            <a:noFill/>
          </a:ln>
          <a:effectLst/>
        </p:spPr>
        <p:txBody>
          <a:bodyPr/>
          <a:lstStyle/>
          <a:p>
            <a:endParaRPr lang="fr-FR"/>
          </a:p>
        </p:txBody>
      </p:sp>
      <p:sp>
        <p:nvSpPr>
          <p:cNvPr id="53" name="forme"/>
          <p:cNvSpPr/>
          <p:nvPr/>
        </p:nvSpPr>
        <p:spPr>
          <a:xfrm>
            <a:off x="9753600" y="4902200"/>
            <a:ext cx="1549400" cy="279400"/>
          </a:xfrm>
          <a:prstGeom prst="rect">
            <a:avLst/>
          </a:prstGeom>
          <a:noFill/>
          <a:ln>
            <a:noFill/>
          </a:ln>
          <a:effectLst/>
        </p:spPr>
        <p:txBody>
          <a:bodyPr wrap="square" lIns="0" tIns="0" rIns="0" bIns="0" anchor="ctr">
            <a:noAutofit/>
          </a:bodyPr>
          <a:lstStyle/>
          <a:p>
            <a:pPr algn="ctr">
              <a:buNone/>
            </a:pPr>
            <a:r>
              <a:rPr lang="fr-FR" sz="950" b="1" dirty="0">
                <a:solidFill>
                  <a:srgbClr val="9A9059"/>
                </a:solidFill>
                <a:latin typeface="Segoe UI"/>
                <a:cs typeface="Segoe UI"/>
              </a:rPr>
              <a:t>6 écrans</a:t>
            </a:r>
            <a:endParaRPr lang="fr-FR" sz="100"/>
          </a:p>
        </p:txBody>
      </p:sp>
      <p:sp>
        <p:nvSpPr>
          <p:cNvPr id="54" name="forme"/>
          <p:cNvSpPr/>
          <p:nvPr/>
        </p:nvSpPr>
        <p:spPr>
          <a:xfrm>
            <a:off x="711200" y="5613400"/>
            <a:ext cx="10769600" cy="635000"/>
          </a:xfrm>
          <a:prstGeom prst="roundRect">
            <a:avLst>
              <a:gd name="adj" fmla="val 40000"/>
            </a:avLst>
          </a:prstGeom>
          <a:solidFill>
            <a:srgbClr val="EEF2F8"/>
          </a:solidFill>
          <a:ln>
            <a:noFill/>
          </a:ln>
          <a:effectLst/>
        </p:spPr>
        <p:txBody>
          <a:bodyPr/>
          <a:lstStyle/>
          <a:p>
            <a:endParaRPr lang="fr-FR"/>
          </a:p>
        </p:txBody>
      </p:sp>
      <p:sp>
        <p:nvSpPr>
          <p:cNvPr id="55" name="forme"/>
          <p:cNvSpPr/>
          <p:nvPr/>
        </p:nvSpPr>
        <p:spPr>
          <a:xfrm>
            <a:off x="965200" y="5613400"/>
            <a:ext cx="1066800" cy="635000"/>
          </a:xfrm>
          <a:prstGeom prst="rect">
            <a:avLst/>
          </a:prstGeom>
          <a:noFill/>
          <a:ln>
            <a:noFill/>
          </a:ln>
          <a:effectLst/>
        </p:spPr>
        <p:txBody>
          <a:bodyPr wrap="square" lIns="0" tIns="0" rIns="0" bIns="0" anchor="ctr">
            <a:noAutofit/>
          </a:bodyPr>
          <a:lstStyle/>
          <a:p>
            <a:pPr>
              <a:buNone/>
            </a:pPr>
            <a:r>
              <a:rPr lang="fr-FR" sz="1100" b="1" dirty="0">
                <a:solidFill>
                  <a:srgbClr val="1C3359"/>
                </a:solidFill>
                <a:latin typeface="Segoe UI"/>
                <a:cs typeface="Segoe UI"/>
              </a:rPr>
              <a:t>Stack</a:t>
            </a:r>
            <a:endParaRPr lang="fr-FR" sz="100"/>
          </a:p>
        </p:txBody>
      </p:sp>
      <p:sp>
        <p:nvSpPr>
          <p:cNvPr id="56" name="forme"/>
          <p:cNvSpPr/>
          <p:nvPr/>
        </p:nvSpPr>
        <p:spPr>
          <a:xfrm>
            <a:off x="2082800" y="5791200"/>
            <a:ext cx="843280" cy="279400"/>
          </a:xfrm>
          <a:prstGeom prst="roundRect">
            <a:avLst>
              <a:gd name="adj" fmla="val 50000"/>
            </a:avLst>
          </a:prstGeom>
          <a:noFill/>
          <a:ln w="9525" cap="flat">
            <a:solidFill>
              <a:srgbClr val="C9D5E6"/>
            </a:solidFill>
            <a:prstDash val="solid"/>
            <a:flat/>
          </a:ln>
          <a:effectLst/>
        </p:spPr>
        <p:txBody>
          <a:bodyPr/>
          <a:lstStyle/>
          <a:p>
            <a:endParaRPr lang="fr-FR"/>
          </a:p>
        </p:txBody>
      </p:sp>
      <p:sp>
        <p:nvSpPr>
          <p:cNvPr id="57" name="forme"/>
          <p:cNvSpPr/>
          <p:nvPr/>
        </p:nvSpPr>
        <p:spPr>
          <a:xfrm>
            <a:off x="2082800" y="5791200"/>
            <a:ext cx="843280" cy="279400"/>
          </a:xfrm>
          <a:prstGeom prst="rect">
            <a:avLst/>
          </a:prstGeom>
          <a:noFill/>
          <a:ln>
            <a:noFill/>
          </a:ln>
          <a:effectLst/>
        </p:spPr>
        <p:txBody>
          <a:bodyPr wrap="square" lIns="0" tIns="0" rIns="0" bIns="0" anchor="ctr">
            <a:noAutofit/>
          </a:bodyPr>
          <a:lstStyle/>
          <a:p>
            <a:pPr algn="ctr">
              <a:buNone/>
            </a:pPr>
            <a:r>
              <a:rPr lang="fr-FR" sz="900" b="0" dirty="0">
                <a:solidFill>
                  <a:srgbClr val="4C5C72"/>
                </a:solidFill>
                <a:latin typeface="Segoe UI"/>
                <a:cs typeface="Segoe UI"/>
              </a:rPr>
              <a:t>Next.js 16</a:t>
            </a:r>
            <a:endParaRPr lang="fr-FR" sz="100"/>
          </a:p>
        </p:txBody>
      </p:sp>
      <p:sp>
        <p:nvSpPr>
          <p:cNvPr id="58" name="forme"/>
          <p:cNvSpPr/>
          <p:nvPr/>
        </p:nvSpPr>
        <p:spPr>
          <a:xfrm>
            <a:off x="3027680" y="5791200"/>
            <a:ext cx="715264" cy="279400"/>
          </a:xfrm>
          <a:prstGeom prst="roundRect">
            <a:avLst>
              <a:gd name="adj" fmla="val 50000"/>
            </a:avLst>
          </a:prstGeom>
          <a:noFill/>
          <a:ln w="9525" cap="flat">
            <a:solidFill>
              <a:srgbClr val="C9D5E6"/>
            </a:solidFill>
            <a:prstDash val="solid"/>
            <a:flat/>
          </a:ln>
          <a:effectLst/>
        </p:spPr>
        <p:txBody>
          <a:bodyPr/>
          <a:lstStyle/>
          <a:p>
            <a:endParaRPr lang="fr-FR"/>
          </a:p>
        </p:txBody>
      </p:sp>
      <p:sp>
        <p:nvSpPr>
          <p:cNvPr id="59" name="forme"/>
          <p:cNvSpPr/>
          <p:nvPr/>
        </p:nvSpPr>
        <p:spPr>
          <a:xfrm>
            <a:off x="3027680" y="5791200"/>
            <a:ext cx="715264" cy="279400"/>
          </a:xfrm>
          <a:prstGeom prst="rect">
            <a:avLst/>
          </a:prstGeom>
          <a:noFill/>
          <a:ln>
            <a:noFill/>
          </a:ln>
          <a:effectLst/>
        </p:spPr>
        <p:txBody>
          <a:bodyPr wrap="square" lIns="0" tIns="0" rIns="0" bIns="0" anchor="ctr">
            <a:noAutofit/>
          </a:bodyPr>
          <a:lstStyle/>
          <a:p>
            <a:pPr algn="ctr">
              <a:buNone/>
            </a:pPr>
            <a:r>
              <a:rPr lang="fr-FR" sz="900" b="0" dirty="0">
                <a:solidFill>
                  <a:srgbClr val="4C5C72"/>
                </a:solidFill>
                <a:latin typeface="Segoe UI"/>
                <a:cs typeface="Segoe UI"/>
              </a:rPr>
              <a:t>React 19</a:t>
            </a:r>
            <a:endParaRPr lang="fr-FR" sz="100"/>
          </a:p>
        </p:txBody>
      </p:sp>
      <p:sp>
        <p:nvSpPr>
          <p:cNvPr id="60" name="forme"/>
          <p:cNvSpPr/>
          <p:nvPr/>
        </p:nvSpPr>
        <p:spPr>
          <a:xfrm>
            <a:off x="3844544" y="5791200"/>
            <a:ext cx="907288" cy="279400"/>
          </a:xfrm>
          <a:prstGeom prst="roundRect">
            <a:avLst>
              <a:gd name="adj" fmla="val 50000"/>
            </a:avLst>
          </a:prstGeom>
          <a:noFill/>
          <a:ln w="9525" cap="flat">
            <a:solidFill>
              <a:srgbClr val="C9D5E6"/>
            </a:solidFill>
            <a:prstDash val="solid"/>
            <a:flat/>
          </a:ln>
          <a:effectLst/>
        </p:spPr>
        <p:txBody>
          <a:bodyPr/>
          <a:lstStyle/>
          <a:p>
            <a:endParaRPr lang="fr-FR"/>
          </a:p>
        </p:txBody>
      </p:sp>
      <p:sp>
        <p:nvSpPr>
          <p:cNvPr id="61" name="forme"/>
          <p:cNvSpPr/>
          <p:nvPr/>
        </p:nvSpPr>
        <p:spPr>
          <a:xfrm>
            <a:off x="3844544" y="5791200"/>
            <a:ext cx="907288" cy="279400"/>
          </a:xfrm>
          <a:prstGeom prst="rect">
            <a:avLst/>
          </a:prstGeom>
          <a:noFill/>
          <a:ln>
            <a:noFill/>
          </a:ln>
          <a:effectLst/>
        </p:spPr>
        <p:txBody>
          <a:bodyPr wrap="square" lIns="0" tIns="0" rIns="0" bIns="0" anchor="ctr">
            <a:noAutofit/>
          </a:bodyPr>
          <a:lstStyle/>
          <a:p>
            <a:pPr algn="ctr">
              <a:buNone/>
            </a:pPr>
            <a:r>
              <a:rPr lang="fr-FR" sz="900" b="0" dirty="0">
                <a:solidFill>
                  <a:srgbClr val="4C5C72"/>
                </a:solidFill>
                <a:latin typeface="Segoe UI"/>
                <a:cs typeface="Segoe UI"/>
              </a:rPr>
              <a:t>Tailwind v4</a:t>
            </a:r>
            <a:endParaRPr lang="fr-FR" sz="100"/>
          </a:p>
        </p:txBody>
      </p:sp>
      <p:sp>
        <p:nvSpPr>
          <p:cNvPr id="62" name="forme"/>
          <p:cNvSpPr/>
          <p:nvPr/>
        </p:nvSpPr>
        <p:spPr>
          <a:xfrm>
            <a:off x="4853432" y="5791200"/>
            <a:ext cx="1291336" cy="279400"/>
          </a:xfrm>
          <a:prstGeom prst="roundRect">
            <a:avLst>
              <a:gd name="adj" fmla="val 50000"/>
            </a:avLst>
          </a:prstGeom>
          <a:noFill/>
          <a:ln w="9525" cap="flat">
            <a:solidFill>
              <a:srgbClr val="C9D5E6"/>
            </a:solidFill>
            <a:prstDash val="solid"/>
            <a:flat/>
          </a:ln>
          <a:effectLst/>
        </p:spPr>
        <p:txBody>
          <a:bodyPr/>
          <a:lstStyle/>
          <a:p>
            <a:endParaRPr lang="fr-FR"/>
          </a:p>
        </p:txBody>
      </p:sp>
      <p:sp>
        <p:nvSpPr>
          <p:cNvPr id="63" name="forme"/>
          <p:cNvSpPr/>
          <p:nvPr/>
        </p:nvSpPr>
        <p:spPr>
          <a:xfrm>
            <a:off x="4853432" y="5791200"/>
            <a:ext cx="1291336" cy="279400"/>
          </a:xfrm>
          <a:prstGeom prst="rect">
            <a:avLst/>
          </a:prstGeom>
          <a:noFill/>
          <a:ln>
            <a:noFill/>
          </a:ln>
          <a:effectLst/>
        </p:spPr>
        <p:txBody>
          <a:bodyPr wrap="square" lIns="0" tIns="0" rIns="0" bIns="0" anchor="ctr">
            <a:noAutofit/>
          </a:bodyPr>
          <a:lstStyle/>
          <a:p>
            <a:pPr algn="ctr">
              <a:buNone/>
            </a:pPr>
            <a:r>
              <a:rPr lang="fr-FR" sz="900" b="0" dirty="0">
                <a:solidFill>
                  <a:srgbClr val="4C5C72"/>
                </a:solidFill>
                <a:latin typeface="Segoe UI"/>
                <a:cs typeface="Segoe UI"/>
              </a:rPr>
              <a:t>TypeScript strict</a:t>
            </a:r>
            <a:endParaRPr lang="fr-FR" sz="100"/>
          </a:p>
        </p:txBody>
      </p:sp>
      <p:sp>
        <p:nvSpPr>
          <p:cNvPr id="64" name="forme"/>
          <p:cNvSpPr/>
          <p:nvPr/>
        </p:nvSpPr>
        <p:spPr>
          <a:xfrm>
            <a:off x="6246368" y="5791200"/>
            <a:ext cx="587248" cy="279400"/>
          </a:xfrm>
          <a:prstGeom prst="roundRect">
            <a:avLst>
              <a:gd name="adj" fmla="val 50000"/>
            </a:avLst>
          </a:prstGeom>
          <a:noFill/>
          <a:ln w="9525" cap="flat">
            <a:solidFill>
              <a:srgbClr val="C9D5E6"/>
            </a:solidFill>
            <a:prstDash val="solid"/>
            <a:flat/>
          </a:ln>
          <a:effectLst/>
        </p:spPr>
        <p:txBody>
          <a:bodyPr/>
          <a:lstStyle/>
          <a:p>
            <a:endParaRPr lang="fr-FR"/>
          </a:p>
        </p:txBody>
      </p:sp>
      <p:sp>
        <p:nvSpPr>
          <p:cNvPr id="65" name="forme"/>
          <p:cNvSpPr/>
          <p:nvPr/>
        </p:nvSpPr>
        <p:spPr>
          <a:xfrm>
            <a:off x="6246368" y="5791200"/>
            <a:ext cx="587248" cy="279400"/>
          </a:xfrm>
          <a:prstGeom prst="rect">
            <a:avLst/>
          </a:prstGeom>
          <a:noFill/>
          <a:ln>
            <a:noFill/>
          </a:ln>
          <a:effectLst/>
        </p:spPr>
        <p:txBody>
          <a:bodyPr wrap="square" lIns="0" tIns="0" rIns="0" bIns="0" anchor="ctr">
            <a:noAutofit/>
          </a:bodyPr>
          <a:lstStyle/>
          <a:p>
            <a:pPr algn="ctr">
              <a:buNone/>
            </a:pPr>
            <a:r>
              <a:rPr lang="fr-FR" sz="900" b="0" dirty="0">
                <a:solidFill>
                  <a:srgbClr val="4C5C72"/>
                </a:solidFill>
                <a:latin typeface="Segoe UI"/>
                <a:cs typeface="Segoe UI"/>
              </a:rPr>
              <a:t>ESLint</a:t>
            </a:r>
            <a:endParaRPr lang="fr-FR" sz="100"/>
          </a:p>
        </p:txBody>
      </p:sp>
      <p:sp>
        <p:nvSpPr>
          <p:cNvPr id="66" name="forme"/>
          <p:cNvSpPr/>
          <p:nvPr/>
        </p:nvSpPr>
        <p:spPr>
          <a:xfrm>
            <a:off x="6935216" y="5791200"/>
            <a:ext cx="395224" cy="279400"/>
          </a:xfrm>
          <a:prstGeom prst="roundRect">
            <a:avLst>
              <a:gd name="adj" fmla="val 50000"/>
            </a:avLst>
          </a:prstGeom>
          <a:noFill/>
          <a:ln w="9525" cap="flat">
            <a:solidFill>
              <a:srgbClr val="C9D5E6"/>
            </a:solidFill>
            <a:prstDash val="solid"/>
            <a:flat/>
          </a:ln>
          <a:effectLst/>
        </p:spPr>
        <p:txBody>
          <a:bodyPr/>
          <a:lstStyle/>
          <a:p>
            <a:endParaRPr lang="fr-FR"/>
          </a:p>
        </p:txBody>
      </p:sp>
      <p:sp>
        <p:nvSpPr>
          <p:cNvPr id="67" name="forme"/>
          <p:cNvSpPr/>
          <p:nvPr/>
        </p:nvSpPr>
        <p:spPr>
          <a:xfrm>
            <a:off x="6935216" y="5791200"/>
            <a:ext cx="395224" cy="279400"/>
          </a:xfrm>
          <a:prstGeom prst="rect">
            <a:avLst/>
          </a:prstGeom>
          <a:noFill/>
          <a:ln>
            <a:noFill/>
          </a:ln>
          <a:effectLst/>
        </p:spPr>
        <p:txBody>
          <a:bodyPr wrap="square" lIns="0" tIns="0" rIns="0" bIns="0" anchor="ctr">
            <a:noAutofit/>
          </a:bodyPr>
          <a:lstStyle/>
          <a:p>
            <a:pPr algn="ctr">
              <a:buNone/>
            </a:pPr>
            <a:r>
              <a:rPr lang="fr-FR" sz="900" b="0" dirty="0">
                <a:solidFill>
                  <a:srgbClr val="4C5C72"/>
                </a:solidFill>
                <a:latin typeface="Segoe UI"/>
                <a:cs typeface="Segoe UI"/>
              </a:rPr>
              <a:t>zod</a:t>
            </a:r>
            <a:endParaRPr lang="fr-FR" sz="100"/>
          </a:p>
        </p:txBody>
      </p:sp>
      <p:sp>
        <p:nvSpPr>
          <p:cNvPr id="68" name="forme"/>
          <p:cNvSpPr/>
          <p:nvPr/>
        </p:nvSpPr>
        <p:spPr>
          <a:xfrm>
            <a:off x="7432040" y="5791200"/>
            <a:ext cx="651256" cy="279400"/>
          </a:xfrm>
          <a:prstGeom prst="roundRect">
            <a:avLst>
              <a:gd name="adj" fmla="val 50000"/>
            </a:avLst>
          </a:prstGeom>
          <a:noFill/>
          <a:ln w="9525" cap="flat">
            <a:solidFill>
              <a:srgbClr val="C9D5E6"/>
            </a:solidFill>
            <a:prstDash val="solid"/>
            <a:flat/>
          </a:ln>
          <a:effectLst/>
        </p:spPr>
        <p:txBody>
          <a:bodyPr/>
          <a:lstStyle/>
          <a:p>
            <a:endParaRPr lang="fr-FR"/>
          </a:p>
        </p:txBody>
      </p:sp>
      <p:sp>
        <p:nvSpPr>
          <p:cNvPr id="69" name="forme"/>
          <p:cNvSpPr/>
          <p:nvPr/>
        </p:nvSpPr>
        <p:spPr>
          <a:xfrm>
            <a:off x="7432040" y="5791200"/>
            <a:ext cx="651256" cy="279400"/>
          </a:xfrm>
          <a:prstGeom prst="rect">
            <a:avLst/>
          </a:prstGeom>
          <a:noFill/>
          <a:ln>
            <a:noFill/>
          </a:ln>
          <a:effectLst/>
        </p:spPr>
        <p:txBody>
          <a:bodyPr wrap="square" lIns="0" tIns="0" rIns="0" bIns="0" anchor="ctr">
            <a:noAutofit/>
          </a:bodyPr>
          <a:lstStyle/>
          <a:p>
            <a:pPr algn="ctr">
              <a:buNone/>
            </a:pPr>
            <a:r>
              <a:rPr lang="fr-FR" sz="900" b="0" dirty="0">
                <a:solidFill>
                  <a:srgbClr val="4C5C72"/>
                </a:solidFill>
                <a:latin typeface="Segoe UI"/>
                <a:cs typeface="Segoe UI"/>
              </a:rPr>
              <a:t>pdf-lib</a:t>
            </a:r>
            <a:endParaRPr lang="fr-FR" sz="100"/>
          </a:p>
        </p:txBody>
      </p:sp>
      <p:sp>
        <p:nvSpPr>
          <p:cNvPr id="70" name="forme"/>
          <p:cNvSpPr/>
          <p:nvPr/>
        </p:nvSpPr>
        <p:spPr>
          <a:xfrm>
            <a:off x="711200" y="6400800"/>
            <a:ext cx="10769600" cy="9525"/>
          </a:xfrm>
          <a:prstGeom prst="rect">
            <a:avLst/>
          </a:prstGeom>
          <a:solidFill>
            <a:srgbClr val="DCE3EE"/>
          </a:solidFill>
          <a:ln>
            <a:noFill/>
          </a:ln>
          <a:effectLst/>
        </p:spPr>
        <p:txBody>
          <a:bodyPr/>
          <a:lstStyle/>
          <a:p>
            <a:endParaRPr lang="fr-FR"/>
          </a:p>
        </p:txBody>
      </p:sp>
      <p:sp>
        <p:nvSpPr>
          <p:cNvPr id="71" name="forme"/>
          <p:cNvSpPr/>
          <p:nvPr/>
        </p:nvSpPr>
        <p:spPr>
          <a:xfrm>
            <a:off x="711200" y="6489700"/>
            <a:ext cx="7112000" cy="152400"/>
          </a:xfrm>
          <a:prstGeom prst="rect">
            <a:avLst/>
          </a:prstGeom>
          <a:noFill/>
          <a:ln>
            <a:noFill/>
          </a:ln>
          <a:effectLst/>
        </p:spPr>
        <p:txBody>
          <a:bodyPr wrap="square" lIns="0" tIns="0" rIns="0" bIns="0" anchor="t">
            <a:noAutofit/>
          </a:bodyPr>
          <a:lstStyle/>
          <a:p>
            <a:pPr>
              <a:buNone/>
            </a:pPr>
            <a:r>
              <a:rPr lang="fr-FR" sz="850" b="1" dirty="0">
                <a:solidFill>
                  <a:srgbClr val="8494AB"/>
                </a:solidFill>
                <a:latin typeface="Segoe UI"/>
                <a:cs typeface="Segoe UI"/>
              </a:rPr>
              <a:t>AGL JuriCompliance</a:t>
            </a:r>
            <a:r>
              <a:rPr lang="fr-FR" sz="850" b="0" dirty="0">
                <a:solidFill>
                  <a:srgbClr val="8494AB"/>
                </a:solidFill>
                <a:latin typeface="Segoe UI"/>
                <a:cs typeface="Segoe UI"/>
              </a:rPr>
              <a:t>  ·  Veille réglementaire assistée par IA  ·  Prototype</a:t>
            </a:r>
            <a:endParaRPr lang="fr-FR" sz="100"/>
          </a:p>
        </p:txBody>
      </p:sp>
      <p:sp>
        <p:nvSpPr>
          <p:cNvPr id="72" name="forme"/>
          <p:cNvSpPr/>
          <p:nvPr/>
        </p:nvSpPr>
        <p:spPr>
          <a:xfrm>
            <a:off x="9448800" y="6489700"/>
            <a:ext cx="2032000" cy="152400"/>
          </a:xfrm>
          <a:prstGeom prst="rect">
            <a:avLst/>
          </a:prstGeom>
          <a:noFill/>
          <a:ln>
            <a:noFill/>
          </a:ln>
          <a:effectLst/>
        </p:spPr>
        <p:txBody>
          <a:bodyPr wrap="square" lIns="0" tIns="0" rIns="0" bIns="0" anchor="t">
            <a:noAutofit/>
          </a:bodyPr>
          <a:lstStyle/>
          <a:p>
            <a:pPr algn="r">
              <a:buNone/>
            </a:pPr>
            <a:r>
              <a:rPr lang="fr-FR" sz="850" b="1" dirty="0">
                <a:solidFill>
                  <a:srgbClr val="1C3359"/>
                </a:solidFill>
                <a:latin typeface="Segoe UI"/>
                <a:cs typeface="Segoe UI"/>
              </a:rPr>
              <a:t>3 / 6</a:t>
            </a:r>
            <a:endParaRPr lang="fr-FR" sz="100"/>
          </a:p>
        </p:txBody>
      </p:sp>
    </p:spTree>
  </p:cSld>
  <p:clrMapOvr>
    <a:masterClrMapping/>
  </p:clrMapOvr>
  <mc:AlternateContent>
    <mc:Choice Requires="p14">
      <p:transition spd="slow" p14:dur="900">
        <p:push dir="l"/>
      </p:transition>
    </mc:Choice>
    <mc:Fallback>
      <p:transition spd="slow">
        <p:push dir="l"/>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xmlns:p159="http://schemas.microsoft.com/office/powerpoint/2015/09/main">
  <p:cSld>
    <p:bg>
      <p:bgPr>
        <a:solidFill>
          <a:srgbClr val="FFFFFF"/>
        </a:solidFill>
        <a:effectLst/>
      </p:bgPr>
    </p:bg>
    <p:spTree>
      <p:nvGrpSpPr>
        <p:cNvPr id="1" name=""/>
        <p:cNvGrpSpPr/>
        <p:nvPr/>
      </p:nvGrpSpPr>
      <p:grpSpPr>
        <a:xfrm>
          <a:off x="0" y="0"/>
          <a:ext cx="0" cy="0"/>
          <a:chOff x="0" y="0"/>
          <a:chExt cx="0" cy="0"/>
        </a:xfrm>
      </p:grpSpPr>
      <p:sp>
        <p:nvSpPr>
          <p:cNvPr id="2" name="forme"/>
          <p:cNvSpPr/>
          <p:nvPr/>
        </p:nvSpPr>
        <p:spPr>
          <a:xfrm>
            <a:off x="0" y="0"/>
            <a:ext cx="12192000" cy="1168400"/>
          </a:xfrm>
          <a:prstGeom prst="rect">
            <a:avLst/>
          </a:prstGeom>
          <a:solidFill>
            <a:srgbClr val="1C3359"/>
          </a:solidFill>
          <a:ln>
            <a:noFill/>
          </a:ln>
          <a:effectLst/>
        </p:spPr>
        <p:txBody>
          <a:bodyPr/>
          <a:lstStyle/>
          <a:p>
            <a:endParaRPr lang="fr-FR"/>
          </a:p>
        </p:txBody>
      </p:sp>
      <p:sp>
        <p:nvSpPr>
          <p:cNvPr id="3" name="forme"/>
          <p:cNvSpPr/>
          <p:nvPr/>
        </p:nvSpPr>
        <p:spPr>
          <a:xfrm>
            <a:off x="0" y="1168400"/>
            <a:ext cx="12192000" cy="38100"/>
          </a:xfrm>
          <a:prstGeom prst="rect">
            <a:avLst/>
          </a:prstGeom>
          <a:solidFill>
            <a:srgbClr val="B6AD6E"/>
          </a:solidFill>
          <a:ln>
            <a:noFill/>
          </a:ln>
          <a:effectLst/>
        </p:spPr>
        <p:txBody>
          <a:bodyPr/>
          <a:lstStyle/>
          <a:p>
            <a:endParaRPr lang="fr-FR"/>
          </a:p>
        </p:txBody>
      </p:sp>
      <p:sp>
        <p:nvSpPr>
          <p:cNvPr id="4" name="forme"/>
          <p:cNvSpPr/>
          <p:nvPr/>
        </p:nvSpPr>
        <p:spPr>
          <a:xfrm>
            <a:off x="330200" y="342900"/>
            <a:ext cx="482600" cy="482600"/>
          </a:xfrm>
          <a:prstGeom prst="ellipse">
            <a:avLst/>
          </a:prstGeom>
          <a:noFill/>
          <a:ln w="15875" cap="flat">
            <a:solidFill>
              <a:srgbClr val="B6AD6E"/>
            </a:solidFill>
            <a:prstDash val="solid"/>
            <a:flat/>
          </a:ln>
          <a:effectLst/>
        </p:spPr>
        <p:txBody>
          <a:bodyPr/>
          <a:lstStyle/>
          <a:p>
            <a:endParaRPr lang="fr-FR"/>
          </a:p>
        </p:txBody>
      </p:sp>
      <p:sp>
        <p:nvSpPr>
          <p:cNvPr id="5" name="forme"/>
          <p:cNvSpPr/>
          <p:nvPr/>
        </p:nvSpPr>
        <p:spPr>
          <a:xfrm>
            <a:off x="330200" y="342900"/>
            <a:ext cx="482600" cy="482600"/>
          </a:xfrm>
          <a:prstGeom prst="rect">
            <a:avLst/>
          </a:prstGeom>
          <a:noFill/>
          <a:ln>
            <a:noFill/>
          </a:ln>
          <a:effectLst/>
        </p:spPr>
        <p:txBody>
          <a:bodyPr wrap="square" lIns="0" tIns="0" rIns="0" bIns="0" anchor="ctr">
            <a:noAutofit/>
          </a:bodyPr>
          <a:lstStyle/>
          <a:p>
            <a:pPr algn="ctr">
              <a:buNone/>
            </a:pPr>
            <a:r>
              <a:rPr lang="fr-FR" sz="1500" b="1" dirty="0">
                <a:solidFill>
                  <a:srgbClr val="B6AD6E"/>
                </a:solidFill>
                <a:latin typeface="Segoe UI"/>
                <a:cs typeface="Segoe UI"/>
              </a:rPr>
              <a:t>03</a:t>
            </a:r>
            <a:endParaRPr lang="fr-FR" sz="100"/>
          </a:p>
        </p:txBody>
      </p:sp>
      <p:sp>
        <p:nvSpPr>
          <p:cNvPr id="6" name="forme"/>
          <p:cNvSpPr/>
          <p:nvPr/>
        </p:nvSpPr>
        <p:spPr>
          <a:xfrm>
            <a:off x="1066800" y="228600"/>
            <a:ext cx="8128000" cy="177800"/>
          </a:xfrm>
          <a:prstGeom prst="rect">
            <a:avLst/>
          </a:prstGeom>
          <a:noFill/>
          <a:ln>
            <a:noFill/>
          </a:ln>
          <a:effectLst/>
        </p:spPr>
        <p:txBody>
          <a:bodyPr wrap="square" lIns="0" tIns="0" rIns="0" bIns="0" anchor="t">
            <a:noAutofit/>
          </a:bodyPr>
          <a:lstStyle/>
          <a:p>
            <a:pPr>
              <a:buNone/>
            </a:pPr>
            <a:r>
              <a:rPr lang="fr-FR" sz="900" b="1" cap="all" spc="140" dirty="0">
                <a:solidFill>
                  <a:srgbClr val="B6AD6E"/>
                </a:solidFill>
                <a:latin typeface="Segoe UI"/>
                <a:cs typeface="Segoe UI"/>
              </a:rPr>
              <a:t>Fonctionnement</a:t>
            </a:r>
            <a:endParaRPr lang="fr-FR" sz="100"/>
          </a:p>
        </p:txBody>
      </p:sp>
      <p:sp>
        <p:nvSpPr>
          <p:cNvPr id="7" name="forme"/>
          <p:cNvSpPr/>
          <p:nvPr/>
        </p:nvSpPr>
        <p:spPr>
          <a:xfrm>
            <a:off x="1066800" y="457200"/>
            <a:ext cx="8890000" cy="508000"/>
          </a:xfrm>
          <a:prstGeom prst="rect">
            <a:avLst/>
          </a:prstGeom>
          <a:noFill/>
          <a:ln>
            <a:noFill/>
          </a:ln>
          <a:effectLst/>
        </p:spPr>
        <p:txBody>
          <a:bodyPr wrap="square" lIns="0" tIns="0" rIns="0" bIns="0" anchor="t">
            <a:noAutofit/>
          </a:bodyPr>
          <a:lstStyle/>
          <a:p>
            <a:pPr>
              <a:buNone/>
            </a:pPr>
            <a:r>
              <a:rPr lang="fr-FR" sz="2400" b="1" dirty="0">
                <a:solidFill>
                  <a:srgbClr val="FFFFFF"/>
                </a:solidFill>
                <a:latin typeface="Segoe UI"/>
                <a:cs typeface="Segoe UI"/>
              </a:rPr>
              <a:t>La centrale pilote, chaque direction décide</a:t>
            </a:r>
            <a:endParaRPr lang="fr-FR" sz="100"/>
          </a:p>
        </p:txBody>
      </p:sp>
      <p:pic>
        <p:nvPicPr>
          <p:cNvPr id="8" name="image"/>
          <p:cNvPicPr>
            <a:picLocks noChangeAspect="1"/>
          </p:cNvPicPr>
          <p:nvPr/>
        </p:nvPicPr>
        <p:blipFill>
          <a:blip r:embed="rId2"/>
          <a:stretch>
            <a:fillRect/>
          </a:stretch>
        </p:blipFill>
        <p:spPr>
          <a:xfrm>
            <a:off x="10629900" y="381000"/>
            <a:ext cx="850900" cy="406400"/>
          </a:xfrm>
          <a:prstGeom prst="rect">
            <a:avLst/>
          </a:prstGeom>
        </p:spPr>
      </p:pic>
      <p:sp>
        <p:nvSpPr>
          <p:cNvPr id="9" name="forme"/>
          <p:cNvSpPr/>
          <p:nvPr/>
        </p:nvSpPr>
        <p:spPr>
          <a:xfrm>
            <a:off x="711200" y="1778000"/>
            <a:ext cx="2501900" cy="2540000"/>
          </a:xfrm>
          <a:prstGeom prst="roundRect">
            <a:avLst>
              <a:gd name="adj" fmla="val 12183"/>
            </a:avLst>
          </a:prstGeom>
          <a:solidFill>
            <a:srgbClr val="FFFFFF"/>
          </a:solidFill>
          <a:ln w="9525" cap="flat">
            <a:solidFill>
              <a:srgbClr val="DCE3EE"/>
            </a:solidFill>
            <a:prstDash val="solid"/>
            <a:flat/>
          </a:ln>
          <a:effectLst>
            <a:outerShdw blurRad="127000" dist="31750" dir="5400000" rotWithShape="0">
              <a:srgbClr val="0B1A30">
                <a:alpha val="8000"/>
              </a:srgbClr>
            </a:outerShdw>
          </a:effectLst>
        </p:spPr>
        <p:txBody>
          <a:bodyPr/>
          <a:lstStyle/>
          <a:p>
            <a:endParaRPr lang="fr-FR"/>
          </a:p>
        </p:txBody>
      </p:sp>
      <p:sp>
        <p:nvSpPr>
          <p:cNvPr id="10" name="forme"/>
          <p:cNvSpPr/>
          <p:nvPr/>
        </p:nvSpPr>
        <p:spPr>
          <a:xfrm>
            <a:off x="965200" y="2032000"/>
            <a:ext cx="508000" cy="508000"/>
          </a:xfrm>
          <a:prstGeom prst="roundRect">
            <a:avLst>
              <a:gd name="adj" fmla="val 50000"/>
            </a:avLst>
          </a:prstGeom>
          <a:solidFill>
            <a:srgbClr val="1C3359"/>
          </a:solidFill>
          <a:ln>
            <a:noFill/>
          </a:ln>
          <a:effectLst/>
        </p:spPr>
        <p:txBody>
          <a:bodyPr/>
          <a:lstStyle/>
          <a:p>
            <a:endParaRPr lang="fr-FR"/>
          </a:p>
        </p:txBody>
      </p:sp>
      <p:sp>
        <p:nvSpPr>
          <p:cNvPr id="11" name="forme"/>
          <p:cNvSpPr/>
          <p:nvPr/>
        </p:nvSpPr>
        <p:spPr>
          <a:xfrm>
            <a:off x="1092403" y="2175053"/>
            <a:ext cx="147930" cy="195478"/>
          </a:xfrm>
          <a:prstGeom prst="roundRect">
            <a:avLst>
              <a:gd name="adj" fmla="val 50000"/>
            </a:avLst>
          </a:prstGeom>
          <a:solidFill>
            <a:srgbClr val="1C3359"/>
          </a:solidFill>
          <a:ln>
            <a:noFill/>
          </a:ln>
          <a:effectLst/>
        </p:spPr>
        <p:txBody>
          <a:bodyPr/>
          <a:lstStyle/>
          <a:p>
            <a:endParaRPr lang="fr-FR"/>
          </a:p>
        </p:txBody>
      </p:sp>
      <p:sp>
        <p:nvSpPr>
          <p:cNvPr id="12" name="forme"/>
          <p:cNvSpPr/>
          <p:nvPr/>
        </p:nvSpPr>
        <p:spPr>
          <a:xfrm>
            <a:off x="1139952" y="2201469"/>
            <a:ext cx="206045" cy="200762"/>
          </a:xfrm>
          <a:prstGeom prst="roundRect">
            <a:avLst>
              <a:gd name="adj" fmla="val 50000"/>
            </a:avLst>
          </a:prstGeom>
          <a:solidFill>
            <a:srgbClr val="FFFFFF"/>
          </a:solidFill>
          <a:ln>
            <a:noFill/>
          </a:ln>
          <a:effectLst/>
        </p:spPr>
        <p:txBody>
          <a:bodyPr/>
          <a:lstStyle/>
          <a:p>
            <a:endParaRPr lang="fr-FR"/>
          </a:p>
        </p:txBody>
      </p:sp>
      <p:sp>
        <p:nvSpPr>
          <p:cNvPr id="13" name="forme"/>
          <p:cNvSpPr/>
          <p:nvPr/>
        </p:nvSpPr>
        <p:spPr>
          <a:xfrm>
            <a:off x="1171651" y="2249018"/>
            <a:ext cx="142646" cy="18491"/>
          </a:xfrm>
          <a:prstGeom prst="rect">
            <a:avLst/>
          </a:prstGeom>
          <a:solidFill>
            <a:srgbClr val="1C3359"/>
          </a:solidFill>
          <a:ln>
            <a:noFill/>
          </a:ln>
          <a:effectLst/>
        </p:spPr>
        <p:txBody>
          <a:bodyPr/>
          <a:lstStyle/>
          <a:p>
            <a:endParaRPr lang="fr-FR"/>
          </a:p>
        </p:txBody>
      </p:sp>
      <p:sp>
        <p:nvSpPr>
          <p:cNvPr id="14" name="forme"/>
          <p:cNvSpPr/>
          <p:nvPr/>
        </p:nvSpPr>
        <p:spPr>
          <a:xfrm>
            <a:off x="1171651" y="2291283"/>
            <a:ext cx="142646" cy="18491"/>
          </a:xfrm>
          <a:prstGeom prst="rect">
            <a:avLst/>
          </a:prstGeom>
          <a:solidFill>
            <a:srgbClr val="1C3359"/>
          </a:solidFill>
          <a:ln>
            <a:noFill/>
          </a:ln>
          <a:effectLst/>
        </p:spPr>
        <p:txBody>
          <a:bodyPr/>
          <a:lstStyle/>
          <a:p>
            <a:endParaRPr lang="fr-FR"/>
          </a:p>
        </p:txBody>
      </p:sp>
      <p:sp>
        <p:nvSpPr>
          <p:cNvPr id="15" name="forme"/>
          <p:cNvSpPr/>
          <p:nvPr/>
        </p:nvSpPr>
        <p:spPr>
          <a:xfrm>
            <a:off x="1171651" y="2333549"/>
            <a:ext cx="84531" cy="18491"/>
          </a:xfrm>
          <a:prstGeom prst="rect">
            <a:avLst/>
          </a:prstGeom>
          <a:solidFill>
            <a:srgbClr val="1C3359"/>
          </a:solidFill>
          <a:ln>
            <a:noFill/>
          </a:ln>
          <a:effectLst/>
        </p:spPr>
        <p:txBody>
          <a:bodyPr/>
          <a:lstStyle/>
          <a:p>
            <a:endParaRPr lang="fr-FR"/>
          </a:p>
        </p:txBody>
      </p:sp>
      <p:sp>
        <p:nvSpPr>
          <p:cNvPr id="16" name="forme"/>
          <p:cNvSpPr/>
          <p:nvPr/>
        </p:nvSpPr>
        <p:spPr>
          <a:xfrm>
            <a:off x="965200" y="2717800"/>
            <a:ext cx="1993900" cy="431800"/>
          </a:xfrm>
          <a:prstGeom prst="rect">
            <a:avLst/>
          </a:prstGeom>
          <a:noFill/>
          <a:ln>
            <a:noFill/>
          </a:ln>
          <a:effectLst/>
        </p:spPr>
        <p:txBody>
          <a:bodyPr wrap="square" lIns="0" tIns="0" rIns="0" bIns="0" anchor="t">
            <a:noAutofit/>
          </a:bodyPr>
          <a:lstStyle/>
          <a:p>
            <a:pPr>
              <a:lnSpc>
                <a:spcPct val="106000"/>
              </a:lnSpc>
              <a:buNone/>
            </a:pPr>
            <a:r>
              <a:rPr lang="fr-FR" sz="1250" b="1" dirty="0">
                <a:solidFill>
                  <a:srgbClr val="1C3359"/>
                </a:solidFill>
                <a:latin typeface="Segoe UI"/>
                <a:cs typeface="Segoe UI"/>
              </a:rPr>
              <a:t>1 · Analyse &amp; extraction</a:t>
            </a:r>
            <a:endParaRPr lang="fr-FR" sz="100"/>
          </a:p>
        </p:txBody>
      </p:sp>
      <p:sp>
        <p:nvSpPr>
          <p:cNvPr id="17" name="forme"/>
          <p:cNvSpPr/>
          <p:nvPr/>
        </p:nvSpPr>
        <p:spPr>
          <a:xfrm>
            <a:off x="965200" y="3175000"/>
            <a:ext cx="1993900" cy="1016000"/>
          </a:xfrm>
          <a:prstGeom prst="rect">
            <a:avLst/>
          </a:prstGeom>
          <a:noFill/>
          <a:ln>
            <a:noFill/>
          </a:ln>
          <a:effectLst/>
        </p:spPr>
        <p:txBody>
          <a:bodyPr wrap="square" lIns="0" tIns="0" rIns="0" bIns="0" anchor="t">
            <a:noAutofit/>
          </a:bodyPr>
          <a:lstStyle/>
          <a:p>
            <a:pPr>
              <a:lnSpc>
                <a:spcPct val="125000"/>
              </a:lnSpc>
              <a:buNone/>
            </a:pPr>
            <a:r>
              <a:rPr lang="fr-FR" sz="950" b="0" dirty="0">
                <a:solidFill>
                  <a:srgbClr val="4C5C72"/>
                </a:solidFill>
                <a:latin typeface="Segoe UI"/>
                <a:cs typeface="Segoe UI"/>
              </a:rPr>
              <a:t>L'IA découpe le document en actes, propose les directions concernées et évalue la pertinence pour l'activité AGL CI.</a:t>
            </a:r>
            <a:endParaRPr lang="fr-FR" sz="100"/>
          </a:p>
        </p:txBody>
      </p:sp>
      <p:sp>
        <p:nvSpPr>
          <p:cNvPr id="18" name="forme"/>
          <p:cNvSpPr/>
          <p:nvPr/>
        </p:nvSpPr>
        <p:spPr>
          <a:xfrm>
            <a:off x="3263900" y="2870200"/>
            <a:ext cx="152400" cy="279400"/>
          </a:xfrm>
          <a:prstGeom prst="chevron">
            <a:avLst/>
          </a:prstGeom>
          <a:solidFill>
            <a:srgbClr val="B6AD6E"/>
          </a:solidFill>
          <a:ln>
            <a:noFill/>
          </a:ln>
          <a:effectLst/>
        </p:spPr>
        <p:txBody>
          <a:bodyPr/>
          <a:lstStyle/>
          <a:p>
            <a:endParaRPr lang="fr-FR"/>
          </a:p>
        </p:txBody>
      </p:sp>
      <p:sp>
        <p:nvSpPr>
          <p:cNvPr id="19" name="forme"/>
          <p:cNvSpPr/>
          <p:nvPr/>
        </p:nvSpPr>
        <p:spPr>
          <a:xfrm>
            <a:off x="3467100" y="1778000"/>
            <a:ext cx="2501900" cy="2540000"/>
          </a:xfrm>
          <a:prstGeom prst="roundRect">
            <a:avLst>
              <a:gd name="adj" fmla="val 12183"/>
            </a:avLst>
          </a:prstGeom>
          <a:solidFill>
            <a:srgbClr val="FFFFFF"/>
          </a:solidFill>
          <a:ln w="9525" cap="flat">
            <a:solidFill>
              <a:srgbClr val="DCE3EE"/>
            </a:solidFill>
            <a:prstDash val="solid"/>
            <a:flat/>
          </a:ln>
          <a:effectLst>
            <a:outerShdw blurRad="127000" dist="31750" dir="5400000" rotWithShape="0">
              <a:srgbClr val="0B1A30">
                <a:alpha val="8000"/>
              </a:srgbClr>
            </a:outerShdw>
          </a:effectLst>
        </p:spPr>
        <p:txBody>
          <a:bodyPr/>
          <a:lstStyle/>
          <a:p>
            <a:endParaRPr lang="fr-FR"/>
          </a:p>
        </p:txBody>
      </p:sp>
      <p:sp>
        <p:nvSpPr>
          <p:cNvPr id="20" name="forme"/>
          <p:cNvSpPr/>
          <p:nvPr/>
        </p:nvSpPr>
        <p:spPr>
          <a:xfrm>
            <a:off x="3721100" y="2032000"/>
            <a:ext cx="508000" cy="508000"/>
          </a:xfrm>
          <a:prstGeom prst="roundRect">
            <a:avLst>
              <a:gd name="adj" fmla="val 50000"/>
            </a:avLst>
          </a:prstGeom>
          <a:solidFill>
            <a:srgbClr val="2C4A78"/>
          </a:solidFill>
          <a:ln>
            <a:noFill/>
          </a:ln>
          <a:effectLst/>
        </p:spPr>
        <p:txBody>
          <a:bodyPr/>
          <a:lstStyle/>
          <a:p>
            <a:endParaRPr lang="fr-FR"/>
          </a:p>
        </p:txBody>
      </p:sp>
      <p:sp>
        <p:nvSpPr>
          <p:cNvPr id="21" name="forme"/>
          <p:cNvSpPr/>
          <p:nvPr/>
        </p:nvSpPr>
        <p:spPr>
          <a:xfrm rot="2700000">
            <a:off x="3872078" y="2320341"/>
            <a:ext cx="81890" cy="31699"/>
          </a:xfrm>
          <a:prstGeom prst="roundRect">
            <a:avLst>
              <a:gd name="adj" fmla="val 50000"/>
            </a:avLst>
          </a:prstGeom>
          <a:solidFill>
            <a:srgbClr val="FFFFFF"/>
          </a:solidFill>
          <a:ln>
            <a:noFill/>
          </a:ln>
          <a:effectLst/>
        </p:spPr>
        <p:txBody>
          <a:bodyPr/>
          <a:lstStyle/>
          <a:p>
            <a:endParaRPr lang="fr-FR"/>
          </a:p>
        </p:txBody>
      </p:sp>
      <p:sp>
        <p:nvSpPr>
          <p:cNvPr id="22" name="forme"/>
          <p:cNvSpPr/>
          <p:nvPr/>
        </p:nvSpPr>
        <p:spPr>
          <a:xfrm rot="-2700000">
            <a:off x="3916985" y="2288642"/>
            <a:ext cx="171704" cy="31699"/>
          </a:xfrm>
          <a:prstGeom prst="roundRect">
            <a:avLst>
              <a:gd name="adj" fmla="val 50000"/>
            </a:avLst>
          </a:prstGeom>
          <a:solidFill>
            <a:srgbClr val="FFFFFF"/>
          </a:solidFill>
          <a:ln>
            <a:noFill/>
          </a:ln>
          <a:effectLst/>
        </p:spPr>
        <p:txBody>
          <a:bodyPr/>
          <a:lstStyle/>
          <a:p>
            <a:endParaRPr lang="fr-FR"/>
          </a:p>
        </p:txBody>
      </p:sp>
      <p:sp>
        <p:nvSpPr>
          <p:cNvPr id="23" name="forme"/>
          <p:cNvSpPr/>
          <p:nvPr/>
        </p:nvSpPr>
        <p:spPr>
          <a:xfrm>
            <a:off x="3721100" y="2717800"/>
            <a:ext cx="1993900" cy="431800"/>
          </a:xfrm>
          <a:prstGeom prst="rect">
            <a:avLst/>
          </a:prstGeom>
          <a:noFill/>
          <a:ln>
            <a:noFill/>
          </a:ln>
          <a:effectLst/>
        </p:spPr>
        <p:txBody>
          <a:bodyPr wrap="square" lIns="0" tIns="0" rIns="0" bIns="0" anchor="t">
            <a:noAutofit/>
          </a:bodyPr>
          <a:lstStyle/>
          <a:p>
            <a:pPr>
              <a:lnSpc>
                <a:spcPct val="106000"/>
              </a:lnSpc>
              <a:buNone/>
            </a:pPr>
            <a:r>
              <a:rPr lang="fr-FR" sz="1250" b="1" dirty="0">
                <a:solidFill>
                  <a:srgbClr val="1C3359"/>
                </a:solidFill>
                <a:latin typeface="Segoe UI"/>
                <a:cs typeface="Segoe UI"/>
              </a:rPr>
              <a:t>2 · Validation juridique</a:t>
            </a:r>
            <a:endParaRPr lang="fr-FR" sz="100"/>
          </a:p>
        </p:txBody>
      </p:sp>
      <p:sp>
        <p:nvSpPr>
          <p:cNvPr id="24" name="forme"/>
          <p:cNvSpPr/>
          <p:nvPr/>
        </p:nvSpPr>
        <p:spPr>
          <a:xfrm>
            <a:off x="3721100" y="3175000"/>
            <a:ext cx="1993900" cy="1016000"/>
          </a:xfrm>
          <a:prstGeom prst="rect">
            <a:avLst/>
          </a:prstGeom>
          <a:noFill/>
          <a:ln>
            <a:noFill/>
          </a:ln>
          <a:effectLst/>
        </p:spPr>
        <p:txBody>
          <a:bodyPr wrap="square" lIns="0" tIns="0" rIns="0" bIns="0" anchor="t">
            <a:noAutofit/>
          </a:bodyPr>
          <a:lstStyle/>
          <a:p>
            <a:pPr>
              <a:lnSpc>
                <a:spcPct val="125000"/>
              </a:lnSpc>
              <a:buNone/>
            </a:pPr>
            <a:r>
              <a:rPr lang="fr-FR" sz="950" b="0" dirty="0">
                <a:solidFill>
                  <a:srgbClr val="4C5C72"/>
                </a:solidFill>
                <a:latin typeface="Segoe UI"/>
                <a:cs typeface="Segoe UI"/>
              </a:rPr>
              <a:t>La centrale relit le texte, corrige les champs de l'alerte et valide l'envoi au métier.</a:t>
            </a:r>
            <a:endParaRPr lang="fr-FR" sz="100"/>
          </a:p>
        </p:txBody>
      </p:sp>
      <p:sp>
        <p:nvSpPr>
          <p:cNvPr id="25" name="forme"/>
          <p:cNvSpPr/>
          <p:nvPr/>
        </p:nvSpPr>
        <p:spPr>
          <a:xfrm>
            <a:off x="6019800" y="2870200"/>
            <a:ext cx="152400" cy="279400"/>
          </a:xfrm>
          <a:prstGeom prst="chevron">
            <a:avLst/>
          </a:prstGeom>
          <a:solidFill>
            <a:srgbClr val="B6AD6E"/>
          </a:solidFill>
          <a:ln>
            <a:noFill/>
          </a:ln>
          <a:effectLst/>
        </p:spPr>
        <p:txBody>
          <a:bodyPr/>
          <a:lstStyle/>
          <a:p>
            <a:endParaRPr lang="fr-FR"/>
          </a:p>
        </p:txBody>
      </p:sp>
      <p:sp>
        <p:nvSpPr>
          <p:cNvPr id="26" name="forme"/>
          <p:cNvSpPr/>
          <p:nvPr/>
        </p:nvSpPr>
        <p:spPr>
          <a:xfrm>
            <a:off x="6223000" y="1778000"/>
            <a:ext cx="2501900" cy="2540000"/>
          </a:xfrm>
          <a:prstGeom prst="roundRect">
            <a:avLst>
              <a:gd name="adj" fmla="val 12183"/>
            </a:avLst>
          </a:prstGeom>
          <a:solidFill>
            <a:srgbClr val="FFFFFF"/>
          </a:solidFill>
          <a:ln w="9525" cap="flat">
            <a:solidFill>
              <a:srgbClr val="DCE3EE"/>
            </a:solidFill>
            <a:prstDash val="solid"/>
            <a:flat/>
          </a:ln>
          <a:effectLst>
            <a:outerShdw blurRad="127000" dist="31750" dir="5400000" rotWithShape="0">
              <a:srgbClr val="0B1A30">
                <a:alpha val="8000"/>
              </a:srgbClr>
            </a:outerShdw>
          </a:effectLst>
        </p:spPr>
        <p:txBody>
          <a:bodyPr/>
          <a:lstStyle/>
          <a:p>
            <a:endParaRPr lang="fr-FR"/>
          </a:p>
        </p:txBody>
      </p:sp>
      <p:sp>
        <p:nvSpPr>
          <p:cNvPr id="27" name="forme"/>
          <p:cNvSpPr/>
          <p:nvPr/>
        </p:nvSpPr>
        <p:spPr>
          <a:xfrm>
            <a:off x="6477000" y="2032000"/>
            <a:ext cx="508000" cy="508000"/>
          </a:xfrm>
          <a:prstGeom prst="roundRect">
            <a:avLst>
              <a:gd name="adj" fmla="val 50000"/>
            </a:avLst>
          </a:prstGeom>
          <a:solidFill>
            <a:srgbClr val="2C4A78"/>
          </a:solidFill>
          <a:ln>
            <a:noFill/>
          </a:ln>
          <a:effectLst/>
        </p:spPr>
        <p:txBody>
          <a:bodyPr/>
          <a:lstStyle/>
          <a:p>
            <a:endParaRPr lang="fr-FR"/>
          </a:p>
        </p:txBody>
      </p:sp>
      <p:sp>
        <p:nvSpPr>
          <p:cNvPr id="28" name="forme"/>
          <p:cNvSpPr/>
          <p:nvPr/>
        </p:nvSpPr>
        <p:spPr>
          <a:xfrm>
            <a:off x="6686093" y="2175053"/>
            <a:ext cx="89814" cy="89814"/>
          </a:xfrm>
          <a:prstGeom prst="ellipse">
            <a:avLst/>
          </a:prstGeom>
          <a:solidFill>
            <a:srgbClr val="FFFFFF"/>
          </a:solidFill>
          <a:ln>
            <a:noFill/>
          </a:ln>
          <a:effectLst/>
        </p:spPr>
        <p:txBody>
          <a:bodyPr/>
          <a:lstStyle/>
          <a:p>
            <a:endParaRPr lang="fr-FR"/>
          </a:p>
        </p:txBody>
      </p:sp>
      <p:sp>
        <p:nvSpPr>
          <p:cNvPr id="29" name="forme"/>
          <p:cNvSpPr/>
          <p:nvPr/>
        </p:nvSpPr>
        <p:spPr>
          <a:xfrm>
            <a:off x="6620053" y="2280717"/>
            <a:ext cx="221894" cy="142646"/>
          </a:xfrm>
          <a:prstGeom prst="chord">
            <a:avLst>
              <a:gd name="adj1" fmla="val 10800000"/>
              <a:gd name="adj2" fmla="val 0"/>
            </a:avLst>
          </a:prstGeom>
          <a:solidFill>
            <a:srgbClr val="FFFFFF"/>
          </a:solidFill>
          <a:ln>
            <a:noFill/>
          </a:ln>
          <a:effectLst/>
        </p:spPr>
        <p:txBody>
          <a:bodyPr/>
          <a:lstStyle/>
          <a:p>
            <a:endParaRPr lang="fr-FR"/>
          </a:p>
        </p:txBody>
      </p:sp>
      <p:sp>
        <p:nvSpPr>
          <p:cNvPr id="30" name="forme"/>
          <p:cNvSpPr/>
          <p:nvPr/>
        </p:nvSpPr>
        <p:spPr>
          <a:xfrm>
            <a:off x="6477000" y="2717800"/>
            <a:ext cx="1993900" cy="431800"/>
          </a:xfrm>
          <a:prstGeom prst="rect">
            <a:avLst/>
          </a:prstGeom>
          <a:noFill/>
          <a:ln>
            <a:noFill/>
          </a:ln>
          <a:effectLst/>
        </p:spPr>
        <p:txBody>
          <a:bodyPr wrap="square" lIns="0" tIns="0" rIns="0" bIns="0" anchor="t">
            <a:noAutofit/>
          </a:bodyPr>
          <a:lstStyle/>
          <a:p>
            <a:pPr>
              <a:lnSpc>
                <a:spcPct val="106000"/>
              </a:lnSpc>
              <a:buNone/>
            </a:pPr>
            <a:r>
              <a:rPr lang="fr-FR" sz="1250" b="1" dirty="0">
                <a:solidFill>
                  <a:srgbClr val="1C3359"/>
                </a:solidFill>
                <a:latin typeface="Segoe UI"/>
                <a:cs typeface="Segoe UI"/>
              </a:rPr>
              <a:t>3 · Approbation métier</a:t>
            </a:r>
            <a:endParaRPr lang="fr-FR" sz="100"/>
          </a:p>
        </p:txBody>
      </p:sp>
      <p:sp>
        <p:nvSpPr>
          <p:cNvPr id="31" name="forme"/>
          <p:cNvSpPr/>
          <p:nvPr/>
        </p:nvSpPr>
        <p:spPr>
          <a:xfrm>
            <a:off x="6477000" y="3175000"/>
            <a:ext cx="1993900" cy="1016000"/>
          </a:xfrm>
          <a:prstGeom prst="rect">
            <a:avLst/>
          </a:prstGeom>
          <a:noFill/>
          <a:ln>
            <a:noFill/>
          </a:ln>
          <a:effectLst/>
        </p:spPr>
        <p:txBody>
          <a:bodyPr wrap="square" lIns="0" tIns="0" rIns="0" bIns="0" anchor="t">
            <a:noAutofit/>
          </a:bodyPr>
          <a:lstStyle/>
          <a:p>
            <a:pPr>
              <a:lnSpc>
                <a:spcPct val="125000"/>
              </a:lnSpc>
              <a:buNone/>
            </a:pPr>
            <a:r>
              <a:rPr lang="fr-FR" sz="950" b="0" dirty="0">
                <a:solidFill>
                  <a:srgbClr val="4C5C72"/>
                </a:solidFill>
                <a:latin typeface="Segoe UI"/>
                <a:cs typeface="Segoe UI"/>
              </a:rPr>
              <a:t>Chaque direction approuve ou rejette son assignation. Un refus motivé revient automatiquement à la centrale.</a:t>
            </a:r>
            <a:endParaRPr lang="fr-FR" sz="100"/>
          </a:p>
        </p:txBody>
      </p:sp>
      <p:sp>
        <p:nvSpPr>
          <p:cNvPr id="32" name="forme"/>
          <p:cNvSpPr/>
          <p:nvPr/>
        </p:nvSpPr>
        <p:spPr>
          <a:xfrm>
            <a:off x="8775700" y="2870200"/>
            <a:ext cx="152400" cy="279400"/>
          </a:xfrm>
          <a:prstGeom prst="chevron">
            <a:avLst/>
          </a:prstGeom>
          <a:solidFill>
            <a:srgbClr val="B6AD6E"/>
          </a:solidFill>
          <a:ln>
            <a:noFill/>
          </a:ln>
          <a:effectLst/>
        </p:spPr>
        <p:txBody>
          <a:bodyPr/>
          <a:lstStyle/>
          <a:p>
            <a:endParaRPr lang="fr-FR"/>
          </a:p>
        </p:txBody>
      </p:sp>
      <p:sp>
        <p:nvSpPr>
          <p:cNvPr id="33" name="forme"/>
          <p:cNvSpPr/>
          <p:nvPr/>
        </p:nvSpPr>
        <p:spPr>
          <a:xfrm>
            <a:off x="8978900" y="1778000"/>
            <a:ext cx="2501900" cy="2540000"/>
          </a:xfrm>
          <a:prstGeom prst="roundRect">
            <a:avLst>
              <a:gd name="adj" fmla="val 12183"/>
            </a:avLst>
          </a:prstGeom>
          <a:solidFill>
            <a:srgbClr val="FFFFFF"/>
          </a:solidFill>
          <a:ln w="9525" cap="flat">
            <a:solidFill>
              <a:srgbClr val="DCE3EE"/>
            </a:solidFill>
            <a:prstDash val="solid"/>
            <a:flat/>
          </a:ln>
          <a:effectLst>
            <a:outerShdw blurRad="127000" dist="31750" dir="5400000" rotWithShape="0">
              <a:srgbClr val="0B1A30">
                <a:alpha val="8000"/>
              </a:srgbClr>
            </a:outerShdw>
          </a:effectLst>
        </p:spPr>
        <p:txBody>
          <a:bodyPr/>
          <a:lstStyle/>
          <a:p>
            <a:endParaRPr lang="fr-FR"/>
          </a:p>
        </p:txBody>
      </p:sp>
      <p:sp>
        <p:nvSpPr>
          <p:cNvPr id="34" name="forme"/>
          <p:cNvSpPr/>
          <p:nvPr/>
        </p:nvSpPr>
        <p:spPr>
          <a:xfrm>
            <a:off x="9232900" y="2032000"/>
            <a:ext cx="508000" cy="508000"/>
          </a:xfrm>
          <a:prstGeom prst="roundRect">
            <a:avLst>
              <a:gd name="adj" fmla="val 50000"/>
            </a:avLst>
          </a:prstGeom>
          <a:solidFill>
            <a:srgbClr val="2C4A78"/>
          </a:solidFill>
          <a:ln>
            <a:noFill/>
          </a:ln>
          <a:effectLst/>
        </p:spPr>
        <p:txBody>
          <a:bodyPr/>
          <a:lstStyle/>
          <a:p>
            <a:endParaRPr lang="fr-FR"/>
          </a:p>
        </p:txBody>
      </p:sp>
      <p:sp>
        <p:nvSpPr>
          <p:cNvPr id="35" name="forme"/>
          <p:cNvSpPr/>
          <p:nvPr/>
        </p:nvSpPr>
        <p:spPr>
          <a:xfrm>
            <a:off x="9375953" y="2270150"/>
            <a:ext cx="44907" cy="105664"/>
          </a:xfrm>
          <a:prstGeom prst="roundRect">
            <a:avLst>
              <a:gd name="adj" fmla="val 50000"/>
            </a:avLst>
          </a:prstGeom>
          <a:solidFill>
            <a:srgbClr val="FFFFFF"/>
          </a:solidFill>
          <a:ln>
            <a:noFill/>
          </a:ln>
          <a:effectLst/>
        </p:spPr>
        <p:txBody>
          <a:bodyPr/>
          <a:lstStyle/>
          <a:p>
            <a:endParaRPr lang="fr-FR"/>
          </a:p>
        </p:txBody>
      </p:sp>
      <p:sp>
        <p:nvSpPr>
          <p:cNvPr id="36" name="forme"/>
          <p:cNvSpPr/>
          <p:nvPr/>
        </p:nvSpPr>
        <p:spPr>
          <a:xfrm>
            <a:off x="9463126" y="2212035"/>
            <a:ext cx="44907" cy="163779"/>
          </a:xfrm>
          <a:prstGeom prst="roundRect">
            <a:avLst>
              <a:gd name="adj" fmla="val 50000"/>
            </a:avLst>
          </a:prstGeom>
          <a:solidFill>
            <a:srgbClr val="FFFFFF"/>
          </a:solidFill>
          <a:ln>
            <a:noFill/>
          </a:ln>
          <a:effectLst/>
        </p:spPr>
        <p:txBody>
          <a:bodyPr/>
          <a:lstStyle/>
          <a:p>
            <a:endParaRPr lang="fr-FR"/>
          </a:p>
        </p:txBody>
      </p:sp>
      <p:sp>
        <p:nvSpPr>
          <p:cNvPr id="37" name="forme"/>
          <p:cNvSpPr/>
          <p:nvPr/>
        </p:nvSpPr>
        <p:spPr>
          <a:xfrm>
            <a:off x="9550298" y="2301850"/>
            <a:ext cx="44907" cy="73965"/>
          </a:xfrm>
          <a:prstGeom prst="roundRect">
            <a:avLst>
              <a:gd name="adj" fmla="val 50000"/>
            </a:avLst>
          </a:prstGeom>
          <a:solidFill>
            <a:srgbClr val="FFFFFF"/>
          </a:solidFill>
          <a:ln>
            <a:noFill/>
          </a:ln>
          <a:effectLst/>
        </p:spPr>
        <p:txBody>
          <a:bodyPr/>
          <a:lstStyle/>
          <a:p>
            <a:endParaRPr lang="fr-FR"/>
          </a:p>
        </p:txBody>
      </p:sp>
      <p:sp>
        <p:nvSpPr>
          <p:cNvPr id="38" name="forme"/>
          <p:cNvSpPr/>
          <p:nvPr/>
        </p:nvSpPr>
        <p:spPr>
          <a:xfrm>
            <a:off x="9365386" y="2386381"/>
            <a:ext cx="243027" cy="18491"/>
          </a:xfrm>
          <a:prstGeom prst="roundRect">
            <a:avLst>
              <a:gd name="adj" fmla="val 50000"/>
            </a:avLst>
          </a:prstGeom>
          <a:solidFill>
            <a:srgbClr val="FFFFFF"/>
          </a:solidFill>
          <a:ln>
            <a:noFill/>
          </a:ln>
          <a:effectLst/>
        </p:spPr>
        <p:txBody>
          <a:bodyPr/>
          <a:lstStyle/>
          <a:p>
            <a:endParaRPr lang="fr-FR"/>
          </a:p>
        </p:txBody>
      </p:sp>
      <p:sp>
        <p:nvSpPr>
          <p:cNvPr id="39" name="forme"/>
          <p:cNvSpPr/>
          <p:nvPr/>
        </p:nvSpPr>
        <p:spPr>
          <a:xfrm>
            <a:off x="9232900" y="2717800"/>
            <a:ext cx="1993900" cy="431800"/>
          </a:xfrm>
          <a:prstGeom prst="rect">
            <a:avLst/>
          </a:prstGeom>
          <a:noFill/>
          <a:ln>
            <a:noFill/>
          </a:ln>
          <a:effectLst/>
        </p:spPr>
        <p:txBody>
          <a:bodyPr wrap="square" lIns="0" tIns="0" rIns="0" bIns="0" anchor="t">
            <a:noAutofit/>
          </a:bodyPr>
          <a:lstStyle/>
          <a:p>
            <a:pPr>
              <a:lnSpc>
                <a:spcPct val="106000"/>
              </a:lnSpc>
              <a:buNone/>
            </a:pPr>
            <a:r>
              <a:rPr lang="fr-FR" sz="1250" b="1" dirty="0">
                <a:solidFill>
                  <a:srgbClr val="1C3359"/>
                </a:solidFill>
                <a:latin typeface="Segoe UI"/>
                <a:cs typeface="Segoe UI"/>
              </a:rPr>
              <a:t>4 · Conformité suivie</a:t>
            </a:r>
            <a:endParaRPr lang="fr-FR" sz="100"/>
          </a:p>
        </p:txBody>
      </p:sp>
      <p:sp>
        <p:nvSpPr>
          <p:cNvPr id="40" name="forme"/>
          <p:cNvSpPr/>
          <p:nvPr/>
        </p:nvSpPr>
        <p:spPr>
          <a:xfrm>
            <a:off x="9232900" y="3175000"/>
            <a:ext cx="1993900" cy="1016000"/>
          </a:xfrm>
          <a:prstGeom prst="rect">
            <a:avLst/>
          </a:prstGeom>
          <a:noFill/>
          <a:ln>
            <a:noFill/>
          </a:ln>
          <a:effectLst/>
        </p:spPr>
        <p:txBody>
          <a:bodyPr wrap="square" lIns="0" tIns="0" rIns="0" bIns="0" anchor="t">
            <a:noAutofit/>
          </a:bodyPr>
          <a:lstStyle/>
          <a:p>
            <a:pPr>
              <a:lnSpc>
                <a:spcPct val="125000"/>
              </a:lnSpc>
              <a:buNone/>
            </a:pPr>
            <a:r>
              <a:rPr lang="fr-FR" sz="950" b="0" dirty="0">
                <a:solidFill>
                  <a:srgbClr val="4C5C72"/>
                </a:solidFill>
                <a:latin typeface="Segoe UI"/>
                <a:cs typeface="Segoe UI"/>
              </a:rPr>
              <a:t>Statut, preuve, action, responsable, délai et taux d'avancement : le pilotage devient chiffré.</a:t>
            </a:r>
            <a:endParaRPr lang="fr-FR" sz="100"/>
          </a:p>
        </p:txBody>
      </p:sp>
      <p:sp>
        <p:nvSpPr>
          <p:cNvPr id="41" name="forme"/>
          <p:cNvSpPr/>
          <p:nvPr/>
        </p:nvSpPr>
        <p:spPr>
          <a:xfrm>
            <a:off x="711200" y="4597400"/>
            <a:ext cx="5232400" cy="1498600"/>
          </a:xfrm>
          <a:prstGeom prst="roundRect">
            <a:avLst>
              <a:gd name="adj" fmla="val 20339"/>
            </a:avLst>
          </a:prstGeom>
          <a:solidFill>
            <a:srgbClr val="EEF2F8"/>
          </a:solidFill>
          <a:ln w="9525" cap="flat">
            <a:solidFill>
              <a:srgbClr val="C9D5E6"/>
            </a:solidFill>
            <a:prstDash val="solid"/>
            <a:flat/>
          </a:ln>
          <a:effectLst>
            <a:outerShdw blurRad="127000" dist="31750" dir="5400000" rotWithShape="0">
              <a:srgbClr val="0B1A30">
                <a:alpha val="8000"/>
              </a:srgbClr>
            </a:outerShdw>
          </a:effectLst>
        </p:spPr>
        <p:txBody>
          <a:bodyPr/>
          <a:lstStyle/>
          <a:p>
            <a:endParaRPr lang="fr-FR"/>
          </a:p>
        </p:txBody>
      </p:sp>
      <p:sp>
        <p:nvSpPr>
          <p:cNvPr id="42" name="forme"/>
          <p:cNvSpPr/>
          <p:nvPr/>
        </p:nvSpPr>
        <p:spPr>
          <a:xfrm>
            <a:off x="965200" y="4851400"/>
            <a:ext cx="508000" cy="508000"/>
          </a:xfrm>
          <a:prstGeom prst="roundRect">
            <a:avLst>
              <a:gd name="adj" fmla="val 50000"/>
            </a:avLst>
          </a:prstGeom>
          <a:solidFill>
            <a:srgbClr val="1C3359"/>
          </a:solidFill>
          <a:ln>
            <a:noFill/>
          </a:ln>
          <a:effectLst/>
        </p:spPr>
        <p:txBody>
          <a:bodyPr/>
          <a:lstStyle/>
          <a:p>
            <a:endParaRPr lang="fr-FR"/>
          </a:p>
        </p:txBody>
      </p:sp>
      <p:sp>
        <p:nvSpPr>
          <p:cNvPr id="43" name="forme"/>
          <p:cNvSpPr/>
          <p:nvPr/>
        </p:nvSpPr>
        <p:spPr>
          <a:xfrm>
            <a:off x="1092403" y="4978603"/>
            <a:ext cx="253594" cy="253594"/>
          </a:xfrm>
          <a:prstGeom prst="gear6">
            <a:avLst/>
          </a:prstGeom>
          <a:solidFill>
            <a:srgbClr val="FFFFFF"/>
          </a:solidFill>
          <a:ln>
            <a:noFill/>
          </a:ln>
          <a:effectLst/>
        </p:spPr>
        <p:txBody>
          <a:bodyPr/>
          <a:lstStyle/>
          <a:p>
            <a:endParaRPr lang="fr-FR"/>
          </a:p>
        </p:txBody>
      </p:sp>
      <p:sp>
        <p:nvSpPr>
          <p:cNvPr id="44" name="forme"/>
          <p:cNvSpPr/>
          <p:nvPr/>
        </p:nvSpPr>
        <p:spPr>
          <a:xfrm>
            <a:off x="1182218" y="5068418"/>
            <a:ext cx="73965" cy="73965"/>
          </a:xfrm>
          <a:prstGeom prst="ellipse">
            <a:avLst/>
          </a:prstGeom>
          <a:solidFill>
            <a:srgbClr val="1C3359"/>
          </a:solidFill>
          <a:ln>
            <a:noFill/>
          </a:ln>
          <a:effectLst/>
        </p:spPr>
        <p:txBody>
          <a:bodyPr/>
          <a:lstStyle/>
          <a:p>
            <a:endParaRPr lang="fr-FR"/>
          </a:p>
        </p:txBody>
      </p:sp>
      <p:sp>
        <p:nvSpPr>
          <p:cNvPr id="45" name="forme"/>
          <p:cNvSpPr/>
          <p:nvPr/>
        </p:nvSpPr>
        <p:spPr>
          <a:xfrm>
            <a:off x="1676400" y="4876800"/>
            <a:ext cx="4013200" cy="279400"/>
          </a:xfrm>
          <a:prstGeom prst="rect">
            <a:avLst/>
          </a:prstGeom>
          <a:noFill/>
          <a:ln>
            <a:noFill/>
          </a:ln>
          <a:effectLst/>
        </p:spPr>
        <p:txBody>
          <a:bodyPr wrap="square" lIns="0" tIns="0" rIns="0" bIns="0" anchor="t">
            <a:noAutofit/>
          </a:bodyPr>
          <a:lstStyle/>
          <a:p>
            <a:pPr>
              <a:buNone/>
            </a:pPr>
            <a:r>
              <a:rPr lang="fr-FR" sz="1200" b="1" dirty="0">
                <a:solidFill>
                  <a:srgbClr val="1C3359"/>
                </a:solidFill>
                <a:latin typeface="Segoe UI"/>
                <a:cs typeface="Segoe UI"/>
              </a:rPr>
              <a:t>La centrale — Veille Réglementaire Générale</a:t>
            </a:r>
            <a:endParaRPr lang="fr-FR" sz="100"/>
          </a:p>
        </p:txBody>
      </p:sp>
      <p:sp>
        <p:nvSpPr>
          <p:cNvPr id="46" name="forme"/>
          <p:cNvSpPr/>
          <p:nvPr/>
        </p:nvSpPr>
        <p:spPr>
          <a:xfrm>
            <a:off x="1676400" y="5181600"/>
            <a:ext cx="4013200" cy="762000"/>
          </a:xfrm>
          <a:prstGeom prst="rect">
            <a:avLst/>
          </a:prstGeom>
          <a:noFill/>
          <a:ln>
            <a:noFill/>
          </a:ln>
          <a:effectLst/>
        </p:spPr>
        <p:txBody>
          <a:bodyPr wrap="square" lIns="0" tIns="0" rIns="0" bIns="0" anchor="t">
            <a:noAutofit/>
          </a:bodyPr>
          <a:lstStyle/>
          <a:p>
            <a:pPr>
              <a:lnSpc>
                <a:spcPct val="125000"/>
              </a:lnSpc>
              <a:buNone/>
            </a:pPr>
            <a:r>
              <a:rPr lang="fr-FR" sz="950" b="0" dirty="0">
                <a:solidFill>
                  <a:srgbClr val="4C5C72"/>
                </a:solidFill>
                <a:latin typeface="Segoe UI"/>
                <a:cs typeface="Segoe UI"/>
              </a:rPr>
              <a:t>Crée les alertes, assigne les directions, corrige le texte source, fait avancer le flux et retraite les rejets. Elle ne touche jamais à la conformité d'une direction.</a:t>
            </a:r>
            <a:endParaRPr lang="fr-FR" sz="100"/>
          </a:p>
        </p:txBody>
      </p:sp>
      <p:sp>
        <p:nvSpPr>
          <p:cNvPr id="47" name="forme"/>
          <p:cNvSpPr/>
          <p:nvPr/>
        </p:nvSpPr>
        <p:spPr>
          <a:xfrm>
            <a:off x="6248400" y="4597400"/>
            <a:ext cx="5232400" cy="1498600"/>
          </a:xfrm>
          <a:prstGeom prst="roundRect">
            <a:avLst>
              <a:gd name="adj" fmla="val 20339"/>
            </a:avLst>
          </a:prstGeom>
          <a:solidFill>
            <a:srgbClr val="EEF2F8"/>
          </a:solidFill>
          <a:ln w="9525" cap="flat">
            <a:solidFill>
              <a:srgbClr val="C9D5E6"/>
            </a:solidFill>
            <a:prstDash val="solid"/>
            <a:flat/>
          </a:ln>
          <a:effectLst>
            <a:outerShdw blurRad="127000" dist="31750" dir="5400000" rotWithShape="0">
              <a:srgbClr val="0B1A30">
                <a:alpha val="8000"/>
              </a:srgbClr>
            </a:outerShdw>
          </a:effectLst>
        </p:spPr>
        <p:txBody>
          <a:bodyPr/>
          <a:lstStyle/>
          <a:p>
            <a:endParaRPr lang="fr-FR"/>
          </a:p>
        </p:txBody>
      </p:sp>
      <p:sp>
        <p:nvSpPr>
          <p:cNvPr id="48" name="forme"/>
          <p:cNvSpPr/>
          <p:nvPr/>
        </p:nvSpPr>
        <p:spPr>
          <a:xfrm>
            <a:off x="6502400" y="4851400"/>
            <a:ext cx="508000" cy="508000"/>
          </a:xfrm>
          <a:prstGeom prst="roundRect">
            <a:avLst>
              <a:gd name="adj" fmla="val 50000"/>
            </a:avLst>
          </a:prstGeom>
          <a:solidFill>
            <a:srgbClr val="9A9059"/>
          </a:solidFill>
          <a:ln>
            <a:noFill/>
          </a:ln>
          <a:effectLst/>
        </p:spPr>
        <p:txBody>
          <a:bodyPr/>
          <a:lstStyle/>
          <a:p>
            <a:endParaRPr lang="fr-FR"/>
          </a:p>
        </p:txBody>
      </p:sp>
      <p:sp>
        <p:nvSpPr>
          <p:cNvPr id="49" name="forme"/>
          <p:cNvSpPr/>
          <p:nvPr/>
        </p:nvSpPr>
        <p:spPr>
          <a:xfrm>
            <a:off x="6677152" y="4989170"/>
            <a:ext cx="158496" cy="163779"/>
          </a:xfrm>
          <a:prstGeom prst="blockArc">
            <a:avLst>
              <a:gd name="adj1" fmla="val 10800000"/>
              <a:gd name="adj2" fmla="val 0"/>
              <a:gd name="adj3" fmla="val 17000"/>
            </a:avLst>
          </a:prstGeom>
          <a:solidFill>
            <a:srgbClr val="FFFFFF"/>
          </a:solidFill>
          <a:ln>
            <a:noFill/>
          </a:ln>
          <a:effectLst/>
        </p:spPr>
        <p:txBody>
          <a:bodyPr/>
          <a:lstStyle/>
          <a:p>
            <a:endParaRPr lang="fr-FR"/>
          </a:p>
        </p:txBody>
      </p:sp>
      <p:sp>
        <p:nvSpPr>
          <p:cNvPr id="50" name="forme"/>
          <p:cNvSpPr/>
          <p:nvPr/>
        </p:nvSpPr>
        <p:spPr>
          <a:xfrm>
            <a:off x="6645453" y="5084267"/>
            <a:ext cx="221894" cy="132080"/>
          </a:xfrm>
          <a:prstGeom prst="roundRect">
            <a:avLst>
              <a:gd name="adj" fmla="val 50000"/>
            </a:avLst>
          </a:prstGeom>
          <a:solidFill>
            <a:srgbClr val="FFFFFF"/>
          </a:solidFill>
          <a:ln>
            <a:noFill/>
          </a:ln>
          <a:effectLst/>
        </p:spPr>
        <p:txBody>
          <a:bodyPr/>
          <a:lstStyle/>
          <a:p>
            <a:endParaRPr lang="fr-FR"/>
          </a:p>
        </p:txBody>
      </p:sp>
      <p:sp>
        <p:nvSpPr>
          <p:cNvPr id="51" name="forme"/>
          <p:cNvSpPr/>
          <p:nvPr/>
        </p:nvSpPr>
        <p:spPr>
          <a:xfrm>
            <a:off x="6735267" y="5123891"/>
            <a:ext cx="42266" cy="42266"/>
          </a:xfrm>
          <a:prstGeom prst="ellipse">
            <a:avLst/>
          </a:prstGeom>
          <a:solidFill>
            <a:srgbClr val="9A9059"/>
          </a:solidFill>
          <a:ln>
            <a:noFill/>
          </a:ln>
          <a:effectLst/>
        </p:spPr>
        <p:txBody>
          <a:bodyPr/>
          <a:lstStyle/>
          <a:p>
            <a:endParaRPr lang="fr-FR"/>
          </a:p>
        </p:txBody>
      </p:sp>
      <p:sp>
        <p:nvSpPr>
          <p:cNvPr id="52" name="forme"/>
          <p:cNvSpPr/>
          <p:nvPr/>
        </p:nvSpPr>
        <p:spPr>
          <a:xfrm>
            <a:off x="6748475" y="5147666"/>
            <a:ext cx="15850" cy="36982"/>
          </a:xfrm>
          <a:prstGeom prst="rect">
            <a:avLst/>
          </a:prstGeom>
          <a:solidFill>
            <a:srgbClr val="9A9059"/>
          </a:solidFill>
          <a:ln>
            <a:noFill/>
          </a:ln>
          <a:effectLst/>
        </p:spPr>
        <p:txBody>
          <a:bodyPr/>
          <a:lstStyle/>
          <a:p>
            <a:endParaRPr lang="fr-FR"/>
          </a:p>
        </p:txBody>
      </p:sp>
      <p:sp>
        <p:nvSpPr>
          <p:cNvPr id="53" name="forme"/>
          <p:cNvSpPr/>
          <p:nvPr/>
        </p:nvSpPr>
        <p:spPr>
          <a:xfrm>
            <a:off x="7213600" y="4876800"/>
            <a:ext cx="4013200" cy="279400"/>
          </a:xfrm>
          <a:prstGeom prst="rect">
            <a:avLst/>
          </a:prstGeom>
          <a:noFill/>
          <a:ln>
            <a:noFill/>
          </a:ln>
          <a:effectLst/>
        </p:spPr>
        <p:txBody>
          <a:bodyPr wrap="square" lIns="0" tIns="0" rIns="0" bIns="0" anchor="t">
            <a:noAutofit/>
          </a:bodyPr>
          <a:lstStyle/>
          <a:p>
            <a:pPr>
              <a:buNone/>
            </a:pPr>
            <a:r>
              <a:rPr lang="fr-FR" sz="1200" b="1" dirty="0">
                <a:solidFill>
                  <a:srgbClr val="1C3359"/>
                </a:solidFill>
                <a:latin typeface="Segoe UI"/>
                <a:cs typeface="Segoe UI"/>
              </a:rPr>
              <a:t>Chaque direction, cloisonnée</a:t>
            </a:r>
            <a:endParaRPr lang="fr-FR" sz="100"/>
          </a:p>
        </p:txBody>
      </p:sp>
      <p:sp>
        <p:nvSpPr>
          <p:cNvPr id="54" name="forme"/>
          <p:cNvSpPr/>
          <p:nvPr/>
        </p:nvSpPr>
        <p:spPr>
          <a:xfrm>
            <a:off x="7213600" y="5181600"/>
            <a:ext cx="4013200" cy="762000"/>
          </a:xfrm>
          <a:prstGeom prst="rect">
            <a:avLst/>
          </a:prstGeom>
          <a:noFill/>
          <a:ln>
            <a:noFill/>
          </a:ln>
          <a:effectLst/>
        </p:spPr>
        <p:txBody>
          <a:bodyPr wrap="square" lIns="0" tIns="0" rIns="0" bIns="0" anchor="t">
            <a:noAutofit/>
          </a:bodyPr>
          <a:lstStyle/>
          <a:p>
            <a:pPr>
              <a:lnSpc>
                <a:spcPct val="125000"/>
              </a:lnSpc>
              <a:buNone/>
            </a:pPr>
            <a:r>
              <a:rPr lang="fr-FR" sz="950" b="0" dirty="0">
                <a:solidFill>
                  <a:srgbClr val="4C5C72"/>
                </a:solidFill>
                <a:latin typeface="Segoe UI"/>
                <a:cs typeface="Segoe UI"/>
              </a:rPr>
              <a:t>Elle ne voit et ne modifie que ses propres fiches — Direction Juridique comprise, sans exception. Contrôle appliqué dans l'interface comme dans l'API (401 / 403).</a:t>
            </a:r>
            <a:endParaRPr lang="fr-FR" sz="100"/>
          </a:p>
        </p:txBody>
      </p:sp>
      <p:sp>
        <p:nvSpPr>
          <p:cNvPr id="55" name="forme"/>
          <p:cNvSpPr/>
          <p:nvPr/>
        </p:nvSpPr>
        <p:spPr>
          <a:xfrm>
            <a:off x="711200" y="6400800"/>
            <a:ext cx="10769600" cy="9525"/>
          </a:xfrm>
          <a:prstGeom prst="rect">
            <a:avLst/>
          </a:prstGeom>
          <a:solidFill>
            <a:srgbClr val="DCE3EE"/>
          </a:solidFill>
          <a:ln>
            <a:noFill/>
          </a:ln>
          <a:effectLst/>
        </p:spPr>
        <p:txBody>
          <a:bodyPr/>
          <a:lstStyle/>
          <a:p>
            <a:endParaRPr lang="fr-FR"/>
          </a:p>
        </p:txBody>
      </p:sp>
      <p:sp>
        <p:nvSpPr>
          <p:cNvPr id="56" name="forme"/>
          <p:cNvSpPr/>
          <p:nvPr/>
        </p:nvSpPr>
        <p:spPr>
          <a:xfrm>
            <a:off x="711200" y="6489700"/>
            <a:ext cx="7112000" cy="152400"/>
          </a:xfrm>
          <a:prstGeom prst="rect">
            <a:avLst/>
          </a:prstGeom>
          <a:noFill/>
          <a:ln>
            <a:noFill/>
          </a:ln>
          <a:effectLst/>
        </p:spPr>
        <p:txBody>
          <a:bodyPr wrap="square" lIns="0" tIns="0" rIns="0" bIns="0" anchor="t">
            <a:noAutofit/>
          </a:bodyPr>
          <a:lstStyle/>
          <a:p>
            <a:pPr>
              <a:buNone/>
            </a:pPr>
            <a:r>
              <a:rPr lang="fr-FR" sz="850" b="1" dirty="0">
                <a:solidFill>
                  <a:srgbClr val="8494AB"/>
                </a:solidFill>
                <a:latin typeface="Segoe UI"/>
                <a:cs typeface="Segoe UI"/>
              </a:rPr>
              <a:t>AGL JuriCompliance</a:t>
            </a:r>
            <a:r>
              <a:rPr lang="fr-FR" sz="850" b="0" dirty="0">
                <a:solidFill>
                  <a:srgbClr val="8494AB"/>
                </a:solidFill>
                <a:latin typeface="Segoe UI"/>
                <a:cs typeface="Segoe UI"/>
              </a:rPr>
              <a:t>  ·  Veille réglementaire assistée par IA  ·  Prototype</a:t>
            </a:r>
            <a:endParaRPr lang="fr-FR" sz="100"/>
          </a:p>
        </p:txBody>
      </p:sp>
      <p:sp>
        <p:nvSpPr>
          <p:cNvPr id="57" name="forme"/>
          <p:cNvSpPr/>
          <p:nvPr/>
        </p:nvSpPr>
        <p:spPr>
          <a:xfrm>
            <a:off x="9448800" y="6489700"/>
            <a:ext cx="2032000" cy="152400"/>
          </a:xfrm>
          <a:prstGeom prst="rect">
            <a:avLst/>
          </a:prstGeom>
          <a:noFill/>
          <a:ln>
            <a:noFill/>
          </a:ln>
          <a:effectLst/>
        </p:spPr>
        <p:txBody>
          <a:bodyPr wrap="square" lIns="0" tIns="0" rIns="0" bIns="0" anchor="t">
            <a:noAutofit/>
          </a:bodyPr>
          <a:lstStyle/>
          <a:p>
            <a:pPr algn="r">
              <a:buNone/>
            </a:pPr>
            <a:r>
              <a:rPr lang="fr-FR" sz="850" b="1" dirty="0">
                <a:solidFill>
                  <a:srgbClr val="1C3359"/>
                </a:solidFill>
                <a:latin typeface="Segoe UI"/>
                <a:cs typeface="Segoe UI"/>
              </a:rPr>
              <a:t>4 / 6</a:t>
            </a:r>
            <a:endParaRPr lang="fr-FR" sz="100"/>
          </a:p>
        </p:txBody>
      </p:sp>
    </p:spTree>
  </p:cSld>
  <p:clrMapOvr>
    <a:masterClrMapping/>
  </p:clrMapOvr>
  <mc:AlternateContent>
    <mc:Choice Requires="p14 p159">
      <p:transition spd="slow" p14:dur="9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xmlns:p159="http://schemas.microsoft.com/office/powerpoint/2015/09/main">
  <p:cSld>
    <p:bg>
      <p:bgPr>
        <a:solidFill>
          <a:srgbClr val="FFFFFF"/>
        </a:solidFill>
        <a:effectLst/>
      </p:bgPr>
    </p:bg>
    <p:spTree>
      <p:nvGrpSpPr>
        <p:cNvPr id="1" name=""/>
        <p:cNvGrpSpPr/>
        <p:nvPr/>
      </p:nvGrpSpPr>
      <p:grpSpPr>
        <a:xfrm>
          <a:off x="0" y="0"/>
          <a:ext cx="0" cy="0"/>
          <a:chOff x="0" y="0"/>
          <a:chExt cx="0" cy="0"/>
        </a:xfrm>
      </p:grpSpPr>
      <p:sp>
        <p:nvSpPr>
          <p:cNvPr id="2" name="forme"/>
          <p:cNvSpPr/>
          <p:nvPr/>
        </p:nvSpPr>
        <p:spPr>
          <a:xfrm>
            <a:off x="0" y="0"/>
            <a:ext cx="12192000" cy="1168400"/>
          </a:xfrm>
          <a:prstGeom prst="rect">
            <a:avLst/>
          </a:prstGeom>
          <a:solidFill>
            <a:srgbClr val="1C3359"/>
          </a:solidFill>
          <a:ln>
            <a:noFill/>
          </a:ln>
          <a:effectLst/>
        </p:spPr>
        <p:txBody>
          <a:bodyPr/>
          <a:lstStyle/>
          <a:p>
            <a:endParaRPr lang="fr-FR"/>
          </a:p>
        </p:txBody>
      </p:sp>
      <p:sp>
        <p:nvSpPr>
          <p:cNvPr id="3" name="forme"/>
          <p:cNvSpPr/>
          <p:nvPr/>
        </p:nvSpPr>
        <p:spPr>
          <a:xfrm>
            <a:off x="0" y="1168400"/>
            <a:ext cx="12192000" cy="38100"/>
          </a:xfrm>
          <a:prstGeom prst="rect">
            <a:avLst/>
          </a:prstGeom>
          <a:solidFill>
            <a:srgbClr val="B6AD6E"/>
          </a:solidFill>
          <a:ln>
            <a:noFill/>
          </a:ln>
          <a:effectLst/>
        </p:spPr>
        <p:txBody>
          <a:bodyPr/>
          <a:lstStyle/>
          <a:p>
            <a:endParaRPr lang="fr-FR"/>
          </a:p>
        </p:txBody>
      </p:sp>
      <p:sp>
        <p:nvSpPr>
          <p:cNvPr id="4" name="forme"/>
          <p:cNvSpPr/>
          <p:nvPr/>
        </p:nvSpPr>
        <p:spPr>
          <a:xfrm>
            <a:off x="330200" y="342900"/>
            <a:ext cx="482600" cy="482600"/>
          </a:xfrm>
          <a:prstGeom prst="ellipse">
            <a:avLst/>
          </a:prstGeom>
          <a:noFill/>
          <a:ln w="15875" cap="flat">
            <a:solidFill>
              <a:srgbClr val="B6AD6E"/>
            </a:solidFill>
            <a:prstDash val="solid"/>
            <a:flat/>
          </a:ln>
          <a:effectLst/>
        </p:spPr>
        <p:txBody>
          <a:bodyPr/>
          <a:lstStyle/>
          <a:p>
            <a:endParaRPr lang="fr-FR"/>
          </a:p>
        </p:txBody>
      </p:sp>
      <p:sp>
        <p:nvSpPr>
          <p:cNvPr id="5" name="forme"/>
          <p:cNvSpPr/>
          <p:nvPr/>
        </p:nvSpPr>
        <p:spPr>
          <a:xfrm>
            <a:off x="330200" y="342900"/>
            <a:ext cx="482600" cy="482600"/>
          </a:xfrm>
          <a:prstGeom prst="rect">
            <a:avLst/>
          </a:prstGeom>
          <a:noFill/>
          <a:ln>
            <a:noFill/>
          </a:ln>
          <a:effectLst/>
        </p:spPr>
        <p:txBody>
          <a:bodyPr wrap="square" lIns="0" tIns="0" rIns="0" bIns="0" anchor="ctr">
            <a:noAutofit/>
          </a:bodyPr>
          <a:lstStyle/>
          <a:p>
            <a:pPr algn="ctr">
              <a:buNone/>
            </a:pPr>
            <a:r>
              <a:rPr lang="fr-FR" sz="1500" b="1" dirty="0">
                <a:solidFill>
                  <a:srgbClr val="B6AD6E"/>
                </a:solidFill>
                <a:latin typeface="Segoe UI"/>
                <a:cs typeface="Segoe UI"/>
              </a:rPr>
              <a:t>04</a:t>
            </a:r>
            <a:endParaRPr lang="fr-FR" sz="100"/>
          </a:p>
        </p:txBody>
      </p:sp>
      <p:sp>
        <p:nvSpPr>
          <p:cNvPr id="6" name="forme"/>
          <p:cNvSpPr/>
          <p:nvPr/>
        </p:nvSpPr>
        <p:spPr>
          <a:xfrm>
            <a:off x="1066800" y="228600"/>
            <a:ext cx="8128000" cy="177800"/>
          </a:xfrm>
          <a:prstGeom prst="rect">
            <a:avLst/>
          </a:prstGeom>
          <a:noFill/>
          <a:ln>
            <a:noFill/>
          </a:ln>
          <a:effectLst/>
        </p:spPr>
        <p:txBody>
          <a:bodyPr wrap="square" lIns="0" tIns="0" rIns="0" bIns="0" anchor="t">
            <a:noAutofit/>
          </a:bodyPr>
          <a:lstStyle/>
          <a:p>
            <a:pPr>
              <a:buNone/>
            </a:pPr>
            <a:r>
              <a:rPr lang="fr-FR" sz="900" b="1" cap="all" spc="140" dirty="0">
                <a:solidFill>
                  <a:srgbClr val="B6AD6E"/>
                </a:solidFill>
                <a:latin typeface="Segoe UI"/>
                <a:cs typeface="Segoe UI"/>
              </a:rPr>
              <a:t>Garanties</a:t>
            </a:r>
            <a:endParaRPr lang="fr-FR" sz="100"/>
          </a:p>
        </p:txBody>
      </p:sp>
      <p:sp>
        <p:nvSpPr>
          <p:cNvPr id="7" name="forme"/>
          <p:cNvSpPr/>
          <p:nvPr/>
        </p:nvSpPr>
        <p:spPr>
          <a:xfrm>
            <a:off x="1066800" y="457200"/>
            <a:ext cx="8890000" cy="508000"/>
          </a:xfrm>
          <a:prstGeom prst="rect">
            <a:avLst/>
          </a:prstGeom>
          <a:noFill/>
          <a:ln>
            <a:noFill/>
          </a:ln>
          <a:effectLst/>
        </p:spPr>
        <p:txBody>
          <a:bodyPr wrap="square" lIns="0" tIns="0" rIns="0" bIns="0" anchor="t">
            <a:noAutofit/>
          </a:bodyPr>
          <a:lstStyle/>
          <a:p>
            <a:pPr>
              <a:buNone/>
            </a:pPr>
            <a:r>
              <a:rPr lang="fr-FR" sz="2400" b="1" dirty="0">
                <a:solidFill>
                  <a:srgbClr val="FFFFFF"/>
                </a:solidFill>
                <a:latin typeface="Segoe UI"/>
                <a:cs typeface="Segoe UI"/>
              </a:rPr>
              <a:t>Rien ne se perd, tout se prouve</a:t>
            </a:r>
            <a:endParaRPr lang="fr-FR" sz="100"/>
          </a:p>
        </p:txBody>
      </p:sp>
      <p:pic>
        <p:nvPicPr>
          <p:cNvPr id="8" name="image"/>
          <p:cNvPicPr>
            <a:picLocks noChangeAspect="1"/>
          </p:cNvPicPr>
          <p:nvPr/>
        </p:nvPicPr>
        <p:blipFill>
          <a:blip r:embed="rId2"/>
          <a:stretch>
            <a:fillRect/>
          </a:stretch>
        </p:blipFill>
        <p:spPr>
          <a:xfrm>
            <a:off x="10629900" y="381000"/>
            <a:ext cx="850900" cy="406400"/>
          </a:xfrm>
          <a:prstGeom prst="rect">
            <a:avLst/>
          </a:prstGeom>
        </p:spPr>
      </p:pic>
      <p:sp>
        <p:nvSpPr>
          <p:cNvPr id="9" name="forme"/>
          <p:cNvSpPr/>
          <p:nvPr/>
        </p:nvSpPr>
        <p:spPr>
          <a:xfrm>
            <a:off x="711200" y="1778000"/>
            <a:ext cx="2501900" cy="2489200"/>
          </a:xfrm>
          <a:prstGeom prst="roundRect">
            <a:avLst>
              <a:gd name="adj" fmla="val 12245"/>
            </a:avLst>
          </a:prstGeom>
          <a:solidFill>
            <a:srgbClr val="FFFFFF"/>
          </a:solidFill>
          <a:ln w="9525" cap="flat">
            <a:solidFill>
              <a:srgbClr val="DCE3EE"/>
            </a:solidFill>
            <a:prstDash val="solid"/>
            <a:flat/>
          </a:ln>
          <a:effectLst>
            <a:outerShdw blurRad="127000" dist="31750" dir="5400000" rotWithShape="0">
              <a:srgbClr val="0B1A30">
                <a:alpha val="8000"/>
              </a:srgbClr>
            </a:outerShdw>
          </a:effectLst>
        </p:spPr>
        <p:txBody>
          <a:bodyPr/>
          <a:lstStyle/>
          <a:p>
            <a:endParaRPr lang="fr-FR"/>
          </a:p>
        </p:txBody>
      </p:sp>
      <p:sp>
        <p:nvSpPr>
          <p:cNvPr id="10" name="forme"/>
          <p:cNvSpPr/>
          <p:nvPr/>
        </p:nvSpPr>
        <p:spPr>
          <a:xfrm>
            <a:off x="711200" y="1778000"/>
            <a:ext cx="50800" cy="2489200"/>
          </a:xfrm>
          <a:prstGeom prst="roundRect">
            <a:avLst>
              <a:gd name="adj" fmla="val 50000"/>
            </a:avLst>
          </a:prstGeom>
          <a:solidFill>
            <a:srgbClr val="B6AD6E"/>
          </a:solidFill>
          <a:ln>
            <a:noFill/>
          </a:ln>
          <a:effectLst/>
        </p:spPr>
        <p:txBody>
          <a:bodyPr/>
          <a:lstStyle/>
          <a:p>
            <a:endParaRPr lang="fr-FR"/>
          </a:p>
        </p:txBody>
      </p:sp>
      <p:sp>
        <p:nvSpPr>
          <p:cNvPr id="11" name="forme"/>
          <p:cNvSpPr/>
          <p:nvPr/>
        </p:nvSpPr>
        <p:spPr>
          <a:xfrm>
            <a:off x="965200" y="2032000"/>
            <a:ext cx="482600" cy="482600"/>
          </a:xfrm>
          <a:prstGeom prst="roundRect">
            <a:avLst>
              <a:gd name="adj" fmla="val 50000"/>
            </a:avLst>
          </a:prstGeom>
          <a:solidFill>
            <a:srgbClr val="1C3359"/>
          </a:solidFill>
          <a:ln>
            <a:noFill/>
          </a:ln>
          <a:effectLst/>
        </p:spPr>
        <p:txBody>
          <a:bodyPr/>
          <a:lstStyle/>
          <a:p>
            <a:endParaRPr lang="fr-FR"/>
          </a:p>
        </p:txBody>
      </p:sp>
      <p:sp>
        <p:nvSpPr>
          <p:cNvPr id="12" name="forme"/>
          <p:cNvSpPr/>
          <p:nvPr/>
        </p:nvSpPr>
        <p:spPr>
          <a:xfrm>
            <a:off x="1091062" y="2157862"/>
            <a:ext cx="230876" cy="230876"/>
          </a:xfrm>
          <a:prstGeom prst="ellipse">
            <a:avLst/>
          </a:prstGeom>
          <a:solidFill>
            <a:srgbClr val="FFFFFF"/>
          </a:solidFill>
          <a:ln>
            <a:noFill/>
          </a:ln>
          <a:effectLst/>
        </p:spPr>
        <p:txBody>
          <a:bodyPr/>
          <a:lstStyle/>
          <a:p>
            <a:endParaRPr lang="fr-FR"/>
          </a:p>
        </p:txBody>
      </p:sp>
      <p:sp>
        <p:nvSpPr>
          <p:cNvPr id="13" name="forme"/>
          <p:cNvSpPr/>
          <p:nvPr/>
        </p:nvSpPr>
        <p:spPr>
          <a:xfrm>
            <a:off x="1198971" y="2213072"/>
            <a:ext cx="15057" cy="70267"/>
          </a:xfrm>
          <a:prstGeom prst="roundRect">
            <a:avLst>
              <a:gd name="adj" fmla="val 50000"/>
            </a:avLst>
          </a:prstGeom>
          <a:solidFill>
            <a:srgbClr val="1C3359"/>
          </a:solidFill>
          <a:ln>
            <a:noFill/>
          </a:ln>
          <a:effectLst/>
        </p:spPr>
        <p:txBody>
          <a:bodyPr/>
          <a:lstStyle/>
          <a:p>
            <a:endParaRPr lang="fr-FR"/>
          </a:p>
        </p:txBody>
      </p:sp>
      <p:sp>
        <p:nvSpPr>
          <p:cNvPr id="14" name="forme"/>
          <p:cNvSpPr/>
          <p:nvPr/>
        </p:nvSpPr>
        <p:spPr>
          <a:xfrm>
            <a:off x="1203990" y="2265771"/>
            <a:ext cx="65248" cy="15057"/>
          </a:xfrm>
          <a:prstGeom prst="roundRect">
            <a:avLst>
              <a:gd name="adj" fmla="val 50000"/>
            </a:avLst>
          </a:prstGeom>
          <a:solidFill>
            <a:srgbClr val="1C3359"/>
          </a:solidFill>
          <a:ln>
            <a:noFill/>
          </a:ln>
          <a:effectLst/>
        </p:spPr>
        <p:txBody>
          <a:bodyPr/>
          <a:lstStyle/>
          <a:p>
            <a:endParaRPr lang="fr-FR"/>
          </a:p>
        </p:txBody>
      </p:sp>
      <p:sp>
        <p:nvSpPr>
          <p:cNvPr id="15" name="forme"/>
          <p:cNvSpPr/>
          <p:nvPr/>
        </p:nvSpPr>
        <p:spPr>
          <a:xfrm>
            <a:off x="965200" y="2641600"/>
            <a:ext cx="1993900" cy="431800"/>
          </a:xfrm>
          <a:prstGeom prst="rect">
            <a:avLst/>
          </a:prstGeom>
          <a:noFill/>
          <a:ln>
            <a:noFill/>
          </a:ln>
          <a:effectLst/>
        </p:spPr>
        <p:txBody>
          <a:bodyPr wrap="square" lIns="0" tIns="0" rIns="0" bIns="0" anchor="t">
            <a:noAutofit/>
          </a:bodyPr>
          <a:lstStyle/>
          <a:p>
            <a:pPr>
              <a:lnSpc>
                <a:spcPct val="106000"/>
              </a:lnSpc>
              <a:buNone/>
            </a:pPr>
            <a:r>
              <a:rPr lang="fr-FR" sz="1250" b="1" dirty="0">
                <a:solidFill>
                  <a:srgbClr val="1C3359"/>
                </a:solidFill>
                <a:latin typeface="Segoe UI"/>
                <a:cs typeface="Segoe UI"/>
              </a:rPr>
              <a:t>Historique SCD type 2</a:t>
            </a:r>
            <a:endParaRPr lang="fr-FR" sz="100"/>
          </a:p>
        </p:txBody>
      </p:sp>
      <p:sp>
        <p:nvSpPr>
          <p:cNvPr id="16" name="forme"/>
          <p:cNvSpPr/>
          <p:nvPr/>
        </p:nvSpPr>
        <p:spPr>
          <a:xfrm>
            <a:off x="965200" y="3098800"/>
            <a:ext cx="1993900" cy="990600"/>
          </a:xfrm>
          <a:prstGeom prst="rect">
            <a:avLst/>
          </a:prstGeom>
          <a:noFill/>
          <a:ln>
            <a:noFill/>
          </a:ln>
          <a:effectLst/>
        </p:spPr>
        <p:txBody>
          <a:bodyPr wrap="square" lIns="0" tIns="0" rIns="0" bIns="0" anchor="t">
            <a:noAutofit/>
          </a:bodyPr>
          <a:lstStyle/>
          <a:p>
            <a:pPr>
              <a:lnSpc>
                <a:spcPct val="125000"/>
              </a:lnSpc>
              <a:buNone/>
            </a:pPr>
            <a:r>
              <a:rPr lang="fr-FR" sz="950" b="0" dirty="0">
                <a:solidFill>
                  <a:srgbClr val="4C5C72"/>
                </a:solidFill>
                <a:latin typeface="Segoe UI"/>
                <a:cs typeface="Segoe UI"/>
              </a:rPr>
              <a:t>Chaque enregistrement fige la version précédente (validFrom, validTo, isCurrent) et écrit dans un journal lisible.</a:t>
            </a:r>
            <a:endParaRPr lang="fr-FR" sz="100"/>
          </a:p>
        </p:txBody>
      </p:sp>
      <p:sp>
        <p:nvSpPr>
          <p:cNvPr id="17" name="forme"/>
          <p:cNvSpPr/>
          <p:nvPr/>
        </p:nvSpPr>
        <p:spPr>
          <a:xfrm>
            <a:off x="3467100" y="1778000"/>
            <a:ext cx="2501900" cy="2489200"/>
          </a:xfrm>
          <a:prstGeom prst="roundRect">
            <a:avLst>
              <a:gd name="adj" fmla="val 12245"/>
            </a:avLst>
          </a:prstGeom>
          <a:solidFill>
            <a:srgbClr val="FFFFFF"/>
          </a:solidFill>
          <a:ln w="9525" cap="flat">
            <a:solidFill>
              <a:srgbClr val="DCE3EE"/>
            </a:solidFill>
            <a:prstDash val="solid"/>
            <a:flat/>
          </a:ln>
          <a:effectLst>
            <a:outerShdw blurRad="127000" dist="31750" dir="5400000" rotWithShape="0">
              <a:srgbClr val="0B1A30">
                <a:alpha val="8000"/>
              </a:srgbClr>
            </a:outerShdw>
          </a:effectLst>
        </p:spPr>
        <p:txBody>
          <a:bodyPr/>
          <a:lstStyle/>
          <a:p>
            <a:endParaRPr lang="fr-FR"/>
          </a:p>
        </p:txBody>
      </p:sp>
      <p:sp>
        <p:nvSpPr>
          <p:cNvPr id="18" name="forme"/>
          <p:cNvSpPr/>
          <p:nvPr/>
        </p:nvSpPr>
        <p:spPr>
          <a:xfrm>
            <a:off x="3467100" y="1778000"/>
            <a:ext cx="50800" cy="2489200"/>
          </a:xfrm>
          <a:prstGeom prst="roundRect">
            <a:avLst>
              <a:gd name="adj" fmla="val 50000"/>
            </a:avLst>
          </a:prstGeom>
          <a:solidFill>
            <a:srgbClr val="B6AD6E"/>
          </a:solidFill>
          <a:ln>
            <a:noFill/>
          </a:ln>
          <a:effectLst/>
        </p:spPr>
        <p:txBody>
          <a:bodyPr/>
          <a:lstStyle/>
          <a:p>
            <a:endParaRPr lang="fr-FR"/>
          </a:p>
        </p:txBody>
      </p:sp>
      <p:sp>
        <p:nvSpPr>
          <p:cNvPr id="19" name="forme"/>
          <p:cNvSpPr/>
          <p:nvPr/>
        </p:nvSpPr>
        <p:spPr>
          <a:xfrm>
            <a:off x="3721100" y="2032000"/>
            <a:ext cx="482600" cy="482600"/>
          </a:xfrm>
          <a:prstGeom prst="roundRect">
            <a:avLst>
              <a:gd name="adj" fmla="val 50000"/>
            </a:avLst>
          </a:prstGeom>
          <a:solidFill>
            <a:srgbClr val="1C3359"/>
          </a:solidFill>
          <a:ln>
            <a:noFill/>
          </a:ln>
          <a:effectLst/>
        </p:spPr>
        <p:txBody>
          <a:bodyPr/>
          <a:lstStyle/>
          <a:p>
            <a:endParaRPr lang="fr-FR"/>
          </a:p>
        </p:txBody>
      </p:sp>
      <p:sp>
        <p:nvSpPr>
          <p:cNvPr id="20" name="forme"/>
          <p:cNvSpPr/>
          <p:nvPr/>
        </p:nvSpPr>
        <p:spPr>
          <a:xfrm>
            <a:off x="3887114" y="2162881"/>
            <a:ext cx="150571" cy="155590"/>
          </a:xfrm>
          <a:prstGeom prst="blockArc">
            <a:avLst>
              <a:gd name="adj1" fmla="val 10800000"/>
              <a:gd name="adj2" fmla="val 0"/>
              <a:gd name="adj3" fmla="val 17000"/>
            </a:avLst>
          </a:prstGeom>
          <a:solidFill>
            <a:srgbClr val="FFFFFF"/>
          </a:solidFill>
          <a:ln>
            <a:noFill/>
          </a:ln>
          <a:effectLst/>
        </p:spPr>
        <p:txBody>
          <a:bodyPr/>
          <a:lstStyle/>
          <a:p>
            <a:endParaRPr lang="fr-FR"/>
          </a:p>
        </p:txBody>
      </p:sp>
      <p:sp>
        <p:nvSpPr>
          <p:cNvPr id="21" name="forme"/>
          <p:cNvSpPr/>
          <p:nvPr/>
        </p:nvSpPr>
        <p:spPr>
          <a:xfrm>
            <a:off x="3857000" y="2253224"/>
            <a:ext cx="210800" cy="125476"/>
          </a:xfrm>
          <a:prstGeom prst="roundRect">
            <a:avLst>
              <a:gd name="adj" fmla="val 50000"/>
            </a:avLst>
          </a:prstGeom>
          <a:solidFill>
            <a:srgbClr val="FFFFFF"/>
          </a:solidFill>
          <a:ln>
            <a:noFill/>
          </a:ln>
          <a:effectLst/>
        </p:spPr>
        <p:txBody>
          <a:bodyPr/>
          <a:lstStyle/>
          <a:p>
            <a:endParaRPr lang="fr-FR"/>
          </a:p>
        </p:txBody>
      </p:sp>
      <p:sp>
        <p:nvSpPr>
          <p:cNvPr id="22" name="forme"/>
          <p:cNvSpPr/>
          <p:nvPr/>
        </p:nvSpPr>
        <p:spPr>
          <a:xfrm>
            <a:off x="3942324" y="2290867"/>
            <a:ext cx="40152" cy="40152"/>
          </a:xfrm>
          <a:prstGeom prst="ellipse">
            <a:avLst/>
          </a:prstGeom>
          <a:solidFill>
            <a:srgbClr val="1C3359"/>
          </a:solidFill>
          <a:ln>
            <a:noFill/>
          </a:ln>
          <a:effectLst/>
        </p:spPr>
        <p:txBody>
          <a:bodyPr/>
          <a:lstStyle/>
          <a:p>
            <a:endParaRPr lang="fr-FR"/>
          </a:p>
        </p:txBody>
      </p:sp>
      <p:sp>
        <p:nvSpPr>
          <p:cNvPr id="23" name="forme"/>
          <p:cNvSpPr/>
          <p:nvPr/>
        </p:nvSpPr>
        <p:spPr>
          <a:xfrm>
            <a:off x="3954871" y="2313452"/>
            <a:ext cx="15057" cy="35133"/>
          </a:xfrm>
          <a:prstGeom prst="rect">
            <a:avLst/>
          </a:prstGeom>
          <a:solidFill>
            <a:srgbClr val="1C3359"/>
          </a:solidFill>
          <a:ln>
            <a:noFill/>
          </a:ln>
          <a:effectLst/>
        </p:spPr>
        <p:txBody>
          <a:bodyPr/>
          <a:lstStyle/>
          <a:p>
            <a:endParaRPr lang="fr-FR"/>
          </a:p>
        </p:txBody>
      </p:sp>
      <p:sp>
        <p:nvSpPr>
          <p:cNvPr id="24" name="forme"/>
          <p:cNvSpPr/>
          <p:nvPr/>
        </p:nvSpPr>
        <p:spPr>
          <a:xfrm>
            <a:off x="3721100" y="2641600"/>
            <a:ext cx="1993900" cy="431800"/>
          </a:xfrm>
          <a:prstGeom prst="rect">
            <a:avLst/>
          </a:prstGeom>
          <a:noFill/>
          <a:ln>
            <a:noFill/>
          </a:ln>
          <a:effectLst/>
        </p:spPr>
        <p:txBody>
          <a:bodyPr wrap="square" lIns="0" tIns="0" rIns="0" bIns="0" anchor="t">
            <a:noAutofit/>
          </a:bodyPr>
          <a:lstStyle/>
          <a:p>
            <a:pPr>
              <a:lnSpc>
                <a:spcPct val="106000"/>
              </a:lnSpc>
              <a:buNone/>
            </a:pPr>
            <a:r>
              <a:rPr lang="fr-FR" sz="1250" b="1" dirty="0">
                <a:solidFill>
                  <a:srgbClr val="1C3359"/>
                </a:solidFill>
                <a:latin typeface="Segoe UI"/>
                <a:cs typeface="Segoe UI"/>
              </a:rPr>
              <a:t>Cloisonnement strict</a:t>
            </a:r>
            <a:endParaRPr lang="fr-FR" sz="100"/>
          </a:p>
        </p:txBody>
      </p:sp>
      <p:sp>
        <p:nvSpPr>
          <p:cNvPr id="25" name="forme"/>
          <p:cNvSpPr/>
          <p:nvPr/>
        </p:nvSpPr>
        <p:spPr>
          <a:xfrm>
            <a:off x="3721100" y="3098800"/>
            <a:ext cx="1993900" cy="990600"/>
          </a:xfrm>
          <a:prstGeom prst="rect">
            <a:avLst/>
          </a:prstGeom>
          <a:noFill/>
          <a:ln>
            <a:noFill/>
          </a:ln>
          <a:effectLst/>
        </p:spPr>
        <p:txBody>
          <a:bodyPr wrap="square" lIns="0" tIns="0" rIns="0" bIns="0" anchor="t">
            <a:noAutofit/>
          </a:bodyPr>
          <a:lstStyle/>
          <a:p>
            <a:pPr>
              <a:lnSpc>
                <a:spcPct val="125000"/>
              </a:lnSpc>
              <a:buNone/>
            </a:pPr>
            <a:r>
              <a:rPr lang="fr-FR" sz="950" b="0" dirty="0">
                <a:solidFill>
                  <a:srgbClr val="4C5C72"/>
                </a:solidFill>
                <a:latin typeface="Segoe UI"/>
                <a:cs typeface="Segoe UI"/>
              </a:rPr>
              <a:t>Une direction ne modifie que ses propres fichiers. La matrice d'accès est appliquée côté interface et côté API, pas seulement affichée.</a:t>
            </a:r>
            <a:endParaRPr lang="fr-FR" sz="100"/>
          </a:p>
        </p:txBody>
      </p:sp>
      <p:sp>
        <p:nvSpPr>
          <p:cNvPr id="26" name="forme"/>
          <p:cNvSpPr/>
          <p:nvPr/>
        </p:nvSpPr>
        <p:spPr>
          <a:xfrm>
            <a:off x="6223000" y="1778000"/>
            <a:ext cx="2501900" cy="2489200"/>
          </a:xfrm>
          <a:prstGeom prst="roundRect">
            <a:avLst>
              <a:gd name="adj" fmla="val 12245"/>
            </a:avLst>
          </a:prstGeom>
          <a:solidFill>
            <a:srgbClr val="FFFFFF"/>
          </a:solidFill>
          <a:ln w="9525" cap="flat">
            <a:solidFill>
              <a:srgbClr val="DCE3EE"/>
            </a:solidFill>
            <a:prstDash val="solid"/>
            <a:flat/>
          </a:ln>
          <a:effectLst>
            <a:outerShdw blurRad="127000" dist="31750" dir="5400000" rotWithShape="0">
              <a:srgbClr val="0B1A30">
                <a:alpha val="8000"/>
              </a:srgbClr>
            </a:outerShdw>
          </a:effectLst>
        </p:spPr>
        <p:txBody>
          <a:bodyPr/>
          <a:lstStyle/>
          <a:p>
            <a:endParaRPr lang="fr-FR"/>
          </a:p>
        </p:txBody>
      </p:sp>
      <p:sp>
        <p:nvSpPr>
          <p:cNvPr id="27" name="forme"/>
          <p:cNvSpPr/>
          <p:nvPr/>
        </p:nvSpPr>
        <p:spPr>
          <a:xfrm>
            <a:off x="6223000" y="1778000"/>
            <a:ext cx="50800" cy="2489200"/>
          </a:xfrm>
          <a:prstGeom prst="roundRect">
            <a:avLst>
              <a:gd name="adj" fmla="val 50000"/>
            </a:avLst>
          </a:prstGeom>
          <a:solidFill>
            <a:srgbClr val="B6AD6E"/>
          </a:solidFill>
          <a:ln>
            <a:noFill/>
          </a:ln>
          <a:effectLst/>
        </p:spPr>
        <p:txBody>
          <a:bodyPr/>
          <a:lstStyle/>
          <a:p>
            <a:endParaRPr lang="fr-FR"/>
          </a:p>
        </p:txBody>
      </p:sp>
      <p:sp>
        <p:nvSpPr>
          <p:cNvPr id="28" name="forme"/>
          <p:cNvSpPr/>
          <p:nvPr/>
        </p:nvSpPr>
        <p:spPr>
          <a:xfrm>
            <a:off x="6477000" y="2032000"/>
            <a:ext cx="482600" cy="482600"/>
          </a:xfrm>
          <a:prstGeom prst="roundRect">
            <a:avLst>
              <a:gd name="adj" fmla="val 50000"/>
            </a:avLst>
          </a:prstGeom>
          <a:solidFill>
            <a:srgbClr val="1C3359"/>
          </a:solidFill>
          <a:ln>
            <a:noFill/>
          </a:ln>
          <a:effectLst/>
        </p:spPr>
        <p:txBody>
          <a:bodyPr/>
          <a:lstStyle/>
          <a:p>
            <a:endParaRPr lang="fr-FR"/>
          </a:p>
        </p:txBody>
      </p:sp>
      <p:sp>
        <p:nvSpPr>
          <p:cNvPr id="29" name="forme"/>
          <p:cNvSpPr/>
          <p:nvPr/>
        </p:nvSpPr>
        <p:spPr>
          <a:xfrm rot="2700000">
            <a:off x="6620429" y="2305924"/>
            <a:ext cx="77795" cy="30114"/>
          </a:xfrm>
          <a:prstGeom prst="roundRect">
            <a:avLst>
              <a:gd name="adj" fmla="val 50000"/>
            </a:avLst>
          </a:prstGeom>
          <a:solidFill>
            <a:srgbClr val="FFFFFF"/>
          </a:solidFill>
          <a:ln>
            <a:noFill/>
          </a:ln>
          <a:effectLst/>
        </p:spPr>
        <p:txBody>
          <a:bodyPr/>
          <a:lstStyle/>
          <a:p>
            <a:endParaRPr lang="fr-FR"/>
          </a:p>
        </p:txBody>
      </p:sp>
      <p:sp>
        <p:nvSpPr>
          <p:cNvPr id="30" name="forme"/>
          <p:cNvSpPr/>
          <p:nvPr/>
        </p:nvSpPr>
        <p:spPr>
          <a:xfrm rot="-2700000">
            <a:off x="6663091" y="2275810"/>
            <a:ext cx="163119" cy="30114"/>
          </a:xfrm>
          <a:prstGeom prst="roundRect">
            <a:avLst>
              <a:gd name="adj" fmla="val 50000"/>
            </a:avLst>
          </a:prstGeom>
          <a:solidFill>
            <a:srgbClr val="FFFFFF"/>
          </a:solidFill>
          <a:ln>
            <a:noFill/>
          </a:ln>
          <a:effectLst/>
        </p:spPr>
        <p:txBody>
          <a:bodyPr/>
          <a:lstStyle/>
          <a:p>
            <a:endParaRPr lang="fr-FR"/>
          </a:p>
        </p:txBody>
      </p:sp>
      <p:sp>
        <p:nvSpPr>
          <p:cNvPr id="31" name="forme"/>
          <p:cNvSpPr/>
          <p:nvPr/>
        </p:nvSpPr>
        <p:spPr>
          <a:xfrm>
            <a:off x="6477000" y="2641600"/>
            <a:ext cx="1993900" cy="431800"/>
          </a:xfrm>
          <a:prstGeom prst="rect">
            <a:avLst/>
          </a:prstGeom>
          <a:noFill/>
          <a:ln>
            <a:noFill/>
          </a:ln>
          <a:effectLst/>
        </p:spPr>
        <p:txBody>
          <a:bodyPr wrap="square" lIns="0" tIns="0" rIns="0" bIns="0" anchor="t">
            <a:noAutofit/>
          </a:bodyPr>
          <a:lstStyle/>
          <a:p>
            <a:pPr>
              <a:lnSpc>
                <a:spcPct val="106000"/>
              </a:lnSpc>
              <a:buNone/>
            </a:pPr>
            <a:r>
              <a:rPr lang="fr-FR" sz="1250" b="1" dirty="0">
                <a:solidFill>
                  <a:srgbClr val="1C3359"/>
                </a:solidFill>
                <a:latin typeface="Segoe UI"/>
                <a:cs typeface="Segoe UI"/>
              </a:rPr>
              <a:t>Fidélité de l'extraction</a:t>
            </a:r>
            <a:endParaRPr lang="fr-FR" sz="100"/>
          </a:p>
        </p:txBody>
      </p:sp>
      <p:sp>
        <p:nvSpPr>
          <p:cNvPr id="32" name="forme"/>
          <p:cNvSpPr/>
          <p:nvPr/>
        </p:nvSpPr>
        <p:spPr>
          <a:xfrm>
            <a:off x="6477000" y="3098800"/>
            <a:ext cx="1993900" cy="990600"/>
          </a:xfrm>
          <a:prstGeom prst="rect">
            <a:avLst/>
          </a:prstGeom>
          <a:noFill/>
          <a:ln>
            <a:noFill/>
          </a:ln>
          <a:effectLst/>
        </p:spPr>
        <p:txBody>
          <a:bodyPr wrap="square" lIns="0" tIns="0" rIns="0" bIns="0" anchor="t">
            <a:noAutofit/>
          </a:bodyPr>
          <a:lstStyle/>
          <a:p>
            <a:pPr>
              <a:lnSpc>
                <a:spcPct val="125000"/>
              </a:lnSpc>
              <a:buNone/>
            </a:pPr>
            <a:r>
              <a:rPr lang="fr-FR" sz="950" b="0" dirty="0">
                <a:solidFill>
                  <a:srgbClr val="4C5C72"/>
                </a:solidFill>
                <a:latin typeface="Segoe UI"/>
                <a:cs typeface="Segoe UI"/>
              </a:rPr>
              <a:t>Articles copiés mot à mot, références complètes, URL jamais inventée : « N/A » si l'information manque.</a:t>
            </a:r>
            <a:endParaRPr lang="fr-FR" sz="100"/>
          </a:p>
        </p:txBody>
      </p:sp>
      <p:sp>
        <p:nvSpPr>
          <p:cNvPr id="33" name="forme"/>
          <p:cNvSpPr/>
          <p:nvPr/>
        </p:nvSpPr>
        <p:spPr>
          <a:xfrm>
            <a:off x="8978900" y="1778000"/>
            <a:ext cx="2501900" cy="2489200"/>
          </a:xfrm>
          <a:prstGeom prst="roundRect">
            <a:avLst>
              <a:gd name="adj" fmla="val 12245"/>
            </a:avLst>
          </a:prstGeom>
          <a:solidFill>
            <a:srgbClr val="FFFFFF"/>
          </a:solidFill>
          <a:ln w="9525" cap="flat">
            <a:solidFill>
              <a:srgbClr val="DCE3EE"/>
            </a:solidFill>
            <a:prstDash val="solid"/>
            <a:flat/>
          </a:ln>
          <a:effectLst>
            <a:outerShdw blurRad="127000" dist="31750" dir="5400000" rotWithShape="0">
              <a:srgbClr val="0B1A30">
                <a:alpha val="8000"/>
              </a:srgbClr>
            </a:outerShdw>
          </a:effectLst>
        </p:spPr>
        <p:txBody>
          <a:bodyPr/>
          <a:lstStyle/>
          <a:p>
            <a:endParaRPr lang="fr-FR"/>
          </a:p>
        </p:txBody>
      </p:sp>
      <p:sp>
        <p:nvSpPr>
          <p:cNvPr id="34" name="forme"/>
          <p:cNvSpPr/>
          <p:nvPr/>
        </p:nvSpPr>
        <p:spPr>
          <a:xfrm>
            <a:off x="8978900" y="1778000"/>
            <a:ext cx="50800" cy="2489200"/>
          </a:xfrm>
          <a:prstGeom prst="roundRect">
            <a:avLst>
              <a:gd name="adj" fmla="val 50000"/>
            </a:avLst>
          </a:prstGeom>
          <a:solidFill>
            <a:srgbClr val="B6AD6E"/>
          </a:solidFill>
          <a:ln>
            <a:noFill/>
          </a:ln>
          <a:effectLst/>
        </p:spPr>
        <p:txBody>
          <a:bodyPr/>
          <a:lstStyle/>
          <a:p>
            <a:endParaRPr lang="fr-FR"/>
          </a:p>
        </p:txBody>
      </p:sp>
      <p:sp>
        <p:nvSpPr>
          <p:cNvPr id="35" name="forme"/>
          <p:cNvSpPr/>
          <p:nvPr/>
        </p:nvSpPr>
        <p:spPr>
          <a:xfrm>
            <a:off x="9232900" y="2032000"/>
            <a:ext cx="482600" cy="482600"/>
          </a:xfrm>
          <a:prstGeom prst="roundRect">
            <a:avLst>
              <a:gd name="adj" fmla="val 50000"/>
            </a:avLst>
          </a:prstGeom>
          <a:solidFill>
            <a:srgbClr val="1C3359"/>
          </a:solidFill>
          <a:ln>
            <a:noFill/>
          </a:ln>
          <a:effectLst/>
        </p:spPr>
        <p:txBody>
          <a:bodyPr/>
          <a:lstStyle/>
          <a:p>
            <a:endParaRPr lang="fr-FR"/>
          </a:p>
        </p:txBody>
      </p:sp>
      <p:sp>
        <p:nvSpPr>
          <p:cNvPr id="36" name="forme"/>
          <p:cNvSpPr/>
          <p:nvPr/>
        </p:nvSpPr>
        <p:spPr>
          <a:xfrm>
            <a:off x="9363781" y="2187976"/>
            <a:ext cx="220838" cy="195743"/>
          </a:xfrm>
          <a:prstGeom prst="rect">
            <a:avLst/>
          </a:prstGeom>
          <a:solidFill>
            <a:srgbClr val="FFFFFF"/>
          </a:solidFill>
          <a:ln>
            <a:noFill/>
          </a:ln>
          <a:effectLst/>
        </p:spPr>
        <p:txBody>
          <a:bodyPr/>
          <a:lstStyle/>
          <a:p>
            <a:endParaRPr lang="fr-FR"/>
          </a:p>
        </p:txBody>
      </p:sp>
      <p:sp>
        <p:nvSpPr>
          <p:cNvPr id="37" name="forme"/>
          <p:cNvSpPr/>
          <p:nvPr/>
        </p:nvSpPr>
        <p:spPr>
          <a:xfrm>
            <a:off x="9363781" y="2187976"/>
            <a:ext cx="220838" cy="45171"/>
          </a:xfrm>
          <a:prstGeom prst="rect">
            <a:avLst/>
          </a:prstGeom>
          <a:solidFill>
            <a:srgbClr val="1C3359"/>
          </a:solidFill>
          <a:ln>
            <a:noFill/>
          </a:ln>
          <a:effectLst/>
        </p:spPr>
        <p:txBody>
          <a:bodyPr/>
          <a:lstStyle/>
          <a:p>
            <a:endParaRPr lang="fr-FR"/>
          </a:p>
        </p:txBody>
      </p:sp>
      <p:sp>
        <p:nvSpPr>
          <p:cNvPr id="38" name="forme"/>
          <p:cNvSpPr/>
          <p:nvPr/>
        </p:nvSpPr>
        <p:spPr>
          <a:xfrm>
            <a:off x="9408952" y="2157862"/>
            <a:ext cx="27605" cy="55209"/>
          </a:xfrm>
          <a:prstGeom prst="roundRect">
            <a:avLst>
              <a:gd name="adj" fmla="val 50000"/>
            </a:avLst>
          </a:prstGeom>
          <a:solidFill>
            <a:srgbClr val="FFFFFF"/>
          </a:solidFill>
          <a:ln>
            <a:noFill/>
          </a:ln>
          <a:effectLst/>
        </p:spPr>
        <p:txBody>
          <a:bodyPr/>
          <a:lstStyle/>
          <a:p>
            <a:endParaRPr lang="fr-FR"/>
          </a:p>
        </p:txBody>
      </p:sp>
      <p:sp>
        <p:nvSpPr>
          <p:cNvPr id="39" name="forme"/>
          <p:cNvSpPr/>
          <p:nvPr/>
        </p:nvSpPr>
        <p:spPr>
          <a:xfrm>
            <a:off x="9511843" y="2157862"/>
            <a:ext cx="27605" cy="55209"/>
          </a:xfrm>
          <a:prstGeom prst="roundRect">
            <a:avLst>
              <a:gd name="adj" fmla="val 50000"/>
            </a:avLst>
          </a:prstGeom>
          <a:solidFill>
            <a:srgbClr val="FFFFFF"/>
          </a:solidFill>
          <a:ln>
            <a:noFill/>
          </a:ln>
          <a:effectLst/>
        </p:spPr>
        <p:txBody>
          <a:bodyPr/>
          <a:lstStyle/>
          <a:p>
            <a:endParaRPr lang="fr-FR"/>
          </a:p>
        </p:txBody>
      </p:sp>
      <p:sp>
        <p:nvSpPr>
          <p:cNvPr id="40" name="forme"/>
          <p:cNvSpPr/>
          <p:nvPr/>
        </p:nvSpPr>
        <p:spPr>
          <a:xfrm>
            <a:off x="9408952" y="2268281"/>
            <a:ext cx="37643" cy="27605"/>
          </a:xfrm>
          <a:prstGeom prst="rect">
            <a:avLst/>
          </a:prstGeom>
          <a:solidFill>
            <a:srgbClr val="1C3359"/>
          </a:solidFill>
          <a:ln>
            <a:noFill/>
          </a:ln>
          <a:effectLst/>
        </p:spPr>
        <p:txBody>
          <a:bodyPr/>
          <a:lstStyle/>
          <a:p>
            <a:endParaRPr lang="fr-FR"/>
          </a:p>
        </p:txBody>
      </p:sp>
      <p:sp>
        <p:nvSpPr>
          <p:cNvPr id="41" name="forme"/>
          <p:cNvSpPr/>
          <p:nvPr/>
        </p:nvSpPr>
        <p:spPr>
          <a:xfrm>
            <a:off x="9469181" y="2268281"/>
            <a:ext cx="37643" cy="27605"/>
          </a:xfrm>
          <a:prstGeom prst="rect">
            <a:avLst/>
          </a:prstGeom>
          <a:solidFill>
            <a:srgbClr val="1C3359"/>
          </a:solidFill>
          <a:ln>
            <a:noFill/>
          </a:ln>
          <a:effectLst/>
        </p:spPr>
        <p:txBody>
          <a:bodyPr/>
          <a:lstStyle/>
          <a:p>
            <a:endParaRPr lang="fr-FR"/>
          </a:p>
        </p:txBody>
      </p:sp>
      <p:sp>
        <p:nvSpPr>
          <p:cNvPr id="42" name="forme"/>
          <p:cNvSpPr/>
          <p:nvPr/>
        </p:nvSpPr>
        <p:spPr>
          <a:xfrm>
            <a:off x="9529409" y="2268281"/>
            <a:ext cx="12548" cy="27605"/>
          </a:xfrm>
          <a:prstGeom prst="rect">
            <a:avLst/>
          </a:prstGeom>
          <a:solidFill>
            <a:srgbClr val="1C3359"/>
          </a:solidFill>
          <a:ln>
            <a:noFill/>
          </a:ln>
          <a:effectLst/>
        </p:spPr>
        <p:txBody>
          <a:bodyPr/>
          <a:lstStyle/>
          <a:p>
            <a:endParaRPr lang="fr-FR"/>
          </a:p>
        </p:txBody>
      </p:sp>
      <p:sp>
        <p:nvSpPr>
          <p:cNvPr id="43" name="forme"/>
          <p:cNvSpPr/>
          <p:nvPr/>
        </p:nvSpPr>
        <p:spPr>
          <a:xfrm>
            <a:off x="9408952" y="2318471"/>
            <a:ext cx="37643" cy="27605"/>
          </a:xfrm>
          <a:prstGeom prst="rect">
            <a:avLst/>
          </a:prstGeom>
          <a:solidFill>
            <a:srgbClr val="1C3359"/>
          </a:solidFill>
          <a:ln>
            <a:noFill/>
          </a:ln>
          <a:effectLst/>
        </p:spPr>
        <p:txBody>
          <a:bodyPr/>
          <a:lstStyle/>
          <a:p>
            <a:endParaRPr lang="fr-FR"/>
          </a:p>
        </p:txBody>
      </p:sp>
      <p:sp>
        <p:nvSpPr>
          <p:cNvPr id="44" name="forme"/>
          <p:cNvSpPr/>
          <p:nvPr/>
        </p:nvSpPr>
        <p:spPr>
          <a:xfrm>
            <a:off x="9469181" y="2318471"/>
            <a:ext cx="37643" cy="27605"/>
          </a:xfrm>
          <a:prstGeom prst="rect">
            <a:avLst/>
          </a:prstGeom>
          <a:solidFill>
            <a:srgbClr val="1C3359"/>
          </a:solidFill>
          <a:ln>
            <a:noFill/>
          </a:ln>
          <a:effectLst/>
        </p:spPr>
        <p:txBody>
          <a:bodyPr/>
          <a:lstStyle/>
          <a:p>
            <a:endParaRPr lang="fr-FR"/>
          </a:p>
        </p:txBody>
      </p:sp>
      <p:sp>
        <p:nvSpPr>
          <p:cNvPr id="45" name="forme"/>
          <p:cNvSpPr/>
          <p:nvPr/>
        </p:nvSpPr>
        <p:spPr>
          <a:xfrm>
            <a:off x="9232900" y="2641600"/>
            <a:ext cx="1993900" cy="431800"/>
          </a:xfrm>
          <a:prstGeom prst="rect">
            <a:avLst/>
          </a:prstGeom>
          <a:noFill/>
          <a:ln>
            <a:noFill/>
          </a:ln>
          <a:effectLst/>
        </p:spPr>
        <p:txBody>
          <a:bodyPr wrap="square" lIns="0" tIns="0" rIns="0" bIns="0" anchor="t">
            <a:noAutofit/>
          </a:bodyPr>
          <a:lstStyle/>
          <a:p>
            <a:pPr>
              <a:lnSpc>
                <a:spcPct val="106000"/>
              </a:lnSpc>
              <a:buNone/>
            </a:pPr>
            <a:r>
              <a:rPr lang="fr-FR" sz="1250" b="1" dirty="0">
                <a:solidFill>
                  <a:srgbClr val="1C3359"/>
                </a:solidFill>
                <a:latin typeface="Segoe UI"/>
                <a:cs typeface="Segoe UI"/>
              </a:rPr>
              <a:t>Jalons &amp; fraîcheur</a:t>
            </a:r>
            <a:endParaRPr lang="fr-FR" sz="100"/>
          </a:p>
        </p:txBody>
      </p:sp>
      <p:sp>
        <p:nvSpPr>
          <p:cNvPr id="46" name="forme"/>
          <p:cNvSpPr/>
          <p:nvPr/>
        </p:nvSpPr>
        <p:spPr>
          <a:xfrm>
            <a:off x="9232900" y="3098800"/>
            <a:ext cx="1993900" cy="990600"/>
          </a:xfrm>
          <a:prstGeom prst="rect">
            <a:avLst/>
          </a:prstGeom>
          <a:noFill/>
          <a:ln>
            <a:noFill/>
          </a:ln>
          <a:effectLst/>
        </p:spPr>
        <p:txBody>
          <a:bodyPr wrap="square" lIns="0" tIns="0" rIns="0" bIns="0" anchor="t">
            <a:noAutofit/>
          </a:bodyPr>
          <a:lstStyle/>
          <a:p>
            <a:pPr>
              <a:lnSpc>
                <a:spcPct val="125000"/>
              </a:lnSpc>
              <a:buNone/>
            </a:pPr>
            <a:r>
              <a:rPr lang="fr-FR" sz="950" b="0" dirty="0">
                <a:solidFill>
                  <a:srgbClr val="4C5C72"/>
                </a:solidFill>
                <a:latin typeface="Segoe UI"/>
                <a:cs typeface="Segoe UI"/>
              </a:rPr>
              <a:t>Assignée le, validée le, rejetée le, en attente depuis N jours, dernière mise à jour et date d'application de l'outil.</a:t>
            </a:r>
            <a:endParaRPr lang="fr-FR" sz="100"/>
          </a:p>
        </p:txBody>
      </p:sp>
      <p:sp>
        <p:nvSpPr>
          <p:cNvPr id="47" name="forme"/>
          <p:cNvSpPr/>
          <p:nvPr/>
        </p:nvSpPr>
        <p:spPr>
          <a:xfrm>
            <a:off x="711200" y="4597400"/>
            <a:ext cx="10769600" cy="1422400"/>
          </a:xfrm>
          <a:prstGeom prst="roundRect">
            <a:avLst>
              <a:gd name="adj" fmla="val 21429"/>
            </a:avLst>
          </a:prstGeom>
          <a:solidFill>
            <a:srgbClr val="1C3359"/>
          </a:solidFill>
          <a:ln>
            <a:noFill/>
          </a:ln>
          <a:effectLst/>
        </p:spPr>
        <p:txBody>
          <a:bodyPr/>
          <a:lstStyle/>
          <a:p>
            <a:endParaRPr lang="fr-FR"/>
          </a:p>
        </p:txBody>
      </p:sp>
      <p:sp>
        <p:nvSpPr>
          <p:cNvPr id="48" name="forme"/>
          <p:cNvSpPr/>
          <p:nvPr/>
        </p:nvSpPr>
        <p:spPr>
          <a:xfrm>
            <a:off x="990600" y="5054600"/>
            <a:ext cx="508000" cy="508000"/>
          </a:xfrm>
          <a:prstGeom prst="roundRect">
            <a:avLst>
              <a:gd name="adj" fmla="val 50000"/>
            </a:avLst>
          </a:prstGeom>
          <a:solidFill>
            <a:srgbClr val="2C4A78"/>
          </a:solidFill>
          <a:ln>
            <a:noFill/>
          </a:ln>
          <a:effectLst/>
        </p:spPr>
        <p:txBody>
          <a:bodyPr/>
          <a:lstStyle/>
          <a:p>
            <a:endParaRPr lang="fr-FR"/>
          </a:p>
        </p:txBody>
      </p:sp>
      <p:sp>
        <p:nvSpPr>
          <p:cNvPr id="49" name="forme"/>
          <p:cNvSpPr/>
          <p:nvPr/>
        </p:nvSpPr>
        <p:spPr>
          <a:xfrm>
            <a:off x="1117803" y="5208219"/>
            <a:ext cx="253594" cy="68682"/>
          </a:xfrm>
          <a:prstGeom prst="parallelogram">
            <a:avLst>
              <a:gd name="adj" fmla="val 22000"/>
            </a:avLst>
          </a:prstGeom>
          <a:solidFill>
            <a:srgbClr val="FFFFFF"/>
          </a:solidFill>
          <a:ln>
            <a:noFill/>
          </a:ln>
          <a:effectLst/>
        </p:spPr>
        <p:txBody>
          <a:bodyPr/>
          <a:lstStyle/>
          <a:p>
            <a:endParaRPr lang="fr-FR"/>
          </a:p>
        </p:txBody>
      </p:sp>
      <p:sp>
        <p:nvSpPr>
          <p:cNvPr id="50" name="forme"/>
          <p:cNvSpPr/>
          <p:nvPr/>
        </p:nvSpPr>
        <p:spPr>
          <a:xfrm>
            <a:off x="1117803" y="5276901"/>
            <a:ext cx="253594" cy="68682"/>
          </a:xfrm>
          <a:prstGeom prst="parallelogram">
            <a:avLst>
              <a:gd name="adj" fmla="val 22000"/>
            </a:avLst>
          </a:prstGeom>
          <a:solidFill>
            <a:srgbClr val="FFFFFF"/>
          </a:solidFill>
          <a:ln>
            <a:noFill/>
          </a:ln>
          <a:effectLst/>
        </p:spPr>
        <p:txBody>
          <a:bodyPr/>
          <a:lstStyle/>
          <a:p>
            <a:endParaRPr lang="fr-FR"/>
          </a:p>
        </p:txBody>
      </p:sp>
      <p:sp>
        <p:nvSpPr>
          <p:cNvPr id="51" name="forme"/>
          <p:cNvSpPr/>
          <p:nvPr/>
        </p:nvSpPr>
        <p:spPr>
          <a:xfrm>
            <a:off x="1117803" y="5345582"/>
            <a:ext cx="253594" cy="68682"/>
          </a:xfrm>
          <a:prstGeom prst="parallelogram">
            <a:avLst>
              <a:gd name="adj" fmla="val 22000"/>
            </a:avLst>
          </a:prstGeom>
          <a:solidFill>
            <a:srgbClr val="FFFFFF"/>
          </a:solidFill>
          <a:ln>
            <a:noFill/>
          </a:ln>
          <a:effectLst/>
        </p:spPr>
        <p:txBody>
          <a:bodyPr/>
          <a:lstStyle/>
          <a:p>
            <a:endParaRPr lang="fr-FR"/>
          </a:p>
        </p:txBody>
      </p:sp>
      <p:sp>
        <p:nvSpPr>
          <p:cNvPr id="52" name="forme"/>
          <p:cNvSpPr/>
          <p:nvPr/>
        </p:nvSpPr>
        <p:spPr>
          <a:xfrm>
            <a:off x="1701800" y="4775200"/>
            <a:ext cx="9372600" cy="254000"/>
          </a:xfrm>
          <a:prstGeom prst="rect">
            <a:avLst/>
          </a:prstGeom>
          <a:noFill/>
          <a:ln>
            <a:noFill/>
          </a:ln>
          <a:effectLst/>
        </p:spPr>
        <p:txBody>
          <a:bodyPr wrap="square" lIns="0" tIns="0" rIns="0" bIns="0" anchor="t">
            <a:noAutofit/>
          </a:bodyPr>
          <a:lstStyle/>
          <a:p>
            <a:pPr>
              <a:buNone/>
            </a:pPr>
            <a:r>
              <a:rPr lang="fr-FR" sz="1150" b="1" dirty="0">
                <a:solidFill>
                  <a:srgbClr val="FFFFFF"/>
                </a:solidFill>
                <a:latin typeface="Segoe UI"/>
                <a:cs typeface="Segoe UI"/>
              </a:rPr>
              <a:t>Une fiche modifiée trois fois reste consultable dans chacun de ses états</a:t>
            </a:r>
            <a:endParaRPr lang="fr-FR" sz="100"/>
          </a:p>
        </p:txBody>
      </p:sp>
      <p:sp>
        <p:nvSpPr>
          <p:cNvPr id="53" name="forme"/>
          <p:cNvSpPr/>
          <p:nvPr/>
        </p:nvSpPr>
        <p:spPr>
          <a:xfrm>
            <a:off x="1701800" y="5054600"/>
            <a:ext cx="9372600" cy="228600"/>
          </a:xfrm>
          <a:prstGeom prst="rect">
            <a:avLst/>
          </a:prstGeom>
          <a:noFill/>
          <a:ln>
            <a:noFill/>
          </a:ln>
          <a:effectLst/>
        </p:spPr>
        <p:txBody>
          <a:bodyPr wrap="square" lIns="0" tIns="0" rIns="0" bIns="0" anchor="t">
            <a:noAutofit/>
          </a:bodyPr>
          <a:lstStyle/>
          <a:p>
            <a:pPr>
              <a:buNone/>
            </a:pPr>
            <a:r>
              <a:rPr lang="fr-FR" sz="1000" b="0" dirty="0">
                <a:solidFill>
                  <a:srgbClr val="C3D0E2"/>
                </a:solidFill>
                <a:latin typeface="Segoe UI"/>
                <a:cs typeface="Segoe UI"/>
              </a:rPr>
              <a:t>Auteur, date et détail des champs modifiés sont conservés à chaque version.</a:t>
            </a:r>
            <a:endParaRPr lang="fr-FR" sz="100"/>
          </a:p>
        </p:txBody>
      </p:sp>
      <p:sp>
        <p:nvSpPr>
          <p:cNvPr id="54" name="forme"/>
          <p:cNvSpPr/>
          <p:nvPr/>
        </p:nvSpPr>
        <p:spPr>
          <a:xfrm>
            <a:off x="1701800" y="5562600"/>
            <a:ext cx="9296400" cy="12700"/>
          </a:xfrm>
          <a:prstGeom prst="rect">
            <a:avLst/>
          </a:prstGeom>
          <a:solidFill>
            <a:srgbClr val="5D7093"/>
          </a:solidFill>
          <a:ln>
            <a:noFill/>
          </a:ln>
          <a:effectLst/>
        </p:spPr>
        <p:txBody>
          <a:bodyPr/>
          <a:lstStyle/>
          <a:p>
            <a:endParaRPr lang="fr-FR"/>
          </a:p>
        </p:txBody>
      </p:sp>
      <p:sp>
        <p:nvSpPr>
          <p:cNvPr id="55" name="forme"/>
          <p:cNvSpPr/>
          <p:nvPr/>
        </p:nvSpPr>
        <p:spPr>
          <a:xfrm>
            <a:off x="1701800" y="5384800"/>
            <a:ext cx="1367536" cy="355600"/>
          </a:xfrm>
          <a:prstGeom prst="roundRect">
            <a:avLst>
              <a:gd name="adj" fmla="val 50000"/>
            </a:avLst>
          </a:prstGeom>
          <a:solidFill>
            <a:srgbClr val="1C3359">
              <a:alpha val="100000"/>
            </a:srgbClr>
          </a:solidFill>
          <a:ln w="9525" cap="flat">
            <a:solidFill>
              <a:srgbClr val="B6AD6E">
                <a:alpha val="45000"/>
              </a:srgbClr>
            </a:solidFill>
            <a:prstDash val="solid"/>
            <a:flat/>
          </a:ln>
          <a:effectLst/>
        </p:spPr>
        <p:txBody>
          <a:bodyPr/>
          <a:lstStyle/>
          <a:p>
            <a:endParaRPr lang="fr-FR"/>
          </a:p>
        </p:txBody>
      </p:sp>
      <p:sp>
        <p:nvSpPr>
          <p:cNvPr id="56" name="forme"/>
          <p:cNvSpPr/>
          <p:nvPr/>
        </p:nvSpPr>
        <p:spPr>
          <a:xfrm>
            <a:off x="1701800" y="5384800"/>
            <a:ext cx="1367536" cy="355600"/>
          </a:xfrm>
          <a:prstGeom prst="rect">
            <a:avLst/>
          </a:prstGeom>
          <a:noFill/>
          <a:ln>
            <a:noFill/>
          </a:ln>
          <a:effectLst/>
        </p:spPr>
        <p:txBody>
          <a:bodyPr wrap="square" lIns="0" tIns="0" rIns="0" bIns="0" anchor="ctr">
            <a:noAutofit/>
          </a:bodyPr>
          <a:lstStyle/>
          <a:p>
            <a:pPr algn="ctr">
              <a:buNone/>
            </a:pPr>
            <a:r>
              <a:rPr lang="fr-FR" sz="900" b="1" dirty="0">
                <a:solidFill>
                  <a:srgbClr val="D5DFEE"/>
                </a:solidFill>
                <a:latin typeface="Segoe UI"/>
                <a:cs typeface="Segoe UI"/>
              </a:rPr>
              <a:t>Version 1 · figée</a:t>
            </a:r>
            <a:endParaRPr lang="fr-FR" sz="100"/>
          </a:p>
        </p:txBody>
      </p:sp>
      <p:sp>
        <p:nvSpPr>
          <p:cNvPr id="57" name="forme"/>
          <p:cNvSpPr/>
          <p:nvPr/>
        </p:nvSpPr>
        <p:spPr>
          <a:xfrm>
            <a:off x="3588173" y="5473700"/>
            <a:ext cx="165100" cy="177800"/>
          </a:xfrm>
          <a:prstGeom prst="chevron">
            <a:avLst/>
          </a:prstGeom>
          <a:solidFill>
            <a:srgbClr val="B6AD6E"/>
          </a:solidFill>
          <a:ln>
            <a:noFill/>
          </a:ln>
          <a:effectLst/>
        </p:spPr>
        <p:txBody>
          <a:bodyPr/>
          <a:lstStyle/>
          <a:p>
            <a:endParaRPr lang="fr-FR"/>
          </a:p>
        </p:txBody>
      </p:sp>
      <p:sp>
        <p:nvSpPr>
          <p:cNvPr id="58" name="forme"/>
          <p:cNvSpPr/>
          <p:nvPr/>
        </p:nvSpPr>
        <p:spPr>
          <a:xfrm>
            <a:off x="4259411" y="5384800"/>
            <a:ext cx="1559560" cy="355600"/>
          </a:xfrm>
          <a:prstGeom prst="roundRect">
            <a:avLst>
              <a:gd name="adj" fmla="val 50000"/>
            </a:avLst>
          </a:prstGeom>
          <a:solidFill>
            <a:srgbClr val="2C4A78">
              <a:alpha val="100000"/>
            </a:srgbClr>
          </a:solidFill>
          <a:ln w="9525" cap="flat">
            <a:solidFill>
              <a:srgbClr val="B6AD6E">
                <a:alpha val="100000"/>
              </a:srgbClr>
            </a:solidFill>
            <a:prstDash val="solid"/>
            <a:flat/>
          </a:ln>
          <a:effectLst/>
        </p:spPr>
        <p:txBody>
          <a:bodyPr/>
          <a:lstStyle/>
          <a:p>
            <a:endParaRPr lang="fr-FR"/>
          </a:p>
        </p:txBody>
      </p:sp>
      <p:sp>
        <p:nvSpPr>
          <p:cNvPr id="59" name="forme"/>
          <p:cNvSpPr/>
          <p:nvPr/>
        </p:nvSpPr>
        <p:spPr>
          <a:xfrm>
            <a:off x="4259411" y="5384800"/>
            <a:ext cx="1559560" cy="355600"/>
          </a:xfrm>
          <a:prstGeom prst="rect">
            <a:avLst/>
          </a:prstGeom>
          <a:noFill/>
          <a:ln>
            <a:noFill/>
          </a:ln>
          <a:effectLst/>
        </p:spPr>
        <p:txBody>
          <a:bodyPr wrap="square" lIns="0" tIns="0" rIns="0" bIns="0" anchor="ctr">
            <a:noAutofit/>
          </a:bodyPr>
          <a:lstStyle/>
          <a:p>
            <a:pPr algn="ctr">
              <a:buNone/>
            </a:pPr>
            <a:r>
              <a:rPr lang="fr-FR" sz="900" b="1" dirty="0">
                <a:solidFill>
                  <a:srgbClr val="B6AD6E"/>
                </a:solidFill>
                <a:latin typeface="Segoe UI"/>
                <a:cs typeface="Segoe UI"/>
              </a:rPr>
              <a:t>Version 2 · courante</a:t>
            </a:r>
            <a:endParaRPr lang="fr-FR" sz="100"/>
          </a:p>
        </p:txBody>
      </p:sp>
      <p:sp>
        <p:nvSpPr>
          <p:cNvPr id="60" name="forme"/>
          <p:cNvSpPr/>
          <p:nvPr/>
        </p:nvSpPr>
        <p:spPr>
          <a:xfrm>
            <a:off x="6337808" y="5473700"/>
            <a:ext cx="165100" cy="177800"/>
          </a:xfrm>
          <a:prstGeom prst="chevron">
            <a:avLst/>
          </a:prstGeom>
          <a:solidFill>
            <a:srgbClr val="B6AD6E"/>
          </a:solidFill>
          <a:ln>
            <a:noFill/>
          </a:ln>
          <a:effectLst/>
        </p:spPr>
        <p:txBody>
          <a:bodyPr/>
          <a:lstStyle/>
          <a:p>
            <a:endParaRPr lang="fr-FR"/>
          </a:p>
        </p:txBody>
      </p:sp>
      <p:sp>
        <p:nvSpPr>
          <p:cNvPr id="61" name="forme"/>
          <p:cNvSpPr/>
          <p:nvPr/>
        </p:nvSpPr>
        <p:spPr>
          <a:xfrm>
            <a:off x="7009045" y="5384800"/>
            <a:ext cx="1559560" cy="355600"/>
          </a:xfrm>
          <a:prstGeom prst="roundRect">
            <a:avLst>
              <a:gd name="adj" fmla="val 50000"/>
            </a:avLst>
          </a:prstGeom>
          <a:solidFill>
            <a:srgbClr val="1C3359">
              <a:alpha val="100000"/>
            </a:srgbClr>
          </a:solidFill>
          <a:ln w="9525" cap="flat">
            <a:solidFill>
              <a:srgbClr val="B6AD6E">
                <a:alpha val="45000"/>
              </a:srgbClr>
            </a:solidFill>
            <a:prstDash val="solid"/>
            <a:flat/>
          </a:ln>
          <a:effectLst/>
        </p:spPr>
        <p:txBody>
          <a:bodyPr/>
          <a:lstStyle/>
          <a:p>
            <a:endParaRPr lang="fr-FR"/>
          </a:p>
        </p:txBody>
      </p:sp>
      <p:sp>
        <p:nvSpPr>
          <p:cNvPr id="62" name="forme"/>
          <p:cNvSpPr/>
          <p:nvPr/>
        </p:nvSpPr>
        <p:spPr>
          <a:xfrm>
            <a:off x="7009045" y="5384800"/>
            <a:ext cx="1559560" cy="355600"/>
          </a:xfrm>
          <a:prstGeom prst="rect">
            <a:avLst/>
          </a:prstGeom>
          <a:noFill/>
          <a:ln>
            <a:noFill/>
          </a:ln>
          <a:effectLst/>
        </p:spPr>
        <p:txBody>
          <a:bodyPr wrap="square" lIns="0" tIns="0" rIns="0" bIns="0" anchor="ctr">
            <a:noAutofit/>
          </a:bodyPr>
          <a:lstStyle/>
          <a:p>
            <a:pPr algn="ctr">
              <a:buNone/>
            </a:pPr>
            <a:r>
              <a:rPr lang="fr-FR" sz="900" b="1" dirty="0">
                <a:solidFill>
                  <a:srgbClr val="D5DFEE"/>
                </a:solidFill>
                <a:latin typeface="Segoe UI"/>
                <a:cs typeface="Segoe UI"/>
              </a:rPr>
              <a:t>Version 3 · en cours</a:t>
            </a:r>
            <a:endParaRPr lang="fr-FR" sz="100"/>
          </a:p>
        </p:txBody>
      </p:sp>
      <p:sp>
        <p:nvSpPr>
          <p:cNvPr id="63" name="forme"/>
          <p:cNvSpPr/>
          <p:nvPr/>
        </p:nvSpPr>
        <p:spPr>
          <a:xfrm>
            <a:off x="9087443" y="5473700"/>
            <a:ext cx="165100" cy="177800"/>
          </a:xfrm>
          <a:prstGeom prst="chevron">
            <a:avLst/>
          </a:prstGeom>
          <a:solidFill>
            <a:srgbClr val="B6AD6E"/>
          </a:solidFill>
          <a:ln>
            <a:noFill/>
          </a:ln>
          <a:effectLst/>
        </p:spPr>
        <p:txBody>
          <a:bodyPr/>
          <a:lstStyle/>
          <a:p>
            <a:endParaRPr lang="fr-FR"/>
          </a:p>
        </p:txBody>
      </p:sp>
      <p:sp>
        <p:nvSpPr>
          <p:cNvPr id="64" name="forme"/>
          <p:cNvSpPr/>
          <p:nvPr/>
        </p:nvSpPr>
        <p:spPr>
          <a:xfrm>
            <a:off x="9758680" y="5384800"/>
            <a:ext cx="1239520" cy="355600"/>
          </a:xfrm>
          <a:prstGeom prst="roundRect">
            <a:avLst>
              <a:gd name="adj" fmla="val 50000"/>
            </a:avLst>
          </a:prstGeom>
          <a:solidFill>
            <a:srgbClr val="1C3359">
              <a:alpha val="100000"/>
            </a:srgbClr>
          </a:solidFill>
          <a:ln w="9525" cap="flat">
            <a:solidFill>
              <a:srgbClr val="B6AD6E">
                <a:alpha val="45000"/>
              </a:srgbClr>
            </a:solidFill>
            <a:prstDash val="solid"/>
            <a:flat/>
          </a:ln>
          <a:effectLst/>
        </p:spPr>
        <p:txBody>
          <a:bodyPr/>
          <a:lstStyle/>
          <a:p>
            <a:endParaRPr lang="fr-FR"/>
          </a:p>
        </p:txBody>
      </p:sp>
      <p:sp>
        <p:nvSpPr>
          <p:cNvPr id="65" name="forme"/>
          <p:cNvSpPr/>
          <p:nvPr/>
        </p:nvSpPr>
        <p:spPr>
          <a:xfrm>
            <a:off x="9758680" y="5384800"/>
            <a:ext cx="1239520" cy="355600"/>
          </a:xfrm>
          <a:prstGeom prst="rect">
            <a:avLst/>
          </a:prstGeom>
          <a:noFill/>
          <a:ln>
            <a:noFill/>
          </a:ln>
          <a:effectLst/>
        </p:spPr>
        <p:txBody>
          <a:bodyPr wrap="square" lIns="0" tIns="0" rIns="0" bIns="0" anchor="ctr">
            <a:noAutofit/>
          </a:bodyPr>
          <a:lstStyle/>
          <a:p>
            <a:pPr algn="ctr">
              <a:buNone/>
            </a:pPr>
            <a:r>
              <a:rPr lang="fr-FR" sz="900" b="1" dirty="0">
                <a:solidFill>
                  <a:srgbClr val="D5DFEE"/>
                </a:solidFill>
                <a:latin typeface="Segoe UI"/>
                <a:cs typeface="Segoe UI"/>
              </a:rPr>
              <a:t>Journal complet</a:t>
            </a:r>
            <a:endParaRPr lang="fr-FR" sz="100"/>
          </a:p>
        </p:txBody>
      </p:sp>
      <p:sp>
        <p:nvSpPr>
          <p:cNvPr id="66" name="forme"/>
          <p:cNvSpPr/>
          <p:nvPr/>
        </p:nvSpPr>
        <p:spPr>
          <a:xfrm>
            <a:off x="711200" y="6400800"/>
            <a:ext cx="10769600" cy="9525"/>
          </a:xfrm>
          <a:prstGeom prst="rect">
            <a:avLst/>
          </a:prstGeom>
          <a:solidFill>
            <a:srgbClr val="DCE3EE"/>
          </a:solidFill>
          <a:ln>
            <a:noFill/>
          </a:ln>
          <a:effectLst/>
        </p:spPr>
        <p:txBody>
          <a:bodyPr/>
          <a:lstStyle/>
          <a:p>
            <a:endParaRPr lang="fr-FR"/>
          </a:p>
        </p:txBody>
      </p:sp>
      <p:sp>
        <p:nvSpPr>
          <p:cNvPr id="67" name="forme"/>
          <p:cNvSpPr/>
          <p:nvPr/>
        </p:nvSpPr>
        <p:spPr>
          <a:xfrm>
            <a:off x="711200" y="6489700"/>
            <a:ext cx="7112000" cy="152400"/>
          </a:xfrm>
          <a:prstGeom prst="rect">
            <a:avLst/>
          </a:prstGeom>
          <a:noFill/>
          <a:ln>
            <a:noFill/>
          </a:ln>
          <a:effectLst/>
        </p:spPr>
        <p:txBody>
          <a:bodyPr wrap="square" lIns="0" tIns="0" rIns="0" bIns="0" anchor="t">
            <a:noAutofit/>
          </a:bodyPr>
          <a:lstStyle/>
          <a:p>
            <a:pPr>
              <a:buNone/>
            </a:pPr>
            <a:r>
              <a:rPr lang="fr-FR" sz="850" b="1" dirty="0">
                <a:solidFill>
                  <a:srgbClr val="8494AB"/>
                </a:solidFill>
                <a:latin typeface="Segoe UI"/>
                <a:cs typeface="Segoe UI"/>
              </a:rPr>
              <a:t>AGL JuriCompliance</a:t>
            </a:r>
            <a:r>
              <a:rPr lang="fr-FR" sz="850" b="0" dirty="0">
                <a:solidFill>
                  <a:srgbClr val="8494AB"/>
                </a:solidFill>
                <a:latin typeface="Segoe UI"/>
                <a:cs typeface="Segoe UI"/>
              </a:rPr>
              <a:t>  ·  Veille réglementaire assistée par IA  ·  Prototype</a:t>
            </a:r>
            <a:endParaRPr lang="fr-FR" sz="100"/>
          </a:p>
        </p:txBody>
      </p:sp>
      <p:sp>
        <p:nvSpPr>
          <p:cNvPr id="68" name="forme"/>
          <p:cNvSpPr/>
          <p:nvPr/>
        </p:nvSpPr>
        <p:spPr>
          <a:xfrm>
            <a:off x="9448800" y="6489700"/>
            <a:ext cx="2032000" cy="152400"/>
          </a:xfrm>
          <a:prstGeom prst="rect">
            <a:avLst/>
          </a:prstGeom>
          <a:noFill/>
          <a:ln>
            <a:noFill/>
          </a:ln>
          <a:effectLst/>
        </p:spPr>
        <p:txBody>
          <a:bodyPr wrap="square" lIns="0" tIns="0" rIns="0" bIns="0" anchor="t">
            <a:noAutofit/>
          </a:bodyPr>
          <a:lstStyle/>
          <a:p>
            <a:pPr algn="r">
              <a:buNone/>
            </a:pPr>
            <a:r>
              <a:rPr lang="fr-FR" sz="850" b="1" dirty="0">
                <a:solidFill>
                  <a:srgbClr val="1C3359"/>
                </a:solidFill>
                <a:latin typeface="Segoe UI"/>
                <a:cs typeface="Segoe UI"/>
              </a:rPr>
              <a:t>5 / 6</a:t>
            </a:r>
            <a:endParaRPr lang="fr-FR" sz="100"/>
          </a:p>
        </p:txBody>
      </p:sp>
    </p:spTree>
  </p:cSld>
  <p:clrMapOvr>
    <a:masterClrMapping/>
  </p:clrMapOvr>
  <mc:AlternateContent>
    <mc:Choice Requires="p14 p159">
      <p:transition spd="slow" p14:dur="9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xmlns:p159="http://schemas.microsoft.com/office/powerpoint/2015/09/main">
  <p:cSld>
    <p:bg>
      <p:bgPr>
        <a:solidFill>
          <a:srgbClr val="FFFFFF"/>
        </a:solidFill>
        <a:effectLst/>
      </p:bgPr>
    </p:bg>
    <p:spTree>
      <p:nvGrpSpPr>
        <p:cNvPr id="1" name=""/>
        <p:cNvGrpSpPr/>
        <p:nvPr/>
      </p:nvGrpSpPr>
      <p:grpSpPr>
        <a:xfrm>
          <a:off x="0" y="0"/>
          <a:ext cx="0" cy="0"/>
          <a:chOff x="0" y="0"/>
          <a:chExt cx="0" cy="0"/>
        </a:xfrm>
      </p:grpSpPr>
      <p:sp>
        <p:nvSpPr>
          <p:cNvPr id="2" name="forme"/>
          <p:cNvSpPr/>
          <p:nvPr/>
        </p:nvSpPr>
        <p:spPr>
          <a:xfrm>
            <a:off x="0" y="0"/>
            <a:ext cx="12192000" cy="1168400"/>
          </a:xfrm>
          <a:prstGeom prst="rect">
            <a:avLst/>
          </a:prstGeom>
          <a:solidFill>
            <a:srgbClr val="1C3359"/>
          </a:solidFill>
          <a:ln>
            <a:noFill/>
          </a:ln>
          <a:effectLst/>
        </p:spPr>
        <p:txBody>
          <a:bodyPr/>
          <a:lstStyle/>
          <a:p>
            <a:endParaRPr lang="fr-FR"/>
          </a:p>
        </p:txBody>
      </p:sp>
      <p:sp>
        <p:nvSpPr>
          <p:cNvPr id="3" name="forme"/>
          <p:cNvSpPr/>
          <p:nvPr/>
        </p:nvSpPr>
        <p:spPr>
          <a:xfrm>
            <a:off x="0" y="1168400"/>
            <a:ext cx="12192000" cy="38100"/>
          </a:xfrm>
          <a:prstGeom prst="rect">
            <a:avLst/>
          </a:prstGeom>
          <a:solidFill>
            <a:srgbClr val="B6AD6E"/>
          </a:solidFill>
          <a:ln>
            <a:noFill/>
          </a:ln>
          <a:effectLst/>
        </p:spPr>
        <p:txBody>
          <a:bodyPr/>
          <a:lstStyle/>
          <a:p>
            <a:endParaRPr lang="fr-FR"/>
          </a:p>
        </p:txBody>
      </p:sp>
      <p:sp>
        <p:nvSpPr>
          <p:cNvPr id="4" name="forme"/>
          <p:cNvSpPr/>
          <p:nvPr/>
        </p:nvSpPr>
        <p:spPr>
          <a:xfrm>
            <a:off x="330200" y="342900"/>
            <a:ext cx="482600" cy="482600"/>
          </a:xfrm>
          <a:prstGeom prst="ellipse">
            <a:avLst/>
          </a:prstGeom>
          <a:noFill/>
          <a:ln w="15875" cap="flat">
            <a:solidFill>
              <a:srgbClr val="B6AD6E"/>
            </a:solidFill>
            <a:prstDash val="solid"/>
            <a:flat/>
          </a:ln>
          <a:effectLst/>
        </p:spPr>
        <p:txBody>
          <a:bodyPr/>
          <a:lstStyle/>
          <a:p>
            <a:endParaRPr lang="fr-FR"/>
          </a:p>
        </p:txBody>
      </p:sp>
      <p:sp>
        <p:nvSpPr>
          <p:cNvPr id="5" name="forme"/>
          <p:cNvSpPr/>
          <p:nvPr/>
        </p:nvSpPr>
        <p:spPr>
          <a:xfrm>
            <a:off x="330200" y="342900"/>
            <a:ext cx="482600" cy="482600"/>
          </a:xfrm>
          <a:prstGeom prst="rect">
            <a:avLst/>
          </a:prstGeom>
          <a:noFill/>
          <a:ln>
            <a:noFill/>
          </a:ln>
          <a:effectLst/>
        </p:spPr>
        <p:txBody>
          <a:bodyPr wrap="square" lIns="0" tIns="0" rIns="0" bIns="0" anchor="ctr">
            <a:noAutofit/>
          </a:bodyPr>
          <a:lstStyle/>
          <a:p>
            <a:pPr algn="ctr">
              <a:buNone/>
            </a:pPr>
            <a:r>
              <a:rPr lang="fr-FR" sz="1500" b="1" dirty="0">
                <a:solidFill>
                  <a:srgbClr val="B6AD6E"/>
                </a:solidFill>
                <a:latin typeface="Segoe UI"/>
                <a:cs typeface="Segoe UI"/>
              </a:rPr>
              <a:t>05</a:t>
            </a:r>
            <a:endParaRPr lang="fr-FR" sz="100"/>
          </a:p>
        </p:txBody>
      </p:sp>
      <p:sp>
        <p:nvSpPr>
          <p:cNvPr id="6" name="forme"/>
          <p:cNvSpPr/>
          <p:nvPr/>
        </p:nvSpPr>
        <p:spPr>
          <a:xfrm>
            <a:off x="1066800" y="228600"/>
            <a:ext cx="8128000" cy="177800"/>
          </a:xfrm>
          <a:prstGeom prst="rect">
            <a:avLst/>
          </a:prstGeom>
          <a:noFill/>
          <a:ln>
            <a:noFill/>
          </a:ln>
          <a:effectLst/>
        </p:spPr>
        <p:txBody>
          <a:bodyPr wrap="square" lIns="0" tIns="0" rIns="0" bIns="0" anchor="t">
            <a:noAutofit/>
          </a:bodyPr>
          <a:lstStyle/>
          <a:p>
            <a:pPr>
              <a:buNone/>
            </a:pPr>
            <a:r>
              <a:rPr lang="fr-FR" sz="900" b="1" cap="all" spc="140" dirty="0">
                <a:solidFill>
                  <a:srgbClr val="B6AD6E"/>
                </a:solidFill>
                <a:latin typeface="Segoe UI"/>
                <a:cs typeface="Segoe UI"/>
              </a:rPr>
              <a:t>Perspectives</a:t>
            </a:r>
            <a:endParaRPr lang="fr-FR" sz="100"/>
          </a:p>
        </p:txBody>
      </p:sp>
      <p:sp>
        <p:nvSpPr>
          <p:cNvPr id="7" name="forme"/>
          <p:cNvSpPr/>
          <p:nvPr/>
        </p:nvSpPr>
        <p:spPr>
          <a:xfrm>
            <a:off x="1066800" y="457200"/>
            <a:ext cx="8890000" cy="508000"/>
          </a:xfrm>
          <a:prstGeom prst="rect">
            <a:avLst/>
          </a:prstGeom>
          <a:noFill/>
          <a:ln>
            <a:noFill/>
          </a:ln>
          <a:effectLst/>
        </p:spPr>
        <p:txBody>
          <a:bodyPr wrap="square" lIns="0" tIns="0" rIns="0" bIns="0" anchor="t">
            <a:noAutofit/>
          </a:bodyPr>
          <a:lstStyle/>
          <a:p>
            <a:pPr>
              <a:buNone/>
            </a:pPr>
            <a:r>
              <a:rPr lang="fr-FR" sz="2400" b="1" dirty="0">
                <a:solidFill>
                  <a:srgbClr val="FFFFFF"/>
                </a:solidFill>
                <a:latin typeface="Segoe UI"/>
                <a:cs typeface="Segoe UI"/>
              </a:rPr>
              <a:t>Cap sur Microsoft : déjà préparé</a:t>
            </a:r>
            <a:endParaRPr lang="fr-FR" sz="100"/>
          </a:p>
        </p:txBody>
      </p:sp>
      <p:pic>
        <p:nvPicPr>
          <p:cNvPr id="8" name="image"/>
          <p:cNvPicPr>
            <a:picLocks noChangeAspect="1"/>
          </p:cNvPicPr>
          <p:nvPr/>
        </p:nvPicPr>
        <p:blipFill>
          <a:blip r:embed="rId2"/>
          <a:stretch>
            <a:fillRect/>
          </a:stretch>
        </p:blipFill>
        <p:spPr>
          <a:xfrm>
            <a:off x="10629900" y="381000"/>
            <a:ext cx="850900" cy="406400"/>
          </a:xfrm>
          <a:prstGeom prst="rect">
            <a:avLst/>
          </a:prstGeom>
        </p:spPr>
      </p:pic>
      <p:sp>
        <p:nvSpPr>
          <p:cNvPr id="9" name="forme"/>
          <p:cNvSpPr/>
          <p:nvPr/>
        </p:nvSpPr>
        <p:spPr>
          <a:xfrm>
            <a:off x="711200" y="1778000"/>
            <a:ext cx="6604000" cy="3708400"/>
          </a:xfrm>
          <a:prstGeom prst="roundRect">
            <a:avLst>
              <a:gd name="adj" fmla="val 8219"/>
            </a:avLst>
          </a:prstGeom>
          <a:solidFill>
            <a:srgbClr val="FFFFFF"/>
          </a:solidFill>
          <a:ln w="9525" cap="flat">
            <a:solidFill>
              <a:srgbClr val="DCE3EE"/>
            </a:solidFill>
            <a:prstDash val="solid"/>
            <a:flat/>
          </a:ln>
          <a:effectLst>
            <a:outerShdw blurRad="127000" dist="31750" dir="5400000" rotWithShape="0">
              <a:srgbClr val="0B1A30">
                <a:alpha val="8000"/>
              </a:srgbClr>
            </a:outerShdw>
          </a:effectLst>
        </p:spPr>
        <p:txBody>
          <a:bodyPr/>
          <a:lstStyle/>
          <a:p>
            <a:endParaRPr lang="fr-FR"/>
          </a:p>
        </p:txBody>
      </p:sp>
      <p:sp>
        <p:nvSpPr>
          <p:cNvPr id="10" name="forme"/>
          <p:cNvSpPr/>
          <p:nvPr/>
        </p:nvSpPr>
        <p:spPr>
          <a:xfrm>
            <a:off x="990600" y="2057400"/>
            <a:ext cx="508000" cy="508000"/>
          </a:xfrm>
          <a:prstGeom prst="roundRect">
            <a:avLst>
              <a:gd name="adj" fmla="val 50000"/>
            </a:avLst>
          </a:prstGeom>
          <a:solidFill>
            <a:srgbClr val="1C3359"/>
          </a:solidFill>
          <a:ln>
            <a:noFill/>
          </a:ln>
          <a:effectLst/>
        </p:spPr>
        <p:txBody>
          <a:bodyPr/>
          <a:lstStyle/>
          <a:p>
            <a:endParaRPr lang="fr-FR"/>
          </a:p>
        </p:txBody>
      </p:sp>
      <p:sp>
        <p:nvSpPr>
          <p:cNvPr id="11" name="forme"/>
          <p:cNvSpPr/>
          <p:nvPr/>
        </p:nvSpPr>
        <p:spPr>
          <a:xfrm>
            <a:off x="1117803" y="2226869"/>
            <a:ext cx="253594" cy="169062"/>
          </a:xfrm>
          <a:prstGeom prst="cloud">
            <a:avLst/>
          </a:prstGeom>
          <a:solidFill>
            <a:srgbClr val="FFFFFF"/>
          </a:solidFill>
          <a:ln>
            <a:noFill/>
          </a:ln>
          <a:effectLst/>
        </p:spPr>
        <p:txBody>
          <a:bodyPr/>
          <a:lstStyle/>
          <a:p>
            <a:endParaRPr lang="fr-FR"/>
          </a:p>
        </p:txBody>
      </p:sp>
      <p:sp>
        <p:nvSpPr>
          <p:cNvPr id="12" name="forme"/>
          <p:cNvSpPr/>
          <p:nvPr/>
        </p:nvSpPr>
        <p:spPr>
          <a:xfrm>
            <a:off x="1701800" y="2057400"/>
            <a:ext cx="5334000" cy="508000"/>
          </a:xfrm>
          <a:prstGeom prst="rect">
            <a:avLst/>
          </a:prstGeom>
          <a:noFill/>
          <a:ln>
            <a:noFill/>
          </a:ln>
          <a:effectLst/>
        </p:spPr>
        <p:txBody>
          <a:bodyPr wrap="square" lIns="0" tIns="0" rIns="0" bIns="0" anchor="ctr">
            <a:noAutofit/>
          </a:bodyPr>
          <a:lstStyle/>
          <a:p>
            <a:pPr>
              <a:buNone/>
            </a:pPr>
            <a:r>
              <a:rPr lang="fr-FR" sz="1300" b="1" dirty="0">
                <a:solidFill>
                  <a:srgbClr val="1C3359"/>
                </a:solidFill>
                <a:latin typeface="Segoe UI"/>
                <a:cs typeface="Segoe UI"/>
              </a:rPr>
              <a:t>Déjà prêt pour Power Pages</a:t>
            </a:r>
            <a:endParaRPr lang="fr-FR" sz="100"/>
          </a:p>
          <a:p>
            <a:pPr>
              <a:buNone/>
            </a:pPr>
            <a:r>
              <a:rPr lang="fr-FR" sz="1300" b="1" dirty="0">
                <a:solidFill>
                  <a:srgbClr val="1C3359"/>
                </a:solidFill>
                <a:latin typeface="Segoe UI"/>
                <a:cs typeface="Segoe UI"/>
              </a:rPr>
              <a:t>et Dataverse</a:t>
            </a:r>
            <a:endParaRPr lang="fr-FR" sz="100"/>
          </a:p>
        </p:txBody>
      </p:sp>
      <p:sp>
        <p:nvSpPr>
          <p:cNvPr id="13" name="forme"/>
          <p:cNvSpPr/>
          <p:nvPr/>
        </p:nvSpPr>
        <p:spPr>
          <a:xfrm rot="2700000">
            <a:off x="1036955" y="2926715"/>
            <a:ext cx="59055" cy="22860"/>
          </a:xfrm>
          <a:prstGeom prst="roundRect">
            <a:avLst>
              <a:gd name="adj" fmla="val 50000"/>
            </a:avLst>
          </a:prstGeom>
          <a:solidFill>
            <a:srgbClr val="2F7D5B"/>
          </a:solidFill>
          <a:ln>
            <a:noFill/>
          </a:ln>
          <a:effectLst/>
        </p:spPr>
        <p:txBody>
          <a:bodyPr/>
          <a:lstStyle/>
          <a:p>
            <a:endParaRPr lang="fr-FR"/>
          </a:p>
        </p:txBody>
      </p:sp>
      <p:sp>
        <p:nvSpPr>
          <p:cNvPr id="14" name="forme"/>
          <p:cNvSpPr/>
          <p:nvPr/>
        </p:nvSpPr>
        <p:spPr>
          <a:xfrm rot="-2700000">
            <a:off x="1069340" y="2903855"/>
            <a:ext cx="123825" cy="22860"/>
          </a:xfrm>
          <a:prstGeom prst="roundRect">
            <a:avLst>
              <a:gd name="adj" fmla="val 50000"/>
            </a:avLst>
          </a:prstGeom>
          <a:solidFill>
            <a:srgbClr val="2F7D5B"/>
          </a:solidFill>
          <a:ln>
            <a:noFill/>
          </a:ln>
          <a:effectLst/>
        </p:spPr>
        <p:txBody>
          <a:bodyPr/>
          <a:lstStyle/>
          <a:p>
            <a:endParaRPr lang="fr-FR"/>
          </a:p>
        </p:txBody>
      </p:sp>
      <p:sp>
        <p:nvSpPr>
          <p:cNvPr id="15" name="forme"/>
          <p:cNvSpPr/>
          <p:nvPr/>
        </p:nvSpPr>
        <p:spPr>
          <a:xfrm>
            <a:off x="1346200" y="2794000"/>
            <a:ext cx="5638800" cy="431800"/>
          </a:xfrm>
          <a:prstGeom prst="rect">
            <a:avLst/>
          </a:prstGeom>
          <a:noFill/>
          <a:ln>
            <a:noFill/>
          </a:ln>
          <a:effectLst/>
        </p:spPr>
        <p:txBody>
          <a:bodyPr wrap="square" lIns="0" tIns="0" rIns="0" bIns="0" anchor="ctr">
            <a:noAutofit/>
          </a:bodyPr>
          <a:lstStyle/>
          <a:p>
            <a:pPr>
              <a:lnSpc>
                <a:spcPct val="125000"/>
              </a:lnSpc>
              <a:buNone/>
            </a:pPr>
            <a:r>
              <a:rPr lang="fr-FR" sz="1000" b="0" dirty="0">
                <a:solidFill>
                  <a:srgbClr val="4C5C72"/>
                </a:solidFill>
                <a:latin typeface="Segoe UI"/>
                <a:cs typeface="Segoe UI"/>
              </a:rPr>
              <a:t>7 tables + 4 listes de choix décrites et mappées dans le code</a:t>
            </a:r>
            <a:endParaRPr lang="fr-FR" sz="100"/>
          </a:p>
        </p:txBody>
      </p:sp>
      <p:sp>
        <p:nvSpPr>
          <p:cNvPr id="16" name="forme"/>
          <p:cNvSpPr/>
          <p:nvPr/>
        </p:nvSpPr>
        <p:spPr>
          <a:xfrm rot="2700000">
            <a:off x="1036955" y="3434715"/>
            <a:ext cx="59055" cy="22860"/>
          </a:xfrm>
          <a:prstGeom prst="roundRect">
            <a:avLst>
              <a:gd name="adj" fmla="val 50000"/>
            </a:avLst>
          </a:prstGeom>
          <a:solidFill>
            <a:srgbClr val="2F7D5B"/>
          </a:solidFill>
          <a:ln>
            <a:noFill/>
          </a:ln>
          <a:effectLst/>
        </p:spPr>
        <p:txBody>
          <a:bodyPr/>
          <a:lstStyle/>
          <a:p>
            <a:endParaRPr lang="fr-FR"/>
          </a:p>
        </p:txBody>
      </p:sp>
      <p:sp>
        <p:nvSpPr>
          <p:cNvPr id="17" name="forme"/>
          <p:cNvSpPr/>
          <p:nvPr/>
        </p:nvSpPr>
        <p:spPr>
          <a:xfrm rot="-2700000">
            <a:off x="1069340" y="3411855"/>
            <a:ext cx="123825" cy="22860"/>
          </a:xfrm>
          <a:prstGeom prst="roundRect">
            <a:avLst>
              <a:gd name="adj" fmla="val 50000"/>
            </a:avLst>
          </a:prstGeom>
          <a:solidFill>
            <a:srgbClr val="2F7D5B"/>
          </a:solidFill>
          <a:ln>
            <a:noFill/>
          </a:ln>
          <a:effectLst/>
        </p:spPr>
        <p:txBody>
          <a:bodyPr/>
          <a:lstStyle/>
          <a:p>
            <a:endParaRPr lang="fr-FR"/>
          </a:p>
        </p:txBody>
      </p:sp>
      <p:sp>
        <p:nvSpPr>
          <p:cNvPr id="18" name="forme"/>
          <p:cNvSpPr/>
          <p:nvPr/>
        </p:nvSpPr>
        <p:spPr>
          <a:xfrm>
            <a:off x="1346200" y="3302000"/>
            <a:ext cx="5638800" cy="431800"/>
          </a:xfrm>
          <a:prstGeom prst="rect">
            <a:avLst/>
          </a:prstGeom>
          <a:noFill/>
          <a:ln>
            <a:noFill/>
          </a:ln>
          <a:effectLst/>
        </p:spPr>
        <p:txBody>
          <a:bodyPr wrap="square" lIns="0" tIns="0" rIns="0" bIns="0" anchor="ctr">
            <a:noAutofit/>
          </a:bodyPr>
          <a:lstStyle/>
          <a:p>
            <a:pPr>
              <a:lnSpc>
                <a:spcPct val="125000"/>
              </a:lnSpc>
              <a:buNone/>
            </a:pPr>
            <a:r>
              <a:rPr lang="fr-FR" sz="1000" b="0" dirty="0">
                <a:solidFill>
                  <a:srgbClr val="4C5C72"/>
                </a:solidFill>
                <a:latin typeface="Segoe UI"/>
                <a:cs typeface="Segoe UI"/>
              </a:rPr>
              <a:t>Une Business Unit par direction, 2 rôles de sécurité (BU / Centrale)</a:t>
            </a:r>
            <a:endParaRPr lang="fr-FR" sz="100"/>
          </a:p>
        </p:txBody>
      </p:sp>
      <p:sp>
        <p:nvSpPr>
          <p:cNvPr id="19" name="forme"/>
          <p:cNvSpPr/>
          <p:nvPr/>
        </p:nvSpPr>
        <p:spPr>
          <a:xfrm rot="2700000">
            <a:off x="1036955" y="3942715"/>
            <a:ext cx="59055" cy="22860"/>
          </a:xfrm>
          <a:prstGeom prst="roundRect">
            <a:avLst>
              <a:gd name="adj" fmla="val 50000"/>
            </a:avLst>
          </a:prstGeom>
          <a:solidFill>
            <a:srgbClr val="2F7D5B"/>
          </a:solidFill>
          <a:ln>
            <a:noFill/>
          </a:ln>
          <a:effectLst/>
        </p:spPr>
        <p:txBody>
          <a:bodyPr/>
          <a:lstStyle/>
          <a:p>
            <a:endParaRPr lang="fr-FR"/>
          </a:p>
        </p:txBody>
      </p:sp>
      <p:sp>
        <p:nvSpPr>
          <p:cNvPr id="20" name="forme"/>
          <p:cNvSpPr/>
          <p:nvPr/>
        </p:nvSpPr>
        <p:spPr>
          <a:xfrm rot="-2700000">
            <a:off x="1069340" y="3919855"/>
            <a:ext cx="123825" cy="22860"/>
          </a:xfrm>
          <a:prstGeom prst="roundRect">
            <a:avLst>
              <a:gd name="adj" fmla="val 50000"/>
            </a:avLst>
          </a:prstGeom>
          <a:solidFill>
            <a:srgbClr val="2F7D5B"/>
          </a:solidFill>
          <a:ln>
            <a:noFill/>
          </a:ln>
          <a:effectLst/>
        </p:spPr>
        <p:txBody>
          <a:bodyPr/>
          <a:lstStyle/>
          <a:p>
            <a:endParaRPr lang="fr-FR"/>
          </a:p>
        </p:txBody>
      </p:sp>
      <p:sp>
        <p:nvSpPr>
          <p:cNvPr id="21" name="forme"/>
          <p:cNvSpPr/>
          <p:nvPr/>
        </p:nvSpPr>
        <p:spPr>
          <a:xfrm>
            <a:off x="1346200" y="3810000"/>
            <a:ext cx="5638800" cy="431800"/>
          </a:xfrm>
          <a:prstGeom prst="rect">
            <a:avLst/>
          </a:prstGeom>
          <a:noFill/>
          <a:ln>
            <a:noFill/>
          </a:ln>
          <a:effectLst/>
        </p:spPr>
        <p:txBody>
          <a:bodyPr wrap="square" lIns="0" tIns="0" rIns="0" bIns="0" anchor="ctr">
            <a:noAutofit/>
          </a:bodyPr>
          <a:lstStyle/>
          <a:p>
            <a:pPr>
              <a:lnSpc>
                <a:spcPct val="125000"/>
              </a:lnSpc>
              <a:buNone/>
            </a:pPr>
            <a:r>
              <a:rPr lang="fr-FR" sz="1000" b="0" dirty="0">
                <a:solidFill>
                  <a:srgbClr val="4C5C72"/>
                </a:solidFill>
                <a:latin typeface="Segoe UI"/>
                <a:cs typeface="Segoe UI"/>
              </a:rPr>
              <a:t>Un seul point à basculer : l'identité, par Entra ID et Web Roles</a:t>
            </a:r>
            <a:endParaRPr lang="fr-FR" sz="100"/>
          </a:p>
        </p:txBody>
      </p:sp>
      <p:sp>
        <p:nvSpPr>
          <p:cNvPr id="22" name="forme"/>
          <p:cNvSpPr/>
          <p:nvPr/>
        </p:nvSpPr>
        <p:spPr>
          <a:xfrm rot="2700000">
            <a:off x="1036955" y="4450715"/>
            <a:ext cx="59055" cy="22860"/>
          </a:xfrm>
          <a:prstGeom prst="roundRect">
            <a:avLst>
              <a:gd name="adj" fmla="val 50000"/>
            </a:avLst>
          </a:prstGeom>
          <a:solidFill>
            <a:srgbClr val="2F7D5B"/>
          </a:solidFill>
          <a:ln>
            <a:noFill/>
          </a:ln>
          <a:effectLst/>
        </p:spPr>
        <p:txBody>
          <a:bodyPr/>
          <a:lstStyle/>
          <a:p>
            <a:endParaRPr lang="fr-FR"/>
          </a:p>
        </p:txBody>
      </p:sp>
      <p:sp>
        <p:nvSpPr>
          <p:cNvPr id="23" name="forme"/>
          <p:cNvSpPr/>
          <p:nvPr/>
        </p:nvSpPr>
        <p:spPr>
          <a:xfrm rot="-2700000">
            <a:off x="1069340" y="4427855"/>
            <a:ext cx="123825" cy="22860"/>
          </a:xfrm>
          <a:prstGeom prst="roundRect">
            <a:avLst>
              <a:gd name="adj" fmla="val 50000"/>
            </a:avLst>
          </a:prstGeom>
          <a:solidFill>
            <a:srgbClr val="2F7D5B"/>
          </a:solidFill>
          <a:ln>
            <a:noFill/>
          </a:ln>
          <a:effectLst/>
        </p:spPr>
        <p:txBody>
          <a:bodyPr/>
          <a:lstStyle/>
          <a:p>
            <a:endParaRPr lang="fr-FR"/>
          </a:p>
        </p:txBody>
      </p:sp>
      <p:sp>
        <p:nvSpPr>
          <p:cNvPr id="24" name="forme"/>
          <p:cNvSpPr/>
          <p:nvPr/>
        </p:nvSpPr>
        <p:spPr>
          <a:xfrm>
            <a:off x="1346200" y="4318000"/>
            <a:ext cx="5638800" cy="431800"/>
          </a:xfrm>
          <a:prstGeom prst="rect">
            <a:avLst/>
          </a:prstGeom>
          <a:noFill/>
          <a:ln>
            <a:noFill/>
          </a:ln>
          <a:effectLst/>
        </p:spPr>
        <p:txBody>
          <a:bodyPr wrap="square" lIns="0" tIns="0" rIns="0" bIns="0" anchor="ctr">
            <a:noAutofit/>
          </a:bodyPr>
          <a:lstStyle/>
          <a:p>
            <a:pPr>
              <a:lnSpc>
                <a:spcPct val="125000"/>
              </a:lnSpc>
              <a:buNone/>
            </a:pPr>
            <a:r>
              <a:rPr lang="fr-FR" sz="1000" b="0" dirty="0">
                <a:solidFill>
                  <a:srgbClr val="4C5C72"/>
                </a:solidFill>
                <a:latin typeface="Segoe UI"/>
                <a:cs typeface="Segoe UI"/>
              </a:rPr>
              <a:t>Journal d'audit lisible dans Power Pages, versions en tables dédiées</a:t>
            </a:r>
            <a:endParaRPr lang="fr-FR" sz="100"/>
          </a:p>
        </p:txBody>
      </p:sp>
      <p:sp>
        <p:nvSpPr>
          <p:cNvPr id="25" name="forme"/>
          <p:cNvSpPr/>
          <p:nvPr/>
        </p:nvSpPr>
        <p:spPr>
          <a:xfrm rot="2700000">
            <a:off x="1036955" y="4958715"/>
            <a:ext cx="59055" cy="22860"/>
          </a:xfrm>
          <a:prstGeom prst="roundRect">
            <a:avLst>
              <a:gd name="adj" fmla="val 50000"/>
            </a:avLst>
          </a:prstGeom>
          <a:solidFill>
            <a:srgbClr val="2F7D5B"/>
          </a:solidFill>
          <a:ln>
            <a:noFill/>
          </a:ln>
          <a:effectLst/>
        </p:spPr>
        <p:txBody>
          <a:bodyPr/>
          <a:lstStyle/>
          <a:p>
            <a:endParaRPr lang="fr-FR"/>
          </a:p>
        </p:txBody>
      </p:sp>
      <p:sp>
        <p:nvSpPr>
          <p:cNvPr id="26" name="forme"/>
          <p:cNvSpPr/>
          <p:nvPr/>
        </p:nvSpPr>
        <p:spPr>
          <a:xfrm rot="-2700000">
            <a:off x="1069340" y="4935855"/>
            <a:ext cx="123825" cy="22860"/>
          </a:xfrm>
          <a:prstGeom prst="roundRect">
            <a:avLst>
              <a:gd name="adj" fmla="val 50000"/>
            </a:avLst>
          </a:prstGeom>
          <a:solidFill>
            <a:srgbClr val="2F7D5B"/>
          </a:solidFill>
          <a:ln>
            <a:noFill/>
          </a:ln>
          <a:effectLst/>
        </p:spPr>
        <p:txBody>
          <a:bodyPr/>
          <a:lstStyle/>
          <a:p>
            <a:endParaRPr lang="fr-FR"/>
          </a:p>
        </p:txBody>
      </p:sp>
      <p:sp>
        <p:nvSpPr>
          <p:cNvPr id="27" name="forme"/>
          <p:cNvSpPr/>
          <p:nvPr/>
        </p:nvSpPr>
        <p:spPr>
          <a:xfrm>
            <a:off x="1346200" y="4826000"/>
            <a:ext cx="5638800" cy="431800"/>
          </a:xfrm>
          <a:prstGeom prst="rect">
            <a:avLst/>
          </a:prstGeom>
          <a:noFill/>
          <a:ln>
            <a:noFill/>
          </a:ln>
          <a:effectLst/>
        </p:spPr>
        <p:txBody>
          <a:bodyPr wrap="square" lIns="0" tIns="0" rIns="0" bIns="0" anchor="ctr">
            <a:noAutofit/>
          </a:bodyPr>
          <a:lstStyle/>
          <a:p>
            <a:pPr>
              <a:lnSpc>
                <a:spcPct val="125000"/>
              </a:lnSpc>
              <a:buNone/>
            </a:pPr>
            <a:r>
              <a:rPr lang="fr-FR" sz="1000" b="0" dirty="0">
                <a:solidFill>
                  <a:srgbClr val="4C5C72"/>
                </a:solidFill>
                <a:latin typeface="Segoe UI"/>
                <a:cs typeface="Segoe UI"/>
              </a:rPr>
              <a:t>Logo, couleurs et en-têtes déjà alignés sur le portail</a:t>
            </a:r>
            <a:endParaRPr lang="fr-FR" sz="100"/>
          </a:p>
        </p:txBody>
      </p:sp>
      <p:sp>
        <p:nvSpPr>
          <p:cNvPr id="28" name="forme"/>
          <p:cNvSpPr/>
          <p:nvPr/>
        </p:nvSpPr>
        <p:spPr>
          <a:xfrm>
            <a:off x="7620000" y="1778000"/>
            <a:ext cx="3860800" cy="3708400"/>
          </a:xfrm>
          <a:prstGeom prst="roundRect">
            <a:avLst>
              <a:gd name="adj" fmla="val 8219"/>
            </a:avLst>
          </a:prstGeom>
          <a:solidFill>
            <a:srgbClr val="1C3359"/>
          </a:solidFill>
          <a:ln w="9525" cap="flat">
            <a:solidFill>
              <a:srgbClr val="1C3359"/>
            </a:solidFill>
            <a:prstDash val="solid"/>
            <a:flat/>
          </a:ln>
          <a:effectLst>
            <a:outerShdw blurRad="127000" dist="31750" dir="5400000" rotWithShape="0">
              <a:srgbClr val="0B1A30">
                <a:alpha val="8000"/>
              </a:srgbClr>
            </a:outerShdw>
          </a:effectLst>
        </p:spPr>
        <p:txBody>
          <a:bodyPr/>
          <a:lstStyle/>
          <a:p>
            <a:endParaRPr lang="fr-FR"/>
          </a:p>
        </p:txBody>
      </p:sp>
      <p:sp>
        <p:nvSpPr>
          <p:cNvPr id="29" name="forme"/>
          <p:cNvSpPr/>
          <p:nvPr/>
        </p:nvSpPr>
        <p:spPr>
          <a:xfrm>
            <a:off x="7899400" y="2057400"/>
            <a:ext cx="508000" cy="508000"/>
          </a:xfrm>
          <a:prstGeom prst="roundRect">
            <a:avLst>
              <a:gd name="adj" fmla="val 50000"/>
            </a:avLst>
          </a:prstGeom>
          <a:solidFill>
            <a:srgbClr val="2C4A78"/>
          </a:solidFill>
          <a:ln>
            <a:noFill/>
          </a:ln>
          <a:effectLst/>
        </p:spPr>
        <p:txBody>
          <a:bodyPr/>
          <a:lstStyle/>
          <a:p>
            <a:endParaRPr lang="fr-FR"/>
          </a:p>
        </p:txBody>
      </p:sp>
      <p:sp>
        <p:nvSpPr>
          <p:cNvPr id="30" name="forme"/>
          <p:cNvSpPr/>
          <p:nvPr/>
        </p:nvSpPr>
        <p:spPr>
          <a:xfrm>
            <a:off x="8079435" y="2189886"/>
            <a:ext cx="147930" cy="195478"/>
          </a:xfrm>
          <a:prstGeom prst="upArrow">
            <a:avLst/>
          </a:prstGeom>
          <a:solidFill>
            <a:srgbClr val="FFFFFF"/>
          </a:solidFill>
          <a:ln>
            <a:noFill/>
          </a:ln>
          <a:effectLst/>
        </p:spPr>
        <p:txBody>
          <a:bodyPr/>
          <a:lstStyle/>
          <a:p>
            <a:endParaRPr lang="fr-FR"/>
          </a:p>
        </p:txBody>
      </p:sp>
      <p:sp>
        <p:nvSpPr>
          <p:cNvPr id="31" name="forme"/>
          <p:cNvSpPr/>
          <p:nvPr/>
        </p:nvSpPr>
        <p:spPr>
          <a:xfrm>
            <a:off x="8031886" y="2395931"/>
            <a:ext cx="243027" cy="21133"/>
          </a:xfrm>
          <a:prstGeom prst="roundRect">
            <a:avLst>
              <a:gd name="adj" fmla="val 50000"/>
            </a:avLst>
          </a:prstGeom>
          <a:solidFill>
            <a:srgbClr val="FFFFFF"/>
          </a:solidFill>
          <a:ln>
            <a:noFill/>
          </a:ln>
          <a:effectLst/>
        </p:spPr>
        <p:txBody>
          <a:bodyPr/>
          <a:lstStyle/>
          <a:p>
            <a:endParaRPr lang="fr-FR"/>
          </a:p>
        </p:txBody>
      </p:sp>
      <p:sp>
        <p:nvSpPr>
          <p:cNvPr id="32" name="forme"/>
          <p:cNvSpPr/>
          <p:nvPr/>
        </p:nvSpPr>
        <p:spPr>
          <a:xfrm>
            <a:off x="8610600" y="2057400"/>
            <a:ext cx="2590800" cy="508000"/>
          </a:xfrm>
          <a:prstGeom prst="rect">
            <a:avLst/>
          </a:prstGeom>
          <a:noFill/>
          <a:ln>
            <a:noFill/>
          </a:ln>
          <a:effectLst/>
        </p:spPr>
        <p:txBody>
          <a:bodyPr wrap="square" lIns="0" tIns="0" rIns="0" bIns="0" anchor="ctr">
            <a:noAutofit/>
          </a:bodyPr>
          <a:lstStyle/>
          <a:p>
            <a:pPr>
              <a:buNone/>
            </a:pPr>
            <a:r>
              <a:rPr lang="fr-FR" sz="1300" b="1" dirty="0">
                <a:solidFill>
                  <a:srgbClr val="FFFFFF"/>
                </a:solidFill>
                <a:latin typeface="Segoe UI"/>
                <a:cs typeface="Segoe UI"/>
              </a:rPr>
              <a:t>Prochaines étapes</a:t>
            </a:r>
            <a:endParaRPr lang="fr-FR" sz="100"/>
          </a:p>
          <a:p>
            <a:pPr>
              <a:buNone/>
            </a:pPr>
            <a:r>
              <a:rPr lang="fr-FR" sz="950" b="0" dirty="0">
                <a:solidFill>
                  <a:srgbClr val="A9BAD2"/>
                </a:solidFill>
                <a:latin typeface="Segoe UI"/>
                <a:cs typeface="Segoe UI"/>
              </a:rPr>
              <a:t>sécurisées, sans réécriture métier</a:t>
            </a:r>
            <a:endParaRPr lang="fr-FR" sz="100"/>
          </a:p>
        </p:txBody>
      </p:sp>
      <p:sp>
        <p:nvSpPr>
          <p:cNvPr id="33" name="forme"/>
          <p:cNvSpPr/>
          <p:nvPr/>
        </p:nvSpPr>
        <p:spPr>
          <a:xfrm>
            <a:off x="7924800" y="2921000"/>
            <a:ext cx="330200" cy="330200"/>
          </a:xfrm>
          <a:prstGeom prst="ellipse">
            <a:avLst/>
          </a:prstGeom>
          <a:solidFill>
            <a:srgbClr val="B6AD6E"/>
          </a:solidFill>
          <a:ln>
            <a:noFill/>
          </a:ln>
          <a:effectLst/>
        </p:spPr>
        <p:txBody>
          <a:bodyPr/>
          <a:lstStyle/>
          <a:p>
            <a:endParaRPr lang="fr-FR"/>
          </a:p>
        </p:txBody>
      </p:sp>
      <p:sp>
        <p:nvSpPr>
          <p:cNvPr id="34" name="forme"/>
          <p:cNvSpPr/>
          <p:nvPr/>
        </p:nvSpPr>
        <p:spPr>
          <a:xfrm>
            <a:off x="7924800" y="2921000"/>
            <a:ext cx="330200" cy="330200"/>
          </a:xfrm>
          <a:prstGeom prst="rect">
            <a:avLst/>
          </a:prstGeom>
          <a:noFill/>
          <a:ln>
            <a:noFill/>
          </a:ln>
          <a:effectLst/>
        </p:spPr>
        <p:txBody>
          <a:bodyPr wrap="square" lIns="0" tIns="0" rIns="0" bIns="0" anchor="ctr">
            <a:noAutofit/>
          </a:bodyPr>
          <a:lstStyle/>
          <a:p>
            <a:pPr algn="ctr">
              <a:buNone/>
            </a:pPr>
            <a:r>
              <a:rPr lang="fr-FR" sz="1100" b="1" dirty="0">
                <a:solidFill>
                  <a:srgbClr val="1C3359"/>
                </a:solidFill>
                <a:latin typeface="Segoe UI"/>
                <a:cs typeface="Segoe UI"/>
              </a:rPr>
              <a:t>1</a:t>
            </a:r>
            <a:endParaRPr lang="fr-FR" sz="100"/>
          </a:p>
        </p:txBody>
      </p:sp>
      <p:sp>
        <p:nvSpPr>
          <p:cNvPr id="35" name="forme"/>
          <p:cNvSpPr/>
          <p:nvPr/>
        </p:nvSpPr>
        <p:spPr>
          <a:xfrm>
            <a:off x="8407400" y="2870200"/>
            <a:ext cx="2743200" cy="660400"/>
          </a:xfrm>
          <a:prstGeom prst="rect">
            <a:avLst/>
          </a:prstGeom>
          <a:noFill/>
          <a:ln>
            <a:noFill/>
          </a:ln>
          <a:effectLst/>
        </p:spPr>
        <p:txBody>
          <a:bodyPr wrap="square" lIns="0" tIns="0" rIns="0" bIns="0" anchor="ctr">
            <a:noAutofit/>
          </a:bodyPr>
          <a:lstStyle/>
          <a:p>
            <a:pPr>
              <a:lnSpc>
                <a:spcPct val="125000"/>
              </a:lnSpc>
              <a:buNone/>
            </a:pPr>
            <a:r>
              <a:rPr lang="fr-FR" sz="1000" b="0" dirty="0">
                <a:solidFill>
                  <a:srgbClr val="D5DFEE"/>
                </a:solidFill>
                <a:latin typeface="Segoe UI"/>
                <a:cs typeface="Segoe UI"/>
              </a:rPr>
              <a:t>Recréer le schéma Dataverse depuis le mapping déjà documenté</a:t>
            </a:r>
            <a:endParaRPr lang="fr-FR" sz="100"/>
          </a:p>
        </p:txBody>
      </p:sp>
      <p:sp>
        <p:nvSpPr>
          <p:cNvPr id="36" name="forme"/>
          <p:cNvSpPr/>
          <p:nvPr/>
        </p:nvSpPr>
        <p:spPr>
          <a:xfrm>
            <a:off x="8083550" y="3276600"/>
            <a:ext cx="12700" cy="482600"/>
          </a:xfrm>
          <a:prstGeom prst="rect">
            <a:avLst/>
          </a:prstGeom>
          <a:solidFill>
            <a:srgbClr val="44598A"/>
          </a:solidFill>
          <a:ln>
            <a:noFill/>
          </a:ln>
          <a:effectLst/>
        </p:spPr>
        <p:txBody>
          <a:bodyPr/>
          <a:lstStyle/>
          <a:p>
            <a:endParaRPr lang="fr-FR"/>
          </a:p>
        </p:txBody>
      </p:sp>
      <p:sp>
        <p:nvSpPr>
          <p:cNvPr id="37" name="forme"/>
          <p:cNvSpPr/>
          <p:nvPr/>
        </p:nvSpPr>
        <p:spPr>
          <a:xfrm>
            <a:off x="7924800" y="3759200"/>
            <a:ext cx="330200" cy="330200"/>
          </a:xfrm>
          <a:prstGeom prst="ellipse">
            <a:avLst/>
          </a:prstGeom>
          <a:solidFill>
            <a:srgbClr val="B6AD6E"/>
          </a:solidFill>
          <a:ln>
            <a:noFill/>
          </a:ln>
          <a:effectLst/>
        </p:spPr>
        <p:txBody>
          <a:bodyPr/>
          <a:lstStyle/>
          <a:p>
            <a:endParaRPr lang="fr-FR"/>
          </a:p>
        </p:txBody>
      </p:sp>
      <p:sp>
        <p:nvSpPr>
          <p:cNvPr id="38" name="forme"/>
          <p:cNvSpPr/>
          <p:nvPr/>
        </p:nvSpPr>
        <p:spPr>
          <a:xfrm>
            <a:off x="7924800" y="3759200"/>
            <a:ext cx="330200" cy="330200"/>
          </a:xfrm>
          <a:prstGeom prst="rect">
            <a:avLst/>
          </a:prstGeom>
          <a:noFill/>
          <a:ln>
            <a:noFill/>
          </a:ln>
          <a:effectLst/>
        </p:spPr>
        <p:txBody>
          <a:bodyPr wrap="square" lIns="0" tIns="0" rIns="0" bIns="0" anchor="ctr">
            <a:noAutofit/>
          </a:bodyPr>
          <a:lstStyle/>
          <a:p>
            <a:pPr algn="ctr">
              <a:buNone/>
            </a:pPr>
            <a:r>
              <a:rPr lang="fr-FR" sz="1100" b="1" dirty="0">
                <a:solidFill>
                  <a:srgbClr val="1C3359"/>
                </a:solidFill>
                <a:latin typeface="Segoe UI"/>
                <a:cs typeface="Segoe UI"/>
              </a:rPr>
              <a:t>2</a:t>
            </a:r>
            <a:endParaRPr lang="fr-FR" sz="100"/>
          </a:p>
        </p:txBody>
      </p:sp>
      <p:sp>
        <p:nvSpPr>
          <p:cNvPr id="39" name="forme"/>
          <p:cNvSpPr/>
          <p:nvPr/>
        </p:nvSpPr>
        <p:spPr>
          <a:xfrm>
            <a:off x="8407400" y="3708400"/>
            <a:ext cx="2743200" cy="660400"/>
          </a:xfrm>
          <a:prstGeom prst="rect">
            <a:avLst/>
          </a:prstGeom>
          <a:noFill/>
          <a:ln>
            <a:noFill/>
          </a:ln>
          <a:effectLst/>
        </p:spPr>
        <p:txBody>
          <a:bodyPr wrap="square" lIns="0" tIns="0" rIns="0" bIns="0" anchor="ctr">
            <a:noAutofit/>
          </a:bodyPr>
          <a:lstStyle/>
          <a:p>
            <a:pPr>
              <a:lnSpc>
                <a:spcPct val="125000"/>
              </a:lnSpc>
              <a:buNone/>
            </a:pPr>
            <a:r>
              <a:rPr lang="fr-FR" sz="1000" b="0" dirty="0">
                <a:solidFill>
                  <a:srgbClr val="D5DFEE"/>
                </a:solidFill>
                <a:latin typeface="Segoe UI"/>
                <a:cs typeface="Segoe UI"/>
              </a:rPr>
              <a:t>Brancher l'API sur Dataverse et activer l'auditing natif</a:t>
            </a:r>
            <a:endParaRPr lang="fr-FR" sz="100"/>
          </a:p>
        </p:txBody>
      </p:sp>
      <p:sp>
        <p:nvSpPr>
          <p:cNvPr id="40" name="forme"/>
          <p:cNvSpPr/>
          <p:nvPr/>
        </p:nvSpPr>
        <p:spPr>
          <a:xfrm>
            <a:off x="8083550" y="4114800"/>
            <a:ext cx="12700" cy="482600"/>
          </a:xfrm>
          <a:prstGeom prst="rect">
            <a:avLst/>
          </a:prstGeom>
          <a:solidFill>
            <a:srgbClr val="44598A"/>
          </a:solidFill>
          <a:ln>
            <a:noFill/>
          </a:ln>
          <a:effectLst/>
        </p:spPr>
        <p:txBody>
          <a:bodyPr/>
          <a:lstStyle/>
          <a:p>
            <a:endParaRPr lang="fr-FR"/>
          </a:p>
        </p:txBody>
      </p:sp>
      <p:sp>
        <p:nvSpPr>
          <p:cNvPr id="41" name="forme"/>
          <p:cNvSpPr/>
          <p:nvPr/>
        </p:nvSpPr>
        <p:spPr>
          <a:xfrm>
            <a:off x="7924800" y="4597400"/>
            <a:ext cx="330200" cy="330200"/>
          </a:xfrm>
          <a:prstGeom prst="ellipse">
            <a:avLst/>
          </a:prstGeom>
          <a:solidFill>
            <a:srgbClr val="B6AD6E"/>
          </a:solidFill>
          <a:ln>
            <a:noFill/>
          </a:ln>
          <a:effectLst/>
        </p:spPr>
        <p:txBody>
          <a:bodyPr/>
          <a:lstStyle/>
          <a:p>
            <a:endParaRPr lang="fr-FR"/>
          </a:p>
        </p:txBody>
      </p:sp>
      <p:sp>
        <p:nvSpPr>
          <p:cNvPr id="42" name="forme"/>
          <p:cNvSpPr/>
          <p:nvPr/>
        </p:nvSpPr>
        <p:spPr>
          <a:xfrm>
            <a:off x="7924800" y="4597400"/>
            <a:ext cx="330200" cy="330200"/>
          </a:xfrm>
          <a:prstGeom prst="rect">
            <a:avLst/>
          </a:prstGeom>
          <a:noFill/>
          <a:ln>
            <a:noFill/>
          </a:ln>
          <a:effectLst/>
        </p:spPr>
        <p:txBody>
          <a:bodyPr wrap="square" lIns="0" tIns="0" rIns="0" bIns="0" anchor="ctr">
            <a:noAutofit/>
          </a:bodyPr>
          <a:lstStyle/>
          <a:p>
            <a:pPr algn="ctr">
              <a:buNone/>
            </a:pPr>
            <a:r>
              <a:rPr lang="fr-FR" sz="1100" b="1" dirty="0">
                <a:solidFill>
                  <a:srgbClr val="1C3359"/>
                </a:solidFill>
                <a:latin typeface="Segoe UI"/>
                <a:cs typeface="Segoe UI"/>
              </a:rPr>
              <a:t>3</a:t>
            </a:r>
            <a:endParaRPr lang="fr-FR" sz="100"/>
          </a:p>
        </p:txBody>
      </p:sp>
      <p:sp>
        <p:nvSpPr>
          <p:cNvPr id="43" name="forme"/>
          <p:cNvSpPr/>
          <p:nvPr/>
        </p:nvSpPr>
        <p:spPr>
          <a:xfrm>
            <a:off x="8407400" y="4546600"/>
            <a:ext cx="2743200" cy="660400"/>
          </a:xfrm>
          <a:prstGeom prst="rect">
            <a:avLst/>
          </a:prstGeom>
          <a:noFill/>
          <a:ln>
            <a:noFill/>
          </a:ln>
          <a:effectLst/>
        </p:spPr>
        <p:txBody>
          <a:bodyPr wrap="square" lIns="0" tIns="0" rIns="0" bIns="0" anchor="ctr">
            <a:noAutofit/>
          </a:bodyPr>
          <a:lstStyle/>
          <a:p>
            <a:pPr>
              <a:lnSpc>
                <a:spcPct val="125000"/>
              </a:lnSpc>
              <a:buNone/>
            </a:pPr>
            <a:r>
              <a:rPr lang="fr-FR" sz="1000" b="0" dirty="0">
                <a:solidFill>
                  <a:srgbClr val="D5DFEE"/>
                </a:solidFill>
                <a:latin typeface="Segoe UI"/>
                <a:cs typeface="Segoe UI"/>
              </a:rPr>
              <a:t>Piloter la recette avec les directions, puis basculer l'identité</a:t>
            </a:r>
            <a:endParaRPr lang="fr-FR" sz="100"/>
          </a:p>
        </p:txBody>
      </p:sp>
      <p:sp>
        <p:nvSpPr>
          <p:cNvPr id="44" name="forme"/>
          <p:cNvSpPr/>
          <p:nvPr/>
        </p:nvSpPr>
        <p:spPr>
          <a:xfrm>
            <a:off x="711200" y="5689600"/>
            <a:ext cx="10769600" cy="558800"/>
          </a:xfrm>
          <a:prstGeom prst="roundRect">
            <a:avLst>
              <a:gd name="adj" fmla="val 45455"/>
            </a:avLst>
          </a:prstGeom>
          <a:solidFill>
            <a:srgbClr val="EEF2F8"/>
          </a:solidFill>
          <a:ln>
            <a:noFill/>
          </a:ln>
          <a:effectLst/>
        </p:spPr>
        <p:txBody>
          <a:bodyPr/>
          <a:lstStyle/>
          <a:p>
            <a:endParaRPr lang="fr-FR"/>
          </a:p>
        </p:txBody>
      </p:sp>
      <p:sp>
        <p:nvSpPr>
          <p:cNvPr id="45" name="forme"/>
          <p:cNvSpPr/>
          <p:nvPr/>
        </p:nvSpPr>
        <p:spPr>
          <a:xfrm>
            <a:off x="711200" y="5689600"/>
            <a:ext cx="57150" cy="558800"/>
          </a:xfrm>
          <a:prstGeom prst="roundRect">
            <a:avLst>
              <a:gd name="adj" fmla="val 50000"/>
            </a:avLst>
          </a:prstGeom>
          <a:solidFill>
            <a:srgbClr val="B6AD6E"/>
          </a:solidFill>
          <a:ln>
            <a:noFill/>
          </a:ln>
          <a:effectLst/>
        </p:spPr>
        <p:txBody>
          <a:bodyPr/>
          <a:lstStyle/>
          <a:p>
            <a:endParaRPr lang="fr-FR"/>
          </a:p>
        </p:txBody>
      </p:sp>
      <p:sp>
        <p:nvSpPr>
          <p:cNvPr id="46" name="forme"/>
          <p:cNvSpPr/>
          <p:nvPr/>
        </p:nvSpPr>
        <p:spPr>
          <a:xfrm>
            <a:off x="990600" y="5689600"/>
            <a:ext cx="6604000" cy="558800"/>
          </a:xfrm>
          <a:prstGeom prst="rect">
            <a:avLst/>
          </a:prstGeom>
          <a:noFill/>
          <a:ln>
            <a:noFill/>
          </a:ln>
          <a:effectLst/>
        </p:spPr>
        <p:txBody>
          <a:bodyPr wrap="square" lIns="0" tIns="0" rIns="0" bIns="0" anchor="ctr">
            <a:noAutofit/>
          </a:bodyPr>
          <a:lstStyle/>
          <a:p>
            <a:pPr>
              <a:buNone/>
            </a:pPr>
            <a:r>
              <a:rPr lang="fr-FR" sz="1100" b="1" dirty="0">
                <a:solidFill>
                  <a:srgbClr val="1C3359"/>
                </a:solidFill>
                <a:latin typeface="Segoe UI"/>
                <a:cs typeface="Segoe UI"/>
              </a:rPr>
              <a:t>Merci  —  </a:t>
            </a:r>
            <a:r>
              <a:rPr lang="fr-FR" sz="1000" b="0" dirty="0">
                <a:solidFill>
                  <a:srgbClr val="4C5C72"/>
                </a:solidFill>
                <a:latin typeface="Segoe UI"/>
                <a:cs typeface="Segoe UI"/>
              </a:rPr>
              <a:t>démo live : Pilotage → Nouvelle alerte → Validation → Approbation → Historique</a:t>
            </a:r>
            <a:endParaRPr lang="fr-FR" sz="100"/>
          </a:p>
        </p:txBody>
      </p:sp>
      <p:sp>
        <p:nvSpPr>
          <p:cNvPr id="47" name="forme"/>
          <p:cNvSpPr/>
          <p:nvPr/>
        </p:nvSpPr>
        <p:spPr>
          <a:xfrm>
            <a:off x="7670800" y="5689600"/>
            <a:ext cx="3530600" cy="558800"/>
          </a:xfrm>
          <a:prstGeom prst="rect">
            <a:avLst/>
          </a:prstGeom>
          <a:noFill/>
          <a:ln>
            <a:noFill/>
          </a:ln>
          <a:effectLst/>
        </p:spPr>
        <p:txBody>
          <a:bodyPr wrap="square" lIns="0" tIns="0" rIns="0" bIns="0" anchor="ctr">
            <a:noAutofit/>
          </a:bodyPr>
          <a:lstStyle/>
          <a:p>
            <a:pPr algn="r">
              <a:buNone/>
            </a:pPr>
            <a:r>
              <a:rPr lang="fr-FR" sz="950" b="0" dirty="0">
                <a:solidFill>
                  <a:srgbClr val="8494AB"/>
                </a:solidFill>
                <a:latin typeface="Segoe UI"/>
                <a:cs typeface="Segoe UI"/>
              </a:rPr>
              <a:t>Code &amp; documentation  </a:t>
            </a:r>
            <a:r>
              <a:rPr lang="fr-FR" sz="950" b="1" dirty="0">
                <a:solidFill>
                  <a:srgbClr val="1C3359"/>
                </a:solidFill>
                <a:latin typeface="Segoe UI"/>
                <a:cs typeface="Segoe UI"/>
                <a:hlinkClick r:id="rId3"/>
              </a:rPr>
              <a:t>github.com/Morlis12/juriscan</a:t>
            </a:r>
            <a:endParaRPr lang="fr-FR" sz="100"/>
          </a:p>
        </p:txBody>
      </p:sp>
      <p:sp>
        <p:nvSpPr>
          <p:cNvPr id="48" name="forme"/>
          <p:cNvSpPr/>
          <p:nvPr/>
        </p:nvSpPr>
        <p:spPr>
          <a:xfrm>
            <a:off x="711200" y="6400800"/>
            <a:ext cx="10769600" cy="9525"/>
          </a:xfrm>
          <a:prstGeom prst="rect">
            <a:avLst/>
          </a:prstGeom>
          <a:solidFill>
            <a:srgbClr val="DCE3EE"/>
          </a:solidFill>
          <a:ln>
            <a:noFill/>
          </a:ln>
          <a:effectLst/>
        </p:spPr>
        <p:txBody>
          <a:bodyPr/>
          <a:lstStyle/>
          <a:p>
            <a:endParaRPr lang="fr-FR"/>
          </a:p>
        </p:txBody>
      </p:sp>
      <p:sp>
        <p:nvSpPr>
          <p:cNvPr id="49" name="forme"/>
          <p:cNvSpPr/>
          <p:nvPr/>
        </p:nvSpPr>
        <p:spPr>
          <a:xfrm>
            <a:off x="711200" y="6489700"/>
            <a:ext cx="7112000" cy="152400"/>
          </a:xfrm>
          <a:prstGeom prst="rect">
            <a:avLst/>
          </a:prstGeom>
          <a:noFill/>
          <a:ln>
            <a:noFill/>
          </a:ln>
          <a:effectLst/>
        </p:spPr>
        <p:txBody>
          <a:bodyPr wrap="square" lIns="0" tIns="0" rIns="0" bIns="0" anchor="t">
            <a:noAutofit/>
          </a:bodyPr>
          <a:lstStyle/>
          <a:p>
            <a:pPr>
              <a:buNone/>
            </a:pPr>
            <a:r>
              <a:rPr lang="fr-FR" sz="850" b="1" dirty="0">
                <a:solidFill>
                  <a:srgbClr val="8494AB"/>
                </a:solidFill>
                <a:latin typeface="Segoe UI"/>
                <a:cs typeface="Segoe UI"/>
              </a:rPr>
              <a:t>AGL JuriCompliance</a:t>
            </a:r>
            <a:r>
              <a:rPr lang="fr-FR" sz="850" b="0" dirty="0">
                <a:solidFill>
                  <a:srgbClr val="8494AB"/>
                </a:solidFill>
                <a:latin typeface="Segoe UI"/>
                <a:cs typeface="Segoe UI"/>
              </a:rPr>
              <a:t>  ·  Veille réglementaire assistée par IA  ·  Prototype</a:t>
            </a:r>
            <a:endParaRPr lang="fr-FR" sz="100"/>
          </a:p>
        </p:txBody>
      </p:sp>
      <p:sp>
        <p:nvSpPr>
          <p:cNvPr id="50" name="forme"/>
          <p:cNvSpPr/>
          <p:nvPr/>
        </p:nvSpPr>
        <p:spPr>
          <a:xfrm>
            <a:off x="9448800" y="6489700"/>
            <a:ext cx="2032000" cy="152400"/>
          </a:xfrm>
          <a:prstGeom prst="rect">
            <a:avLst/>
          </a:prstGeom>
          <a:noFill/>
          <a:ln>
            <a:noFill/>
          </a:ln>
          <a:effectLst/>
        </p:spPr>
        <p:txBody>
          <a:bodyPr wrap="square" lIns="0" tIns="0" rIns="0" bIns="0" anchor="t">
            <a:noAutofit/>
          </a:bodyPr>
          <a:lstStyle/>
          <a:p>
            <a:pPr algn="r">
              <a:buNone/>
            </a:pPr>
            <a:r>
              <a:rPr lang="fr-FR" sz="850" b="1" dirty="0">
                <a:solidFill>
                  <a:srgbClr val="1C3359"/>
                </a:solidFill>
                <a:latin typeface="Segoe UI"/>
                <a:cs typeface="Segoe UI"/>
              </a:rPr>
              <a:t>6 / 6</a:t>
            </a:r>
            <a:endParaRPr lang="fr-FR" sz="100"/>
          </a:p>
        </p:txBody>
      </p:sp>
    </p:spTree>
  </p:cSld>
  <p:clrMapOvr>
    <a:masterClrMapping/>
  </p:clrMapOvr>
  <mc:AlternateContent>
    <mc:Choice Requires="p14 p14">
      <p:transition spd="slow" p14:dur="900">
        <p14:reveal dir="l"/>
      </p:transition>
    </mc:Choice>
    <mc:Fallback>
      <p:transition spd="slow">
        <p:wipe dir="l"/>
      </p:transition>
    </mc:Fallback>
  </mc:AlternateContent>
</p:sld>
</file>

<file path=ppt/theme/theme1.xml><?xml version="1.0" encoding="utf-8"?>
<a:theme xmlns:a="http://schemas.openxmlformats.org/drawingml/2006/main" name="AGL JuriCompliance">
  <a:themeElements>
    <a:clrScheme name="AGL">
      <a:dk1>
        <a:sysClr val="windowText" lastClr="000000"/>
      </a:dk1>
      <a:lt1>
        <a:sysClr val="window" lastClr="FFFFFF"/>
      </a:lt1>
      <a:dk2>
        <a:srgbClr val="1C3359"/>
      </a:dk2>
      <a:lt2>
        <a:srgbClr val="EEF2F8"/>
      </a:lt2>
      <a:accent1>
        <a:srgbClr val="1C3359"/>
      </a:accent1>
      <a:accent2>
        <a:srgbClr val="B6AD6E"/>
      </a:accent2>
      <a:accent3>
        <a:srgbClr val="2C4A78"/>
      </a:accent3>
      <a:accent4>
        <a:srgbClr val="6E8CB8"/>
      </a:accent4>
      <a:accent5>
        <a:srgbClr val="3F7A5C"/>
      </a:accent5>
      <a:accent6>
        <a:srgbClr val="9A9059"/>
      </a:accent6>
      <a:accent7>
        <a:srgbClr val="4C5C72"/>
      </a:accent7>
      <a:accent8>
        <a:srgbClr val="B04A3F"/>
      </a:accent8>
      <a:hlink>
        <a:srgbClr val="1C3359"/>
      </a:hlink>
      <a:folHlink>
        <a:srgbClr val="B6AD6E"/>
      </a:folHlink>
    </a:clrScheme>
    <a:fontScheme name="AGL">
      <a:majorFont>
        <a:latin typeface="Segoe UI"/>
        <a:ea typeface=""/>
        <a:cs typeface=""/>
      </a:majorFont>
      <a:minorFont>
        <a:latin typeface="Segoe UI"/>
        <a:ea typeface=""/>
        <a:cs typeface=""/>
      </a:minorFont>
    </a:fontScheme>
    <a:fmtScheme name="AGL">
      <a:fillStyleLst>
        <a:solidFill>
          <a:schemeClr val="phClr"/>
        </a:solidFill>
        <a:solidFill>
          <a:schemeClr val="phClr">
            <a:tint val="60000"/>
          </a:schemeClr>
        </a:solidFill>
        <a:solidFill>
          <a:schemeClr val="phClr">
            <a:shade val="80000"/>
          </a:schemeClr>
        </a:soli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60000"/>
          </a:schemeClr>
        </a:solidFill>
        <a:solidFill>
          <a:schemeClr val="phClr">
            <a:shade val="80000"/>
          </a:scheme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Slides>6</Slides>
  <Paragraphs>24</Paragraphs>
  <PresentationFormat>Widescreen</PresentationFormat>
  <ScaleCrop>false</ScaleCrop>
  <TitlesOfParts>
    <vt:vector size="7" baseType="lpstr">
      <vt:lpstr>AGL JuriCompliance</vt:lpstr>
      <vt:lpstr>AGL JuriCompliance</vt:lpstr>
      <vt:lpstr>01 — Le constat</vt:lpstr>
      <vt:lpstr>02 — Architecture</vt:lpstr>
      <vt:lpstr>03 — Fonctionnement</vt:lpstr>
      <vt:lpstr>04 — Garanties</vt:lpstr>
      <vt:lpstr>05 — Perspectives</vt:lpstr>
    </vt:vector>
  </TitlesOfParts>
  <Company>Africa Global Logistics (AGL)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AGL JuriCompliance — veille réglementaire assistée par IA</dc:title>
  <dc:subject>Veille reglementaire AGL</dc:subject>
  <dc:creator>AGL — Veille réglementaire</dc:creator>
  <cp:keywords>AGL; veille reglementaire; Power Pages; Dataverse</cp:keywords>
  <cp:lastModifiedBy>AGL — Veille réglementaire</cp:lastModifiedBy>
  <dcterms:created xsi:type="dcterms:W3CDTF">2026-09-27T15:47:54Z</dcterms:created>
  <dcterms:modified xsi:type="dcterms:W3CDTF">2026-09-27T15:47:54Z</dcterms:modified>
</cp:coreProperties>
</file>